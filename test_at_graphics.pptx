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7724"/>
            <a:ext cx="11277295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AI Compliance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0799"/>
            <a:ext cx="10362895" cy="29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8D4F0"/>
                </a:solidFill>
                <a:latin typeface="Segoe UI"/>
              </a:defRPr>
            </a:pPr>
            <a:r>
              <a:t>Illustrates what traditional compliance frameworks audit vs. the AI agent behaviors that fall completely outside their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7747" y="777240"/>
            <a:ext cx="7696200" cy="461772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1399" y="979540"/>
            <a:ext cx="6288894" cy="316643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The AI Compliance Gap: What Traditional Frameworks Actually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6842" y="1379742"/>
            <a:ext cx="2539746" cy="237482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1" i="0">
                <a:solidFill>
                  <a:srgbClr val="6DD47E"/>
                </a:solidFill>
                <a:latin typeface="Segoe UI"/>
              </a:defRPr>
            </a:pPr>
            <a:r>
              <a:t>✓ WHAT TRADITIONAL FRAMEWORKS 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7584" y="1678794"/>
            <a:ext cx="3518262" cy="549728"/>
          </a:xfrm>
          <a:prstGeom prst="roundRect">
            <a:avLst>
              <a:gd name="adj" fmla="val 16000"/>
            </a:avLst>
          </a:prstGeom>
          <a:solidFill>
            <a:srgbClr val="1E3A3A"/>
          </a:solidFill>
          <a:ln w="19050">
            <a:solidFill>
              <a:srgbClr val="2D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3497" y="1798635"/>
            <a:ext cx="864723" cy="21769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100" b="1" i="0">
                <a:solidFill>
                  <a:srgbClr val="6DD47E"/>
                </a:solidFill>
                <a:latin typeface="Segoe UI"/>
              </a:defRPr>
            </a:pPr>
            <a:r>
              <a:t>SOC 2 TYPE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3497" y="1997637"/>
            <a:ext cx="2781626" cy="19790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000" b="0" i="0">
                <a:solidFill>
                  <a:srgbClr val="A0B4B0"/>
                </a:solidFill>
                <a:latin typeface="Segoe UI"/>
              </a:defRPr>
            </a:pPr>
            <a:r>
              <a:t>Infrastructure · Access controls · Change mgmt</a:t>
            </a:r>
          </a:p>
        </p:txBody>
      </p:sp>
      <p:sp>
        <p:nvSpPr>
          <p:cNvPr id="11" name="Oval 10"/>
          <p:cNvSpPr/>
          <p:nvPr/>
        </p:nvSpPr>
        <p:spPr>
          <a:xfrm>
            <a:off x="5766009" y="1843713"/>
            <a:ext cx="219891" cy="219891"/>
          </a:xfrm>
          <a:prstGeom prst="ellipse">
            <a:avLst/>
          </a:prstGeom>
          <a:solidFill>
            <a:srgbClr val="2D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1037" y="1876697"/>
            <a:ext cx="329837" cy="197902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7584" y="2316480"/>
            <a:ext cx="3518262" cy="549728"/>
          </a:xfrm>
          <a:prstGeom prst="roundRect">
            <a:avLst>
              <a:gd name="adj" fmla="val 16000"/>
            </a:avLst>
          </a:prstGeom>
          <a:solidFill>
            <a:srgbClr val="1E3A3A"/>
          </a:solidFill>
          <a:ln w="19050">
            <a:solidFill>
              <a:srgbClr val="2D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3497" y="2436320"/>
            <a:ext cx="362820" cy="21769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100" b="1" i="0">
                <a:solidFill>
                  <a:srgbClr val="6DD47E"/>
                </a:solidFill>
                <a:latin typeface="Segoe UI"/>
              </a:defRPr>
            </a:pPr>
            <a:r>
              <a:t>HIPAA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3497" y="2635322"/>
            <a:ext cx="2842096" cy="19790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000" b="0" i="0">
                <a:solidFill>
                  <a:srgbClr val="A0B4B0"/>
                </a:solidFill>
                <a:latin typeface="Segoe UI"/>
              </a:defRPr>
            </a:pPr>
            <a:r>
              <a:t>PHI safeguards · Administrative controls · BAAs</a:t>
            </a:r>
          </a:p>
        </p:txBody>
      </p:sp>
      <p:sp>
        <p:nvSpPr>
          <p:cNvPr id="16" name="Oval 15"/>
          <p:cNvSpPr/>
          <p:nvPr/>
        </p:nvSpPr>
        <p:spPr>
          <a:xfrm>
            <a:off x="5766009" y="2481398"/>
            <a:ext cx="219891" cy="219891"/>
          </a:xfrm>
          <a:prstGeom prst="ellipse">
            <a:avLst/>
          </a:prstGeom>
          <a:solidFill>
            <a:srgbClr val="2D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1037" y="2514382"/>
            <a:ext cx="329837" cy="197902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77584" y="2954165"/>
            <a:ext cx="3518262" cy="549728"/>
          </a:xfrm>
          <a:prstGeom prst="roundRect">
            <a:avLst>
              <a:gd name="adj" fmla="val 16000"/>
            </a:avLst>
          </a:prstGeom>
          <a:solidFill>
            <a:srgbClr val="1E3A3A"/>
          </a:solidFill>
          <a:ln w="19050">
            <a:solidFill>
              <a:srgbClr val="2D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53497" y="3074005"/>
            <a:ext cx="465620" cy="21769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100" b="1" i="0">
                <a:solidFill>
                  <a:srgbClr val="6DD47E"/>
                </a:solidFill>
                <a:latin typeface="Segoe UI"/>
              </a:defRPr>
            </a:pPr>
            <a:r>
              <a:t>PCI DSS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3497" y="3273007"/>
            <a:ext cx="3023507" cy="19790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000" b="0" i="0">
                <a:solidFill>
                  <a:srgbClr val="A0B4B0"/>
                </a:solidFill>
                <a:latin typeface="Segoe UI"/>
              </a:defRPr>
            </a:pPr>
            <a:r>
              <a:t>Cardholder data environment · Network segmentation</a:t>
            </a:r>
          </a:p>
        </p:txBody>
      </p:sp>
      <p:sp>
        <p:nvSpPr>
          <p:cNvPr id="21" name="Oval 20"/>
          <p:cNvSpPr/>
          <p:nvPr/>
        </p:nvSpPr>
        <p:spPr>
          <a:xfrm>
            <a:off x="5766009" y="3119083"/>
            <a:ext cx="219891" cy="219891"/>
          </a:xfrm>
          <a:prstGeom prst="ellipse">
            <a:avLst/>
          </a:prstGeom>
          <a:solidFill>
            <a:srgbClr val="2D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1037" y="3152067"/>
            <a:ext cx="329837" cy="197902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1535" y="1379742"/>
            <a:ext cx="1886668" cy="237482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1" i="0">
                <a:solidFill>
                  <a:srgbClr val="E05252"/>
                </a:solidFill>
                <a:latin typeface="Segoe UI"/>
              </a:defRPr>
            </a:pPr>
            <a:r>
              <a:t>✗ WHAT NO FRAMEWORK AUDITS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5629" y="1678794"/>
            <a:ext cx="3078480" cy="439782"/>
          </a:xfrm>
          <a:prstGeom prst="roundRect">
            <a:avLst>
              <a:gd name="adj" fmla="val 20000"/>
            </a:avLst>
          </a:prstGeom>
          <a:solidFill>
            <a:srgbClr val="3A1E1E"/>
          </a:solidFill>
          <a:ln w="19050">
            <a:solidFill>
              <a:srgbClr val="A832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543" y="1821724"/>
            <a:ext cx="1511753" cy="19790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000" b="1" i="0">
                <a:solidFill>
                  <a:srgbClr val="F08080"/>
                </a:solidFill>
                <a:latin typeface="Segoe UI"/>
              </a:defRPr>
            </a:pPr>
            <a:r>
              <a:t>AI agent reasoning chains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5629" y="2206534"/>
            <a:ext cx="3078480" cy="439782"/>
          </a:xfrm>
          <a:prstGeom prst="roundRect">
            <a:avLst>
              <a:gd name="adj" fmla="val 20000"/>
            </a:avLst>
          </a:prstGeom>
          <a:solidFill>
            <a:srgbClr val="3A1E1E"/>
          </a:solidFill>
          <a:ln w="19050">
            <a:solidFill>
              <a:srgbClr val="A832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1543" y="2349463"/>
            <a:ext cx="1814104" cy="19790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000" b="1" i="0">
                <a:solidFill>
                  <a:srgbClr val="F08080"/>
                </a:solidFill>
                <a:latin typeface="Segoe UI"/>
              </a:defRPr>
            </a:pPr>
            <a:r>
              <a:t>Autonomous tool call sequences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5629" y="2734273"/>
            <a:ext cx="3078480" cy="439782"/>
          </a:xfrm>
          <a:prstGeom prst="roundRect">
            <a:avLst>
              <a:gd name="adj" fmla="val 20000"/>
            </a:avLst>
          </a:prstGeom>
          <a:solidFill>
            <a:srgbClr val="3A1E1E"/>
          </a:solidFill>
          <a:ln w="19050">
            <a:solidFill>
              <a:srgbClr val="A832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543" y="2877203"/>
            <a:ext cx="1753634" cy="19790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000" b="1" i="0">
                <a:solidFill>
                  <a:srgbClr val="F08080"/>
                </a:solidFill>
                <a:latin typeface="Segoe UI"/>
              </a:defRPr>
            </a:pPr>
            <a:r>
              <a:t>Hallucination rates &amp; testing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5629" y="3262013"/>
            <a:ext cx="3078480" cy="439782"/>
          </a:xfrm>
          <a:prstGeom prst="roundRect">
            <a:avLst>
              <a:gd name="adj" fmla="val 20000"/>
            </a:avLst>
          </a:prstGeom>
          <a:solidFill>
            <a:srgbClr val="3A1E1E"/>
          </a:solidFill>
          <a:ln w="19050">
            <a:solidFill>
              <a:srgbClr val="A832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543" y="3404942"/>
            <a:ext cx="2116455" cy="197902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000" b="1" i="0">
                <a:solidFill>
                  <a:srgbClr val="F08080"/>
                </a:solidFill>
                <a:latin typeface="Segoe UI"/>
              </a:defRPr>
            </a:pPr>
            <a:r>
              <a:t>Cross-customer data isolation in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47204" y="3800747"/>
            <a:ext cx="5497285" cy="659674"/>
          </a:xfrm>
          <a:prstGeom prst="roundRect">
            <a:avLst>
              <a:gd name="adj" fmla="val 16666"/>
            </a:avLst>
          </a:prstGeom>
          <a:solidFill>
            <a:srgbClr val="162447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1999" y="3906295"/>
            <a:ext cx="3047695" cy="277063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400" b="1" i="0">
                <a:solidFill>
                  <a:srgbClr val="5BB8F5"/>
                </a:solidFill>
                <a:latin typeface="Segoe UI"/>
              </a:defRPr>
            </a:pPr>
            <a:r>
              <a:t>AIUC-1: THE MISSING COMPLIANCE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0556" y="4162468"/>
            <a:ext cx="4190580" cy="217692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100" b="0" i="0">
                <a:solidFill>
                  <a:srgbClr val="8CB4D4"/>
                </a:solidFill>
                <a:latin typeface="Segoe UI"/>
              </a:defRPr>
            </a:pPr>
            <a:r>
              <a:t>6 control categories · 40+ requirements · Third-party validated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5847" y="4460421"/>
            <a:ext cx="0" cy="219891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896932" y="4680312"/>
            <a:ext cx="4397828" cy="494755"/>
          </a:xfrm>
          <a:prstGeom prst="roundRect">
            <a:avLst>
              <a:gd name="adj" fmla="val 17777"/>
            </a:avLst>
          </a:prstGeom>
          <a:solidFill>
            <a:srgbClr val="0E2A0E"/>
          </a:solidFill>
          <a:ln w="19050">
            <a:solidFill>
              <a:srgbClr val="2D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1359" y="4766070"/>
            <a:ext cx="1668975" cy="237482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1" i="0">
                <a:solidFill>
                  <a:srgbClr val="6DD47E"/>
                </a:solidFill>
                <a:latin typeface="Segoe UI"/>
              </a:defRPr>
            </a:pPr>
            <a:r>
              <a:t>Auditable AI Governance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3153" y="4966171"/>
            <a:ext cx="3265387" cy="197902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000" b="0" i="0">
                <a:solidFill>
                  <a:srgbClr val="A0B4B0"/>
                </a:solidFill>
                <a:latin typeface="Segoe UI"/>
              </a:defRPr>
            </a:pPr>
            <a:r>
              <a:t>Knowledge graphs · Lineage trails · Continuous testing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532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Figure 1: SOC 2, HIPAA, and PCI DSS audit infrastructure and safeguards — but none examine AI agent reasoning chains, tool call sequences, hallucination rates, or cross-customer data isolation. AIUC-1 closes this gap with 6 control categories and third-party validation.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6126480"/>
            <a:ext cx="10728655" cy="5943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19963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5A9E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Your organization may be fully compliant with every traditional framework and still have zero visibility into what AI agents are doing with regulated 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7295" y="6583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Segoe UI"/>
              </a:defRPr>
            </a:pPr>
            <a: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7724"/>
            <a:ext cx="11277295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Compliance Model 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0799"/>
            <a:ext cx="10362895" cy="29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8D4F0"/>
                </a:solidFill>
                <a:latin typeface="Segoe UI"/>
              </a:defRPr>
            </a:pPr>
            <a:r>
              <a:t>Shows how AIUC-1 shifts the compliance burden from customer-side audit programs to vendor-side certification — making AI governance accessible to organizations of any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2684" y="777240"/>
            <a:ext cx="8506326" cy="4617720"/>
          </a:xfrm>
          <a:prstGeom prst="roundRect">
            <a:avLst>
              <a:gd name="adj" fmla="val 3157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31391" y="1000834"/>
            <a:ext cx="3528910" cy="34997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AIUC-1 Flips the Compliance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5367" y="1310708"/>
            <a:ext cx="5660959" cy="240607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100" b="0" i="0">
                <a:solidFill>
                  <a:srgbClr val="8899AA"/>
                </a:solidFill>
                <a:latin typeface="Segoe UI"/>
              </a:defRPr>
            </a:pPr>
            <a:r>
              <a:t>78.6% of AIUC-1 requirements are vendor obligations, not customer obligations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493" y="1648530"/>
            <a:ext cx="1477062" cy="28435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300" b="1" i="0">
                <a:solidFill>
                  <a:srgbClr val="E05252"/>
                </a:solidFill>
                <a:latin typeface="Segoe UI"/>
              </a:defRPr>
            </a:pPr>
            <a:r>
              <a:t>TRADITIONAL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4582" y="1883062"/>
            <a:ext cx="1670885" cy="21873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000" b="0" i="0">
                <a:solidFill>
                  <a:srgbClr val="8899AA"/>
                </a:solidFill>
                <a:latin typeface="Segoe UI"/>
              </a:defRPr>
            </a:pPr>
            <a:r>
              <a:t>(SOC 2 / HIPAA / PCI DSS)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1797" y="2174707"/>
            <a:ext cx="2916454" cy="1701265"/>
          </a:xfrm>
          <a:prstGeom prst="roundRect">
            <a:avLst>
              <a:gd name="adj" fmla="val 7142"/>
            </a:avLst>
          </a:prstGeom>
          <a:solidFill>
            <a:srgbClr val="3A1E1E"/>
          </a:solidFill>
          <a:ln w="19050"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404" y="2218454"/>
            <a:ext cx="1283240" cy="524961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2400" b="1" i="0">
                <a:solidFill>
                  <a:srgbClr val="F08080"/>
                </a:solidFill>
                <a:latin typeface="Segoe UI"/>
              </a:defRPr>
            </a:pPr>
            <a: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7696" y="2682657"/>
            <a:ext cx="1844657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0" i="0">
                <a:solidFill>
                  <a:srgbClr val="F08080"/>
                </a:solidFill>
                <a:latin typeface="Segoe UI"/>
              </a:defRPr>
            </a:pPr>
            <a:r>
              <a:t>Internal audit programs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7392" y="2877087"/>
            <a:ext cx="2085265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0" i="0">
                <a:solidFill>
                  <a:srgbClr val="F08080"/>
                </a:solidFill>
                <a:latin typeface="Segoe UI"/>
              </a:defRPr>
            </a:pPr>
            <a:r>
              <a:t>Dedicated compliance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7594" y="3071517"/>
            <a:ext cx="1924860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0" i="0">
                <a:solidFill>
                  <a:srgbClr val="F08080"/>
                </a:solidFill>
                <a:latin typeface="Segoe UI"/>
              </a:defRPr>
            </a:pPr>
            <a:r>
              <a:t>Annual assessment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7797" y="3265948"/>
            <a:ext cx="1764455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0" i="0">
                <a:solidFill>
                  <a:srgbClr val="F08080"/>
                </a:solidFill>
                <a:latin typeface="Segoe UI"/>
              </a:defRPr>
            </a:pPr>
            <a:r>
              <a:t>Scales poorly for SMBs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746" y="3584327"/>
            <a:ext cx="1804556" cy="21873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000" b="0" i="1">
                <a:solidFill>
                  <a:srgbClr val="CC9999"/>
                </a:solidFill>
                <a:latin typeface="Segoe UI"/>
              </a:defRPr>
            </a:pPr>
            <a:r>
              <a:t>Heavy burden on every buyer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79392" y="3961036"/>
            <a:ext cx="1701265" cy="583290"/>
          </a:xfrm>
          <a:prstGeom prst="roundRect">
            <a:avLst>
              <a:gd name="adj" fmla="val 16666"/>
            </a:avLst>
          </a:prstGeom>
          <a:solidFill>
            <a:srgbClr val="1E3A3A"/>
          </a:solidFill>
          <a:ln w="12700">
            <a:solidFill>
              <a:srgbClr val="2D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9468" y="4069188"/>
            <a:ext cx="441113" cy="240607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100" b="1" i="0">
                <a:solidFill>
                  <a:srgbClr val="A0B4B0"/>
                </a:solidFill>
                <a:latin typeface="Segoe UI"/>
              </a:defRPr>
            </a:pPr>
            <a:r>
              <a:t>VENDOR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8809" y="4278200"/>
            <a:ext cx="962430" cy="19686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900" b="0" i="0">
                <a:solidFill>
                  <a:srgbClr val="A0B4B0"/>
                </a:solidFill>
                <a:latin typeface="Segoe UI"/>
              </a:defRPr>
            </a:pPr>
            <a:r>
              <a:t>Self-attestation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4834" y="2913543"/>
            <a:ext cx="802025" cy="481215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2200" b="1" i="0">
                <a:solidFill>
                  <a:srgbClr val="55667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0352" y="1648530"/>
            <a:ext cx="1042632" cy="28435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300" b="1" i="0">
                <a:solidFill>
                  <a:srgbClr val="5BB8F5"/>
                </a:solidFill>
                <a:latin typeface="Segoe UI"/>
              </a:defRPr>
            </a:pPr>
            <a:r>
              <a:t>AIUC-1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9390" y="1883062"/>
            <a:ext cx="1804556" cy="21873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000" b="0" i="0">
                <a:solidFill>
                  <a:srgbClr val="8899AA"/>
                </a:solidFill>
                <a:latin typeface="Segoe UI"/>
              </a:defRPr>
            </a:pPr>
            <a:r>
              <a:t>(Vendor-side certification)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1036" y="2174707"/>
            <a:ext cx="1701265" cy="583290"/>
          </a:xfrm>
          <a:prstGeom prst="roundRect">
            <a:avLst>
              <a:gd name="adj" fmla="val 16666"/>
            </a:avLst>
          </a:prstGeom>
          <a:solidFill>
            <a:srgbClr val="1A2A1A"/>
          </a:solidFill>
          <a:ln w="12700">
            <a:solidFill>
              <a:srgbClr val="2D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7593" y="2282859"/>
            <a:ext cx="588151" cy="240607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100" b="1" i="0">
                <a:solidFill>
                  <a:srgbClr val="6DD47E"/>
                </a:solidFill>
                <a:latin typeface="Segoe UI"/>
              </a:defRPr>
            </a:pPr>
            <a:r>
              <a:t>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9998" y="2491872"/>
            <a:ext cx="1323341" cy="19686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900" b="0" i="0">
                <a:solidFill>
                  <a:srgbClr val="A0B4B0"/>
                </a:solidFill>
                <a:latin typeface="Segoe UI"/>
              </a:defRPr>
            </a:pPr>
            <a:r>
              <a:t>"Show me your results"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3441" y="2903821"/>
            <a:ext cx="2916454" cy="1701265"/>
          </a:xfrm>
          <a:prstGeom prst="roundRect">
            <a:avLst>
              <a:gd name="adj" fmla="val 7142"/>
            </a:avLst>
          </a:prstGeom>
          <a:solidFill>
            <a:srgbClr val="162447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454" y="2947568"/>
            <a:ext cx="962430" cy="524961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2400" b="1" i="0">
                <a:solidFill>
                  <a:srgbClr val="5BB8F5"/>
                </a:solidFill>
                <a:latin typeface="Segoe UI"/>
              </a:defRPr>
            </a:pPr>
            <a:r>
              <a:t>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8833" y="3411770"/>
            <a:ext cx="2245670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0" i="0">
                <a:solidFill>
                  <a:srgbClr val="5BB8F5"/>
                </a:solidFill>
                <a:latin typeface="Segoe UI"/>
              </a:defRPr>
            </a:pPr>
            <a:r>
              <a:t>Third-party testing mandates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8935" y="3606201"/>
            <a:ext cx="2165467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0" i="0">
                <a:solidFill>
                  <a:srgbClr val="5BB8F5"/>
                </a:solidFill>
                <a:latin typeface="Segoe UI"/>
              </a:defRPr>
            </a:pPr>
            <a:r>
              <a:t>Standardized test artifacts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8631" y="3800631"/>
            <a:ext cx="2406075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0" i="0">
                <a:solidFill>
                  <a:srgbClr val="5BB8F5"/>
                </a:solidFill>
                <a:latin typeface="Segoe UI"/>
              </a:defRPr>
            </a:pPr>
            <a:r>
              <a:t>Hallucination &amp; safety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8833" y="3995061"/>
            <a:ext cx="2245670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0" i="0">
                <a:solidFill>
                  <a:srgbClr val="5BB8F5"/>
                </a:solidFill>
                <a:latin typeface="Segoe UI"/>
              </a:defRPr>
            </a:pPr>
            <a:r>
              <a:t>Continuous validation cycles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9390" y="4313441"/>
            <a:ext cx="1804556" cy="21873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000" b="0" i="1">
                <a:solidFill>
                  <a:srgbClr val="8CB4D4"/>
                </a:solidFill>
                <a:latin typeface="Segoe UI"/>
              </a:defRPr>
            </a:pPr>
            <a:r>
              <a:t>Binary signal: pass or fail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57873" y="4787365"/>
            <a:ext cx="6075947" cy="437468"/>
          </a:xfrm>
          <a:prstGeom prst="roundRect">
            <a:avLst>
              <a:gd name="adj" fmla="val 22222"/>
            </a:avLst>
          </a:prstGeom>
          <a:solidFill>
            <a:srgbClr val="0E2A0E"/>
          </a:solidFill>
          <a:ln w="19050">
            <a:solidFill>
              <a:srgbClr val="2D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68961" y="4906453"/>
            <a:ext cx="5453770" cy="26248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 sz="1200" b="1" i="0">
                <a:solidFill>
                  <a:srgbClr val="6DD47E"/>
                </a:solidFill>
                <a:latin typeface="Segoe UI"/>
              </a:defRPr>
            </a:pPr>
            <a:r>
              <a:t>A 200-person clinic gets the same assurance as a major health 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532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Figure 2: Traditional frameworks require buyers to build internal audit capabilities that scale poorly. AIUC-1 inverts this: 78.6% of requirements are vendor obligations, producing standardized test artifacts that any buyer can evaluate.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126480"/>
            <a:ext cx="10728655" cy="5943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19963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5A9E"/>
                </a:solidFill>
                <a:latin typeface="Segoe UI"/>
              </a:defRPr>
            </a:pPr>
            <a:r>
              <a:t>KEY TAKEAWAY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AIUC-1 works as a binary signal — vendors either pass third-party testing or they don't. A 200-person clinic gets the same assurance as a major health system.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295" y="6583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Segoe UI"/>
              </a:defRPr>
            </a:pPr>
            <a: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