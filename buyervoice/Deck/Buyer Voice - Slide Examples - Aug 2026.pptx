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3.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851" r:id="rId5"/>
    <p:sldMasterId id="2147483952" r:id="rId6"/>
    <p:sldMasterId id="2147483969" r:id="rId7"/>
    <p:sldMasterId id="2147483987" r:id="rId8"/>
  </p:sldMasterIdLst>
  <p:notesMasterIdLst>
    <p:notesMasterId r:id="rId23"/>
  </p:notesMasterIdLst>
  <p:handoutMasterIdLst>
    <p:handoutMasterId r:id="rId24"/>
  </p:handoutMasterIdLst>
  <p:sldIdLst>
    <p:sldId id="256" r:id="rId9"/>
    <p:sldId id="2147481738" r:id="rId10"/>
    <p:sldId id="2147481740" r:id="rId11"/>
    <p:sldId id="2147481741" r:id="rId12"/>
    <p:sldId id="2147481748" r:id="rId13"/>
    <p:sldId id="2147481745" r:id="rId14"/>
    <p:sldId id="2147481743" r:id="rId15"/>
    <p:sldId id="272" r:id="rId16"/>
    <p:sldId id="2147481683" r:id="rId17"/>
    <p:sldId id="2147481731" r:id="rId18"/>
    <p:sldId id="2147481729" r:id="rId19"/>
    <p:sldId id="2147481730" r:id="rId20"/>
    <p:sldId id="2147481732" r:id="rId21"/>
    <p:sldId id="2147481733" r:id="rId22"/>
  </p:sldIdLst>
  <p:sldSz cx="12192000" cy="6858000"/>
  <p:notesSz cx="6858000" cy="9144000"/>
  <p:embeddedFontLst>
    <p:embeddedFont>
      <p:font typeface="Gartner Sans" panose="020B0504030402040204" pitchFamily="34" charset="0"/>
      <p:regular r:id="rId25"/>
      <p:bold r:id="rId26"/>
      <p:italic r:id="rId27"/>
      <p:boldItalic r:id="rId28"/>
    </p:embeddedFont>
    <p:embeddedFont>
      <p:font typeface="Gartner Sans Medium" panose="020B0604030402040204" pitchFamily="34" charset="0"/>
      <p:regular r:id="rId29"/>
      <p:italic r:id="rId30"/>
    </p:embeddedFont>
    <p:embeddedFont>
      <p:font typeface="Gartner Sans Semibold" panose="020B0704030402040204" pitchFamily="34" charset="0"/>
      <p:regular r:id="rId31"/>
      <p:bold r:id="rId32"/>
      <p:italic r:id="rId33"/>
      <p:boldItalic r:id="rId3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0BDBDC1-CAD5-4D70-BBFF-AEBCEB9A7A20}">
          <p14:sldIdLst>
            <p14:sldId id="256"/>
            <p14:sldId id="2147481738"/>
            <p14:sldId id="2147481740"/>
            <p14:sldId id="2147481741"/>
            <p14:sldId id="2147481748"/>
            <p14:sldId id="2147481745"/>
            <p14:sldId id="2147481743"/>
            <p14:sldId id="272"/>
            <p14:sldId id="2147481683"/>
            <p14:sldId id="2147481731"/>
            <p14:sldId id="2147481729"/>
            <p14:sldId id="2147481730"/>
            <p14:sldId id="2147481732"/>
            <p14:sldId id="2147481733"/>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5D39F00-33A1-D504-FFF9-0B46976F0053}" name="Angela Melone" initials="AM" userId="S::angela.melone@gartner.com::476d6350-0513-4268-8d9b-3b3806b80a25" providerId="AD"/>
  <p188:author id="{BC4DAC10-4C77-8718-AADA-16282F4AE1C5}" name="Deepanshu Chauhan" initials="DC" userId="S::deepanshu.chauhan@gartner.com::d8f3a64d-a707-4f85-adcf-3135f0967eca" providerId="AD"/>
  <p188:author id="{9774BD1B-EBBB-C449-CA00-3A1D8953A410}" name="Tracie Valentino" initials="" userId="S::Tracie.Valentino@gartner.com::d210d26e-81a2-450b-9bda-2e853d352f6a" providerId="AD"/>
  <p188:author id="{9392EA1E-9453-3937-7D94-5C59C25EDF86}" name="Nora Silver" initials="NS" userId="S::Nora.Silver@gartner.com::f4d5de43-753d-4c7e-99ff-51350c7a6a87" providerId="AD"/>
  <p188:author id="{DEA66DC4-FA32-A0B9-6798-C07B7D483537}" name="Tracie Valentino" initials="TV" userId="S::tracie.valentino@gartner.com::d210d26e-81a2-450b-9bda-2e853d352f6a" providerId="AD"/>
  <p188:author id="{69356CCF-29D1-70B7-FE65-53C4050E74F1}" name="Maureen Johnson" initials="MJ" userId="S::Maureen.Johnson@gartner.com::90dbf711-2323-48c6-8fab-a608b913e366" providerId="AD"/>
  <p188:author id="{8A3D13D4-A957-24DA-9283-1ABBAB67A73E}" name="Rich Enders" initials="RE" userId="S::Rich.Enders@gartner.com::1ad872d4-5fa0-4d3e-b9bc-40fded2a6f6d" providerId="AD"/>
  <p188:author id="{CFBCEDD4-6AD8-630E-C1BB-56A588D26BA9}" name="Kathleen Losche" initials="KL" userId="S::Kathleen.Losche@gartner.com::1f0fe5ab-5d4b-4bda-8660-95616c868c98" providerId="AD"/>
  <p188:author id="{4D70FBD6-0278-BF37-4C1D-453D85D2A793}" name="Kathleen Losche" initials="KL" userId="S::kathleen.losche@gartner.com::1f0fe5ab-5d4b-4bda-8660-95616c868c98"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Enders,Rich" initials="E" lastIdx="4" clrIdx="0">
    <p:extLst>
      <p:ext uri="{19B8F6BF-5375-455C-9EA6-DF929625EA0E}">
        <p15:presenceInfo xmlns:p15="http://schemas.microsoft.com/office/powerpoint/2012/main" userId="S::Rich.Enders@gartner.com::1ad872d4-5fa0-4d3e-b9bc-40fded2a6f6d" providerId="AD"/>
      </p:ext>
    </p:extLst>
  </p:cmAuthor>
  <p:cmAuthor id="2" name="Puleio,Michelle" initials="P" lastIdx="1" clrIdx="1">
    <p:extLst>
      <p:ext uri="{19B8F6BF-5375-455C-9EA6-DF929625EA0E}">
        <p15:presenceInfo xmlns:p15="http://schemas.microsoft.com/office/powerpoint/2012/main" userId="S::Michelle.Puleio@gartner.com::4d61dde0-08c5-41fb-925d-691e51c28e04" providerId="AD"/>
      </p:ext>
    </p:extLst>
  </p:cmAuthor>
  <p:cmAuthor id="3" name="Rafferty,Charles" initials="R" lastIdx="1" clrIdx="2">
    <p:extLst>
      <p:ext uri="{19B8F6BF-5375-455C-9EA6-DF929625EA0E}">
        <p15:presenceInfo xmlns:p15="http://schemas.microsoft.com/office/powerpoint/2012/main" userId="S::Charles.Rafferty@gartner.com::7a4208b7-acfc-4cce-8499-c63b78448d8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F40DB0C-4392-4BFB-8AFB-503F43ECF8B9}" v="1" dt="2026-08-17T11:59:32.405"/>
  </p1510:revLst>
</p1510:revInfo>
</file>

<file path=ppt/tableStyles.xml><?xml version="1.0" encoding="utf-8"?>
<a:tblStyleLst xmlns:a="http://schemas.openxmlformats.org/drawingml/2006/main" def="{6E25E649-3F16-4E02-A733-19D2CDBF48F0}">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90" d="100"/>
          <a:sy n="90" d="100"/>
        </p:scale>
        <p:origin x="307" y="67"/>
      </p:cViewPr>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font" Target="fonts/font2.fntdata"/><Relationship Id="rId39" Type="http://schemas.openxmlformats.org/officeDocument/2006/relationships/tableStyles" Target="tableStyles.xml"/><Relationship Id="rId21" Type="http://schemas.openxmlformats.org/officeDocument/2006/relationships/slide" Target="slides/slide13.xml"/><Relationship Id="rId34" Type="http://schemas.openxmlformats.org/officeDocument/2006/relationships/font" Target="fonts/font10.fntdata"/><Relationship Id="rId42" Type="http://schemas.microsoft.com/office/2018/10/relationships/authors" Target="authors.xml"/><Relationship Id="rId7" Type="http://schemas.openxmlformats.org/officeDocument/2006/relationships/slideMaster" Target="slideMasters/slideMaster3.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font" Target="fonts/font5.fntdata"/><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2.xml"/><Relationship Id="rId11" Type="http://schemas.openxmlformats.org/officeDocument/2006/relationships/slide" Target="slides/slide3.xml"/><Relationship Id="rId24" Type="http://schemas.openxmlformats.org/officeDocument/2006/relationships/handoutMaster" Target="handoutMasters/handoutMaster1.xml"/><Relationship Id="rId32" Type="http://schemas.openxmlformats.org/officeDocument/2006/relationships/font" Target="fonts/font8.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Master" Target="slideMasters/slideMaster1.xml"/><Relationship Id="rId15" Type="http://schemas.openxmlformats.org/officeDocument/2006/relationships/slide" Target="slides/slide7.xml"/><Relationship Id="rId23" Type="http://schemas.openxmlformats.org/officeDocument/2006/relationships/notesMaster" Target="notesMasters/notesMaster1.xml"/><Relationship Id="rId28" Type="http://schemas.openxmlformats.org/officeDocument/2006/relationships/font" Target="fonts/font4.fntdata"/><Relationship Id="rId36" Type="http://schemas.openxmlformats.org/officeDocument/2006/relationships/presProps" Target="presProp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font" Target="fonts/font7.fntdata"/><Relationship Id="rId4" Type="http://schemas.openxmlformats.org/officeDocument/2006/relationships/customXml" Target="../customXml/item4.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commentAuthors" Target="commentAuthors.xml"/><Relationship Id="rId8" Type="http://schemas.openxmlformats.org/officeDocument/2006/relationships/slideMaster" Target="slideMasters/slideMaster4.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ck DiLorenzo" userId="89677659-a3f3-454e-860b-56081a2bdffd" providerId="ADAL" clId="{E4E57E3B-2F57-49A4-9E08-678C80465B6C}"/>
    <pc:docChg chg="addSld delSld modSld modSection">
      <pc:chgData name="Nick DiLorenzo" userId="89677659-a3f3-454e-860b-56081a2bdffd" providerId="ADAL" clId="{E4E57E3B-2F57-49A4-9E08-678C80465B6C}" dt="2026-08-17T11:59:35.341" v="9" actId="20577"/>
      <pc:docMkLst>
        <pc:docMk/>
      </pc:docMkLst>
      <pc:sldChg chg="modSp mod">
        <pc:chgData name="Nick DiLorenzo" userId="89677659-a3f3-454e-860b-56081a2bdffd" providerId="ADAL" clId="{E4E57E3B-2F57-49A4-9E08-678C80465B6C}" dt="2026-08-17T11:59:35.341" v="9" actId="20577"/>
        <pc:sldMkLst>
          <pc:docMk/>
          <pc:sldMk cId="3807739032" sldId="272"/>
        </pc:sldMkLst>
        <pc:spChg chg="mod">
          <ac:chgData name="Nick DiLorenzo" userId="89677659-a3f3-454e-860b-56081a2bdffd" providerId="ADAL" clId="{E4E57E3B-2F57-49A4-9E08-678C80465B6C}" dt="2026-08-17T11:59:35.341" v="9" actId="20577"/>
          <ac:spMkLst>
            <pc:docMk/>
            <pc:sldMk cId="3807739032" sldId="272"/>
            <ac:spMk id="6" creationId="{F250C0AD-A60D-55AB-0363-A1518AE45AC4}"/>
          </ac:spMkLst>
        </pc:spChg>
      </pc:sldChg>
      <pc:sldChg chg="add">
        <pc:chgData name="Nick DiLorenzo" userId="89677659-a3f3-454e-860b-56081a2bdffd" providerId="ADAL" clId="{E4E57E3B-2F57-49A4-9E08-678C80465B6C}" dt="2026-08-17T11:59:32.398" v="1"/>
        <pc:sldMkLst>
          <pc:docMk/>
          <pc:sldMk cId="1622243072" sldId="2147481683"/>
        </pc:sldMkLst>
      </pc:sldChg>
      <pc:sldChg chg="del">
        <pc:chgData name="Nick DiLorenzo" userId="89677659-a3f3-454e-860b-56081a2bdffd" providerId="ADAL" clId="{E4E57E3B-2F57-49A4-9E08-678C80465B6C}" dt="2026-08-17T11:59:29.431" v="0" actId="2696"/>
        <pc:sldMkLst>
          <pc:docMk/>
          <pc:sldMk cId="2938272128" sldId="2147481683"/>
        </pc:sldMkLst>
      </pc:sldChg>
      <pc:sldChg chg="add">
        <pc:chgData name="Nick DiLorenzo" userId="89677659-a3f3-454e-860b-56081a2bdffd" providerId="ADAL" clId="{E4E57E3B-2F57-49A4-9E08-678C80465B6C}" dt="2026-08-17T11:59:32.398" v="1"/>
        <pc:sldMkLst>
          <pc:docMk/>
          <pc:sldMk cId="2653528173" sldId="2147481729"/>
        </pc:sldMkLst>
      </pc:sldChg>
      <pc:sldChg chg="del">
        <pc:chgData name="Nick DiLorenzo" userId="89677659-a3f3-454e-860b-56081a2bdffd" providerId="ADAL" clId="{E4E57E3B-2F57-49A4-9E08-678C80465B6C}" dt="2026-08-17T11:59:29.431" v="0" actId="2696"/>
        <pc:sldMkLst>
          <pc:docMk/>
          <pc:sldMk cId="4165652789" sldId="2147481729"/>
        </pc:sldMkLst>
      </pc:sldChg>
      <pc:sldChg chg="del">
        <pc:chgData name="Nick DiLorenzo" userId="89677659-a3f3-454e-860b-56081a2bdffd" providerId="ADAL" clId="{E4E57E3B-2F57-49A4-9E08-678C80465B6C}" dt="2026-08-17T11:59:29.431" v="0" actId="2696"/>
        <pc:sldMkLst>
          <pc:docMk/>
          <pc:sldMk cId="978803499" sldId="2147481730"/>
        </pc:sldMkLst>
      </pc:sldChg>
      <pc:sldChg chg="add">
        <pc:chgData name="Nick DiLorenzo" userId="89677659-a3f3-454e-860b-56081a2bdffd" providerId="ADAL" clId="{E4E57E3B-2F57-49A4-9E08-678C80465B6C}" dt="2026-08-17T11:59:32.398" v="1"/>
        <pc:sldMkLst>
          <pc:docMk/>
          <pc:sldMk cId="3339143813" sldId="2147481730"/>
        </pc:sldMkLst>
      </pc:sldChg>
      <pc:sldChg chg="del">
        <pc:chgData name="Nick DiLorenzo" userId="89677659-a3f3-454e-860b-56081a2bdffd" providerId="ADAL" clId="{E4E57E3B-2F57-49A4-9E08-678C80465B6C}" dt="2026-08-17T11:59:29.431" v="0" actId="2696"/>
        <pc:sldMkLst>
          <pc:docMk/>
          <pc:sldMk cId="303642591" sldId="2147481731"/>
        </pc:sldMkLst>
      </pc:sldChg>
      <pc:sldChg chg="add">
        <pc:chgData name="Nick DiLorenzo" userId="89677659-a3f3-454e-860b-56081a2bdffd" providerId="ADAL" clId="{E4E57E3B-2F57-49A4-9E08-678C80465B6C}" dt="2026-08-17T11:59:32.398" v="1"/>
        <pc:sldMkLst>
          <pc:docMk/>
          <pc:sldMk cId="2509976875" sldId="2147481731"/>
        </pc:sldMkLst>
      </pc:sldChg>
      <pc:sldChg chg="add">
        <pc:chgData name="Nick DiLorenzo" userId="89677659-a3f3-454e-860b-56081a2bdffd" providerId="ADAL" clId="{E4E57E3B-2F57-49A4-9E08-678C80465B6C}" dt="2026-08-17T11:59:32.398" v="1"/>
        <pc:sldMkLst>
          <pc:docMk/>
          <pc:sldMk cId="1275980728" sldId="2147481732"/>
        </pc:sldMkLst>
      </pc:sldChg>
      <pc:sldChg chg="del">
        <pc:chgData name="Nick DiLorenzo" userId="89677659-a3f3-454e-860b-56081a2bdffd" providerId="ADAL" clId="{E4E57E3B-2F57-49A4-9E08-678C80465B6C}" dt="2026-08-17T11:59:29.431" v="0" actId="2696"/>
        <pc:sldMkLst>
          <pc:docMk/>
          <pc:sldMk cId="2247651257" sldId="2147481732"/>
        </pc:sldMkLst>
      </pc:sldChg>
      <pc:sldChg chg="del">
        <pc:chgData name="Nick DiLorenzo" userId="89677659-a3f3-454e-860b-56081a2bdffd" providerId="ADAL" clId="{E4E57E3B-2F57-49A4-9E08-678C80465B6C}" dt="2026-08-17T11:59:29.431" v="0" actId="2696"/>
        <pc:sldMkLst>
          <pc:docMk/>
          <pc:sldMk cId="443447282" sldId="2147481733"/>
        </pc:sldMkLst>
      </pc:sldChg>
      <pc:sldChg chg="add">
        <pc:chgData name="Nick DiLorenzo" userId="89677659-a3f3-454e-860b-56081a2bdffd" providerId="ADAL" clId="{E4E57E3B-2F57-49A4-9E08-678C80465B6C}" dt="2026-08-17T11:59:32.398" v="1"/>
        <pc:sldMkLst>
          <pc:docMk/>
          <pc:sldMk cId="1060248689" sldId="2147481733"/>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E26B98C-713B-4B72-A4D4-019F5DA80C9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DC270BE1-CA36-4E08-BA4E-AC3C07DBA58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62039D-F6B0-4B3D-87CD-5EA4BC8D3B27}" type="datetimeFigureOut">
              <a:rPr lang="en-US" smtClean="0"/>
              <a:t>8/12/2026</a:t>
            </a:fld>
            <a:endParaRPr lang="en-US"/>
          </a:p>
        </p:txBody>
      </p:sp>
      <p:sp>
        <p:nvSpPr>
          <p:cNvPr id="4" name="Footer Placeholder 3">
            <a:extLst>
              <a:ext uri="{FF2B5EF4-FFF2-40B4-BE49-F238E27FC236}">
                <a16:creationId xmlns:a16="http://schemas.microsoft.com/office/drawing/2014/main" id="{87346B8E-2606-4769-BF30-459644BE4BF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ABEC229D-172E-43E4-8A96-CF0E11D3DD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3B6B68-6C65-4B67-BFEC-C9B9E8911328}" type="slidenum">
              <a:rPr lang="en-US" smtClean="0"/>
              <a:t>‹#›</a:t>
            </a:fld>
            <a:endParaRPr lang="en-US"/>
          </a:p>
        </p:txBody>
      </p:sp>
    </p:spTree>
    <p:extLst>
      <p:ext uri="{BB962C8B-B14F-4D97-AF65-F5344CB8AC3E}">
        <p14:creationId xmlns:p14="http://schemas.microsoft.com/office/powerpoint/2010/main" val="173089888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Notes Placeholder 4"/>
          <p:cNvSpPr>
            <a:spLocks noGrp="1"/>
          </p:cNvSpPr>
          <p:nvPr>
            <p:ph type="body" sz="quarter" idx="3"/>
          </p:nvPr>
        </p:nvSpPr>
        <p:spPr>
          <a:xfrm>
            <a:off x="246888" y="3134806"/>
            <a:ext cx="6373368" cy="5698298"/>
          </a:xfrm>
          <a:prstGeom prst="rect">
            <a:avLst/>
          </a:prstGeom>
        </p:spPr>
        <p:txBody>
          <a:bodyPr vert="horz" lIns="0" tIns="0" rIns="0" bIns="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Image Placeholder 7">
            <a:extLst>
              <a:ext uri="{FF2B5EF4-FFF2-40B4-BE49-F238E27FC236}">
                <a16:creationId xmlns:a16="http://schemas.microsoft.com/office/drawing/2014/main" id="{EB9A72EB-8446-4162-8400-EAE51CA4B002}"/>
              </a:ext>
            </a:extLst>
          </p:cNvPr>
          <p:cNvSpPr>
            <a:spLocks noGrp="1" noRot="1" noChangeAspect="1"/>
          </p:cNvSpPr>
          <p:nvPr>
            <p:ph type="sldImg" idx="2"/>
          </p:nvPr>
        </p:nvSpPr>
        <p:spPr>
          <a:xfrm>
            <a:off x="1333500" y="658368"/>
            <a:ext cx="4191000" cy="2357438"/>
          </a:xfrm>
          <a:prstGeom prst="rect">
            <a:avLst/>
          </a:prstGeom>
          <a:noFill/>
          <a:ln w="12700">
            <a:solidFill>
              <a:prstClr val="black"/>
            </a:solidFill>
          </a:ln>
        </p:spPr>
        <p:txBody>
          <a:bodyPr vert="horz" lIns="91440" tIns="45720" rIns="91440" bIns="45720" rtlCol="0" anchor="ctr"/>
          <a:lstStyle/>
          <a:p>
            <a:endParaRPr lang="en-US"/>
          </a:p>
        </p:txBody>
      </p:sp>
      <p:sp>
        <p:nvSpPr>
          <p:cNvPr id="10" name="TextBox 9">
            <a:extLst>
              <a:ext uri="{FF2B5EF4-FFF2-40B4-BE49-F238E27FC236}">
                <a16:creationId xmlns:a16="http://schemas.microsoft.com/office/drawing/2014/main" id="{F59BBFC6-D472-4F66-A33B-98EEDC87B9D3}"/>
              </a:ext>
            </a:extLst>
          </p:cNvPr>
          <p:cNvSpPr txBox="1"/>
          <p:nvPr/>
        </p:nvSpPr>
        <p:spPr>
          <a:xfrm rot="16200000">
            <a:off x="-760712" y="1686780"/>
            <a:ext cx="2143215" cy="138499"/>
          </a:xfrm>
          <a:prstGeom prst="rect">
            <a:avLst/>
          </a:prstGeom>
          <a:noFill/>
        </p:spPr>
        <p:txBody>
          <a:bodyPr wrap="none" lIns="0" tIns="0" rIns="0" bIns="0" rtlCol="0" anchor="ctr" anchorCtr="0">
            <a:spAutoFit/>
          </a:bodyPr>
          <a:lstStyle/>
          <a:p>
            <a:pPr algn="ctr"/>
            <a:r>
              <a:rPr lang="en-US" sz="900">
                <a:solidFill>
                  <a:schemeClr val="bg1">
                    <a:lumMod val="75000"/>
                  </a:schemeClr>
                </a:solidFill>
              </a:rPr>
              <a:t>— NOT FOR EXTERNAL DISTRIBUTION —</a:t>
            </a:r>
          </a:p>
        </p:txBody>
      </p:sp>
      <p:sp>
        <p:nvSpPr>
          <p:cNvPr id="11" name="TextBox 10">
            <a:extLst>
              <a:ext uri="{FF2B5EF4-FFF2-40B4-BE49-F238E27FC236}">
                <a16:creationId xmlns:a16="http://schemas.microsoft.com/office/drawing/2014/main" id="{DA573FBF-EDF7-4974-B2B2-CF1E73B474F9}"/>
              </a:ext>
            </a:extLst>
          </p:cNvPr>
          <p:cNvSpPr txBox="1"/>
          <p:nvPr/>
        </p:nvSpPr>
        <p:spPr>
          <a:xfrm rot="5400000">
            <a:off x="5475496" y="1686780"/>
            <a:ext cx="2143215" cy="138499"/>
          </a:xfrm>
          <a:prstGeom prst="rect">
            <a:avLst/>
          </a:prstGeom>
          <a:noFill/>
        </p:spPr>
        <p:txBody>
          <a:bodyPr wrap="none" lIns="0" tIns="0" rIns="0" bIns="0" rtlCol="0" anchor="ctr" anchorCtr="0">
            <a:spAutoFit/>
          </a:bodyPr>
          <a:lstStyle/>
          <a:p>
            <a:pPr algn="ctr"/>
            <a:r>
              <a:rPr lang="en-US" sz="900">
                <a:solidFill>
                  <a:schemeClr val="bg1">
                    <a:lumMod val="75000"/>
                  </a:schemeClr>
                </a:solidFill>
              </a:rPr>
              <a:t>— NOT FOR EXTERNAL DISTRIBUTION —</a:t>
            </a:r>
          </a:p>
        </p:txBody>
      </p:sp>
      <p:sp>
        <p:nvSpPr>
          <p:cNvPr id="23" name="TextBox 22">
            <a:extLst>
              <a:ext uri="{FF2B5EF4-FFF2-40B4-BE49-F238E27FC236}">
                <a16:creationId xmlns:a16="http://schemas.microsoft.com/office/drawing/2014/main" id="{92C8F8D4-DFC9-4259-86F5-A4F987BA15DE}"/>
              </a:ext>
            </a:extLst>
          </p:cNvPr>
          <p:cNvSpPr txBox="1"/>
          <p:nvPr/>
        </p:nvSpPr>
        <p:spPr>
          <a:xfrm>
            <a:off x="246888" y="8887968"/>
            <a:ext cx="4454746" cy="184666"/>
          </a:xfrm>
          <a:prstGeom prst="rect">
            <a:avLst/>
          </a:prstGeom>
          <a:noFill/>
        </p:spPr>
        <p:txBody>
          <a:bodyPr wrap="none" lIns="0" tIns="0" rIns="0" bIns="0" rtlCol="0" anchor="b" anchorCtr="0">
            <a:spAutoFit/>
          </a:bodyPr>
          <a:lstStyle/>
          <a:p>
            <a:pPr marL="228600" indent="-228600"/>
            <a:fld id="{E1F39F5E-4058-4856-B2BD-0FDE5C1B6221}" type="slidenum">
              <a:rPr lang="en-US" sz="600" smtClean="0">
                <a:solidFill>
                  <a:schemeClr val="tx1"/>
                </a:solidFill>
              </a:rPr>
              <a:t>‹#›</a:t>
            </a:fld>
            <a:r>
              <a:rPr lang="en-US" sz="600">
                <a:solidFill>
                  <a:schemeClr val="tx1"/>
                </a:solidFill>
              </a:rPr>
              <a:t>	© 2026 Gartner, Inc. and/or its affiliates. All rights reserved. Gartner is a registered trademark of Gartner, Inc. or its affiliates.</a:t>
            </a:r>
            <a:br>
              <a:rPr lang="en-US" sz="600">
                <a:solidFill>
                  <a:schemeClr val="tx1"/>
                </a:solidFill>
              </a:rPr>
            </a:br>
            <a:r>
              <a:rPr lang="en-US" sz="600" b="1">
                <a:solidFill>
                  <a:schemeClr val="tx1"/>
                </a:solidFill>
              </a:rPr>
              <a:t>RESTRICTED</a:t>
            </a:r>
            <a:r>
              <a:rPr lang="en-US" sz="600">
                <a:solidFill>
                  <a:schemeClr val="tx1"/>
                </a:solidFill>
              </a:rPr>
              <a:t> | Version X.X | Last updated [insert date format: DD Month YYYY]</a:t>
            </a:r>
          </a:p>
        </p:txBody>
      </p:sp>
      <p:sp>
        <p:nvSpPr>
          <p:cNvPr id="26" name="TextBox 25">
            <a:extLst>
              <a:ext uri="{FF2B5EF4-FFF2-40B4-BE49-F238E27FC236}">
                <a16:creationId xmlns:a16="http://schemas.microsoft.com/office/drawing/2014/main" id="{EF32A807-544A-4EBE-989F-ECAA016BF8D1}"/>
              </a:ext>
            </a:extLst>
          </p:cNvPr>
          <p:cNvSpPr txBox="1"/>
          <p:nvPr/>
        </p:nvSpPr>
        <p:spPr>
          <a:xfrm>
            <a:off x="246887" y="128016"/>
            <a:ext cx="6327648" cy="244682"/>
          </a:xfrm>
          <a:prstGeom prst="rect">
            <a:avLst/>
          </a:prstGeom>
          <a:noFill/>
        </p:spPr>
        <p:txBody>
          <a:bodyPr wrap="square" lIns="0" rtlCol="0">
            <a:spAutoFit/>
          </a:bodyPr>
          <a:lstStyle/>
          <a:p>
            <a:pPr>
              <a:lnSpc>
                <a:spcPct val="90000"/>
              </a:lnSpc>
            </a:pPr>
            <a:r>
              <a:rPr lang="en-US" sz="1100" b="0">
                <a:solidFill>
                  <a:schemeClr val="tx1"/>
                </a:solidFill>
                <a:latin typeface="+mj-lt"/>
              </a:rPr>
              <a:t>Presentation Title</a:t>
            </a:r>
          </a:p>
        </p:txBody>
      </p:sp>
    </p:spTree>
    <p:extLst>
      <p:ext uri="{BB962C8B-B14F-4D97-AF65-F5344CB8AC3E}">
        <p14:creationId xmlns:p14="http://schemas.microsoft.com/office/powerpoint/2010/main" val="922378356"/>
      </p:ext>
    </p:extLst>
  </p:cSld>
  <p:clrMap bg1="lt1" tx1="dk1" bg2="lt2" tx2="dk2" accent1="accent1" accent2="accent2" accent3="accent3" accent4="accent4" accent5="accent5" accent6="accent6" hlink="hlink" folHlink="folHlink"/>
  <p:notesStyle>
    <a:lvl1pPr marL="0" algn="l" defTabSz="914400" rtl="0" eaLnBrk="1" latinLnBrk="0" hangingPunct="1">
      <a:lnSpc>
        <a:spcPct val="90000"/>
      </a:lnSpc>
      <a:spcAft>
        <a:spcPts val="600"/>
      </a:spcAft>
      <a:defRPr sz="1200" kern="1200">
        <a:solidFill>
          <a:schemeClr val="tx1"/>
        </a:solidFill>
        <a:latin typeface="+mn-lt"/>
        <a:ea typeface="+mn-ea"/>
        <a:cs typeface="+mn-cs"/>
      </a:defRPr>
    </a:lvl1pPr>
    <a:lvl2pPr marL="18288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2pPr>
    <a:lvl3pPr marL="36576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3pPr>
    <a:lvl4pPr marL="54864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4pPr>
    <a:lvl5pPr marL="731520" indent="-137160" algn="l" defTabSz="914400" rtl="0" eaLnBrk="1" latinLnBrk="0" hangingPunct="1">
      <a:lnSpc>
        <a:spcPct val="90000"/>
      </a:lnSpc>
      <a:spcAft>
        <a:spcPts val="600"/>
      </a:spcAft>
      <a:buFont typeface="Arial" panose="020B0604020202020204" pitchFamily="34" charset="0"/>
      <a:buChar char="–"/>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noChangeAspect="1"/>
          </p:cNvSpPr>
          <p:nvPr>
            <p:ph type="body" idx="1"/>
          </p:nvPr>
        </p:nvSpPr>
        <p:spPr/>
        <p:txBody>
          <a:bodyPr/>
          <a:lstStyle/>
          <a:p>
            <a:r>
              <a:rPr lang="en-US" dirty="0"/>
              <a:t>Ver 2026-0105</a:t>
            </a:r>
          </a:p>
          <a:p>
            <a:endParaRPr lang="en-US" dirty="0"/>
          </a:p>
        </p:txBody>
      </p:sp>
      <p:sp>
        <p:nvSpPr>
          <p:cNvPr id="4" name="Rectangle 103">
            <a:extLst>
              <a:ext uri="{FF2B5EF4-FFF2-40B4-BE49-F238E27FC236}">
                <a16:creationId xmlns:a16="http://schemas.microsoft.com/office/drawing/2014/main" id="{B3772AE2-76C5-43EB-BBF0-1E8DDB46AEB7}"/>
              </a:ext>
            </a:extLst>
          </p:cNvPr>
          <p:cNvSpPr>
            <a:spLocks noChangeArrowheads="1"/>
          </p:cNvSpPr>
          <p:nvPr/>
        </p:nvSpPr>
        <p:spPr bwMode="gray">
          <a:xfrm>
            <a:off x="3862389" y="100605"/>
            <a:ext cx="2618422" cy="420582"/>
          </a:xfrm>
          <a:prstGeom prst="rect">
            <a:avLst/>
          </a:prstGeom>
          <a:noFill/>
          <a:ln w="9525">
            <a:noFill/>
            <a:miter lim="800000"/>
            <a:headEnd/>
            <a:tailEnd/>
          </a:ln>
        </p:spPr>
        <p:txBody>
          <a:bodyPr wrap="square" lIns="65028" tIns="25377" rIns="65028" bIns="25377">
            <a:spAutoFit/>
          </a:bodyPr>
          <a:lstStyle/>
          <a:p>
            <a:pPr algn="l" defTabSz="947738">
              <a:lnSpc>
                <a:spcPct val="100000"/>
              </a:lnSpc>
              <a:spcBef>
                <a:spcPct val="0"/>
              </a:spcBef>
              <a:spcAft>
                <a:spcPct val="0"/>
              </a:spcAft>
            </a:pPr>
            <a:r>
              <a:rPr lang="en-US" sz="1200"/>
              <a:t>Presenter's Name</a:t>
            </a:r>
          </a:p>
          <a:p>
            <a:pPr algn="l" defTabSz="947738">
              <a:lnSpc>
                <a:spcPct val="100000"/>
              </a:lnSpc>
              <a:spcBef>
                <a:spcPct val="0"/>
              </a:spcBef>
              <a:spcAft>
                <a:spcPct val="0"/>
              </a:spcAft>
            </a:pPr>
            <a:r>
              <a:rPr lang="en-US" sz="1200"/>
              <a:t>Presenter's Name</a:t>
            </a:r>
          </a:p>
        </p:txBody>
      </p:sp>
      <p:sp>
        <p:nvSpPr>
          <p:cNvPr id="6" name="Slide Image Placeholder 5">
            <a:extLst>
              <a:ext uri="{FF2B5EF4-FFF2-40B4-BE49-F238E27FC236}">
                <a16:creationId xmlns:a16="http://schemas.microsoft.com/office/drawing/2014/main" id="{CE842C09-60FC-3CF9-E372-D32E5E324260}"/>
              </a:ext>
            </a:extLst>
          </p:cNvPr>
          <p:cNvSpPr>
            <a:spLocks noGrp="1" noRot="1" noChangeAspect="1"/>
          </p:cNvSpPr>
          <p:nvPr>
            <p:ph type="sldImg"/>
          </p:nvPr>
        </p:nvSpPr>
        <p:spPr>
          <a:xfrm>
            <a:off x="1333500" y="658813"/>
            <a:ext cx="4191000" cy="2357437"/>
          </a:xfrm>
        </p:spPr>
      </p:sp>
    </p:spTree>
    <p:extLst>
      <p:ext uri="{BB962C8B-B14F-4D97-AF65-F5344CB8AC3E}">
        <p14:creationId xmlns:p14="http://schemas.microsoft.com/office/powerpoint/2010/main" val="41046698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5858C-D575-62B4-26EE-A76C8997B17D}"/>
            </a:ext>
          </a:extLst>
        </p:cNvPr>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6B279472-B553-2BDE-457B-67D8D80B38C7}"/>
              </a:ext>
            </a:extLst>
          </p:cNvPr>
          <p:cNvSpPr>
            <a:spLocks noGrp="1" noRot="1" noChangeAspect="1"/>
          </p:cNvSpPr>
          <p:nvPr>
            <p:ph type="sldImg"/>
          </p:nvPr>
        </p:nvSpPr>
        <p:spPr>
          <a:xfrm>
            <a:off x="1333500" y="658813"/>
            <a:ext cx="4191000" cy="2357437"/>
          </a:xfrm>
        </p:spPr>
        <p:txBody>
          <a:bodyPr/>
          <a:lstStyle/>
          <a:p>
            <a:endParaRPr lang="en-US"/>
          </a:p>
        </p:txBody>
      </p:sp>
      <p:sp>
        <p:nvSpPr>
          <p:cNvPr id="5" name="Notes Placeholder 4">
            <a:extLst>
              <a:ext uri="{FF2B5EF4-FFF2-40B4-BE49-F238E27FC236}">
                <a16:creationId xmlns:a16="http://schemas.microsoft.com/office/drawing/2014/main" id="{FE70D846-595C-09DE-3CA5-F6BE3B6A514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5296760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2264180A-087F-8111-F03A-D67B00E66F32}"/>
              </a:ext>
            </a:extLst>
          </p:cNvPr>
          <p:cNvSpPr>
            <a:spLocks noGrp="1" noRot="1" noChangeAspect="1"/>
          </p:cNvSpPr>
          <p:nvPr>
            <p:ph type="sldImg"/>
          </p:nvPr>
        </p:nvSpPr>
        <p:spPr>
          <a:xfrm>
            <a:off x="1333500" y="658813"/>
            <a:ext cx="4191000" cy="2357437"/>
          </a:xfrm>
        </p:spPr>
      </p:sp>
      <p:sp>
        <p:nvSpPr>
          <p:cNvPr id="5" name="Notes Placeholder 4">
            <a:extLst>
              <a:ext uri="{FF2B5EF4-FFF2-40B4-BE49-F238E27FC236}">
                <a16:creationId xmlns:a16="http://schemas.microsoft.com/office/drawing/2014/main" id="{92F363C1-5566-EBEF-5106-D8BC027D5A2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3938495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3E98F14E-8ABA-4B92-C23A-0F4FB3CEA937}"/>
              </a:ext>
            </a:extLst>
          </p:cNvPr>
          <p:cNvSpPr>
            <a:spLocks noGrp="1" noRot="1" noChangeAspect="1"/>
          </p:cNvSpPr>
          <p:nvPr>
            <p:ph type="sldImg"/>
          </p:nvPr>
        </p:nvSpPr>
        <p:spPr>
          <a:xfrm>
            <a:off x="1333500" y="658813"/>
            <a:ext cx="4191000" cy="2357437"/>
          </a:xfrm>
        </p:spPr>
      </p:sp>
      <p:sp>
        <p:nvSpPr>
          <p:cNvPr id="5" name="Notes Placeholder 4">
            <a:extLst>
              <a:ext uri="{FF2B5EF4-FFF2-40B4-BE49-F238E27FC236}">
                <a16:creationId xmlns:a16="http://schemas.microsoft.com/office/drawing/2014/main" id="{5187EE2D-05B0-0CCB-08B9-2E7C4773684F}"/>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3014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552C9-6020-8742-E4BD-7AAA1056FB65}"/>
            </a:ext>
          </a:extLst>
        </p:cNvPr>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77BFD20A-D418-1F0A-314A-15378AF8E3D0}"/>
              </a:ext>
            </a:extLst>
          </p:cNvPr>
          <p:cNvSpPr>
            <a:spLocks noGrp="1" noRot="1" noChangeAspect="1"/>
          </p:cNvSpPr>
          <p:nvPr>
            <p:ph type="sldImg"/>
          </p:nvPr>
        </p:nvSpPr>
        <p:spPr>
          <a:xfrm>
            <a:off x="1333500" y="658813"/>
            <a:ext cx="4191000" cy="2357437"/>
          </a:xfrm>
        </p:spPr>
      </p:sp>
      <p:sp>
        <p:nvSpPr>
          <p:cNvPr id="5" name="Notes Placeholder 4">
            <a:extLst>
              <a:ext uri="{FF2B5EF4-FFF2-40B4-BE49-F238E27FC236}">
                <a16:creationId xmlns:a16="http://schemas.microsoft.com/office/drawing/2014/main" id="{65F19E19-E9FF-606C-EEA8-2CEE0976548E}"/>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9089369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B8815E-A1B0-5908-B430-8AA67373E140}"/>
            </a:ext>
          </a:extLst>
        </p:cNvPr>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7C53E514-99CC-4100-8D7F-146A63036524}"/>
              </a:ext>
            </a:extLst>
          </p:cNvPr>
          <p:cNvSpPr>
            <a:spLocks noGrp="1" noRot="1" noChangeAspect="1"/>
          </p:cNvSpPr>
          <p:nvPr>
            <p:ph type="sldImg"/>
          </p:nvPr>
        </p:nvSpPr>
        <p:spPr>
          <a:xfrm>
            <a:off x="1333500" y="658813"/>
            <a:ext cx="4191000" cy="2357437"/>
          </a:xfrm>
        </p:spPr>
      </p:sp>
      <p:sp>
        <p:nvSpPr>
          <p:cNvPr id="5" name="Notes Placeholder 4">
            <a:extLst>
              <a:ext uri="{FF2B5EF4-FFF2-40B4-BE49-F238E27FC236}">
                <a16:creationId xmlns:a16="http://schemas.microsoft.com/office/drawing/2014/main" id="{20594090-67AC-223D-B599-E9EA7CC0C46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408671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ACBD42-5E4C-8969-257B-D06F0EB4037A}"/>
            </a:ext>
          </a:extLst>
        </p:cNvPr>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61DF3213-C065-4D0D-0ECC-B77D3EEAE364}"/>
              </a:ext>
            </a:extLst>
          </p:cNvPr>
          <p:cNvSpPr>
            <a:spLocks noGrp="1" noRot="1" noChangeAspect="1"/>
          </p:cNvSpPr>
          <p:nvPr>
            <p:ph type="sldImg"/>
          </p:nvPr>
        </p:nvSpPr>
        <p:spPr>
          <a:xfrm>
            <a:off x="1333500" y="658813"/>
            <a:ext cx="4191000" cy="2357437"/>
          </a:xfrm>
        </p:spPr>
      </p:sp>
      <p:sp>
        <p:nvSpPr>
          <p:cNvPr id="5" name="Notes Placeholder 4">
            <a:extLst>
              <a:ext uri="{FF2B5EF4-FFF2-40B4-BE49-F238E27FC236}">
                <a16:creationId xmlns:a16="http://schemas.microsoft.com/office/drawing/2014/main" id="{D1106B6F-3DE2-51B4-6B70-4DD942AC5764}"/>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2129983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EE99FA-D737-855B-4650-553C377E2537}"/>
            </a:ext>
          </a:extLst>
        </p:cNvPr>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8B07639B-9572-425E-DFBD-BCE26260FF1B}"/>
              </a:ext>
            </a:extLst>
          </p:cNvPr>
          <p:cNvSpPr>
            <a:spLocks noGrp="1" noRot="1" noChangeAspect="1"/>
          </p:cNvSpPr>
          <p:nvPr>
            <p:ph type="sldImg"/>
          </p:nvPr>
        </p:nvSpPr>
        <p:spPr>
          <a:xfrm>
            <a:off x="1333500" y="658813"/>
            <a:ext cx="4191000" cy="2357437"/>
          </a:xfrm>
        </p:spPr>
      </p:sp>
      <p:sp>
        <p:nvSpPr>
          <p:cNvPr id="5" name="Notes Placeholder 4">
            <a:extLst>
              <a:ext uri="{FF2B5EF4-FFF2-40B4-BE49-F238E27FC236}">
                <a16:creationId xmlns:a16="http://schemas.microsoft.com/office/drawing/2014/main" id="{216A66CE-B3ED-8C7B-3A36-7C578DCDD802}"/>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57399747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6B92AA-4827-39DF-FF53-F119E03EC1CC}"/>
            </a:ext>
          </a:extLst>
        </p:cNvPr>
        <p:cNvGrpSpPr/>
        <p:nvPr/>
      </p:nvGrpSpPr>
      <p:grpSpPr>
        <a:xfrm>
          <a:off x="0" y="0"/>
          <a:ext cx="0" cy="0"/>
          <a:chOff x="0" y="0"/>
          <a:chExt cx="0" cy="0"/>
        </a:xfrm>
      </p:grpSpPr>
      <p:sp>
        <p:nvSpPr>
          <p:cNvPr id="4" name="Slide Image Placeholder 3">
            <a:extLst>
              <a:ext uri="{FF2B5EF4-FFF2-40B4-BE49-F238E27FC236}">
                <a16:creationId xmlns:a16="http://schemas.microsoft.com/office/drawing/2014/main" id="{D403F2AC-768A-73A7-4B65-E5EF4E6BF55B}"/>
              </a:ext>
            </a:extLst>
          </p:cNvPr>
          <p:cNvSpPr>
            <a:spLocks noGrp="1" noRot="1" noChangeAspect="1"/>
          </p:cNvSpPr>
          <p:nvPr>
            <p:ph type="sldImg"/>
          </p:nvPr>
        </p:nvSpPr>
        <p:spPr>
          <a:xfrm>
            <a:off x="1333500" y="658813"/>
            <a:ext cx="4191000" cy="2357437"/>
          </a:xfrm>
        </p:spPr>
      </p:sp>
      <p:sp>
        <p:nvSpPr>
          <p:cNvPr id="5" name="Notes Placeholder 4">
            <a:extLst>
              <a:ext uri="{FF2B5EF4-FFF2-40B4-BE49-F238E27FC236}">
                <a16:creationId xmlns:a16="http://schemas.microsoft.com/office/drawing/2014/main" id="{3F6D7181-3904-9325-BF18-6751569082E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2878766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8" cy="2185214"/>
          </a:xfrm>
          <a:prstGeom prst="bracketPair">
            <a:avLst>
              <a:gd name="adj" fmla="val 0"/>
            </a:avLst>
          </a:prstGeom>
          <a:ln w="101600">
            <a:solidFill>
              <a:schemeClr val="accent3"/>
            </a:solidFill>
          </a:ln>
        </p:spPr>
        <p:txBody>
          <a:bodyPr wrap="square"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851940"/>
            <a:ext cx="8426919" cy="276999"/>
          </a:xfrm>
        </p:spPr>
        <p:txBody>
          <a:bodyPr wrap="square"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b="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360283939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itle" preserve="1">
  <p:cSld name="Title Slide 2">
    <p:bg>
      <p:bgPr>
        <a:solidFill>
          <a:srgbClr val="E0F1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wrap="square"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26" b="226"/>
          <a:stretch/>
        </p:blipFill>
        <p:spPr>
          <a:xfrm>
            <a:off x="685800" y="685800"/>
            <a:ext cx="1736570" cy="395448"/>
          </a:xfrm>
          <a:prstGeom prst="rect">
            <a:avLst/>
          </a:prstGeom>
        </p:spPr>
      </p:pic>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19090687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58278967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23526774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228850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940419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7837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1412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94625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65994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6628419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rgbClr val="E0F1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28206028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20000">
                <a:srgbClr val="002869"/>
              </a:gs>
              <a:gs pos="100000">
                <a:srgbClr val="0057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127069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38272909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11573963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dirty="0">
                <a:solidFill>
                  <a:srgbClr val="00002D"/>
                </a:solidFill>
                <a:latin typeface="+mj-lt"/>
              </a:rPr>
              <a:t>Don’t use this or any </a:t>
            </a:r>
            <a:br>
              <a:rPr lang="en-US" sz="9600" dirty="0">
                <a:solidFill>
                  <a:srgbClr val="00002D"/>
                </a:solidFill>
                <a:latin typeface="+mj-lt"/>
              </a:rPr>
            </a:br>
            <a:r>
              <a:rPr lang="en-US" sz="9600" dirty="0">
                <a:solidFill>
                  <a:srgbClr val="00002D"/>
                </a:solidFill>
                <a:latin typeface="+mj-lt"/>
              </a:rPr>
              <a:t>layouts after this.</a:t>
            </a:r>
            <a:endParaRPr lang="en-US" sz="4400" dirty="0">
              <a:solidFill>
                <a:srgbClr val="00002D"/>
              </a:solidFill>
              <a:latin typeface="+mj-lt"/>
            </a:endParaRPr>
          </a:p>
          <a:p>
            <a:pPr algn="ctr">
              <a:spcBef>
                <a:spcPts val="3600"/>
              </a:spcBef>
            </a:pPr>
            <a:r>
              <a:rPr lang="en-US" sz="6600" dirty="0">
                <a:solidFill>
                  <a:srgbClr val="00002D"/>
                </a:solidFill>
              </a:rPr>
              <a:t>Choose an appropriate </a:t>
            </a:r>
            <a:br>
              <a:rPr lang="en-US" sz="6600" dirty="0">
                <a:solidFill>
                  <a:srgbClr val="00002D"/>
                </a:solidFill>
              </a:rPr>
            </a:br>
            <a:r>
              <a:rPr lang="en-US" sz="6600" dirty="0">
                <a:solidFill>
                  <a:srgbClr val="00002D"/>
                </a:solidFill>
              </a:rPr>
              <a:t>layout from </a:t>
            </a:r>
            <a:br>
              <a:rPr lang="en-US" sz="6600" dirty="0">
                <a:solidFill>
                  <a:srgbClr val="00002D"/>
                </a:solidFill>
              </a:rPr>
            </a:br>
            <a:r>
              <a:rPr lang="en-US" sz="6600" b="1" dirty="0">
                <a:solidFill>
                  <a:srgbClr val="00002D"/>
                </a:solidFill>
              </a:rPr>
              <a:t>Home</a:t>
            </a:r>
            <a:r>
              <a:rPr lang="en-US" sz="6600" dirty="0">
                <a:solidFill>
                  <a:srgbClr val="00002D"/>
                </a:solidFill>
              </a:rPr>
              <a:t> &gt; </a:t>
            </a:r>
            <a:r>
              <a:rPr lang="en-US" sz="6600" b="1" dirty="0">
                <a:solidFill>
                  <a:srgbClr val="00002D"/>
                </a:solidFill>
              </a:rPr>
              <a:t>Layout gallery</a:t>
            </a:r>
            <a:r>
              <a:rPr lang="en-US" sz="6600" dirty="0">
                <a:solidFill>
                  <a:srgbClr val="00002D"/>
                </a:solidFill>
              </a:rPr>
              <a:t>.</a:t>
            </a:r>
          </a:p>
        </p:txBody>
      </p:sp>
      <p:sp>
        <p:nvSpPr>
          <p:cNvPr id="4" name="TextBox 3">
            <a:extLst>
              <a:ext uri="{FF2B5EF4-FFF2-40B4-BE49-F238E27FC236}">
                <a16:creationId xmlns:a16="http://schemas.microsoft.com/office/drawing/2014/main" id="{AA84E2C2-7CA7-DF36-F217-BE27B9E2B7F8}"/>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dirty="0">
                <a:solidFill>
                  <a:srgbClr val="00002D"/>
                </a:solidFill>
              </a:rPr>
              <a:t>When pasting legacy slides that doesn’t match any of the new layouts, PowerPoint adds it to the end of the layouts and prepends the layout name with a number (</a:t>
            </a:r>
            <a:r>
              <a:rPr lang="en-US" sz="1400" dirty="0" err="1">
                <a:solidFill>
                  <a:srgbClr val="00002D"/>
                </a:solidFill>
              </a:rPr>
              <a:t>1_Title</a:t>
            </a:r>
            <a:r>
              <a:rPr lang="en-US" sz="1400" dirty="0">
                <a:solidFill>
                  <a:srgbClr val="00002D"/>
                </a:solidFill>
              </a:rPr>
              <a:t> Slide, for example). </a:t>
            </a:r>
          </a:p>
          <a:p>
            <a:pPr algn="l">
              <a:spcBef>
                <a:spcPts val="600"/>
              </a:spcBef>
            </a:pPr>
            <a:r>
              <a:rPr lang="en-US" sz="1400" dirty="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49174129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9" cy="2185214"/>
          </a:xfrm>
          <a:prstGeom prst="bracketPair">
            <a:avLst>
              <a:gd name="adj" fmla="val 0"/>
            </a:avLst>
          </a:prstGeom>
          <a:ln w="1016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63771343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title" preserve="1">
  <p:cSld name="Title Slide 2">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17" b="217"/>
          <a:stretch/>
        </p:blipFill>
        <p:spPr>
          <a:xfrm>
            <a:off x="685800" y="685800"/>
            <a:ext cx="1736281" cy="395448"/>
          </a:xfrm>
          <a:prstGeom prst="rect">
            <a:avLst/>
          </a:prstGeom>
        </p:spPr>
      </p:pic>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81384685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297281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8004700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388660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91893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247733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822648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1A3E78"/>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66444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1561791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1A3E78"/>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2864953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Divider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83222878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0">
                <a:schemeClr val="accent2"/>
              </a:gs>
              <a:gs pos="80000">
                <a:schemeClr val="accent1"/>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806354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chemeClr val="accent2"/>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99034229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chemeClr val="accent2"/>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79109810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dirty="0">
                <a:solidFill>
                  <a:srgbClr val="00002D"/>
                </a:solidFill>
                <a:latin typeface="+mj-lt"/>
              </a:rPr>
              <a:t>Don’t use this or any </a:t>
            </a:r>
            <a:br>
              <a:rPr lang="en-US" sz="9600" dirty="0">
                <a:solidFill>
                  <a:srgbClr val="00002D"/>
                </a:solidFill>
                <a:latin typeface="+mj-lt"/>
              </a:rPr>
            </a:br>
            <a:r>
              <a:rPr lang="en-US" sz="9600" dirty="0">
                <a:solidFill>
                  <a:srgbClr val="00002D"/>
                </a:solidFill>
                <a:latin typeface="+mj-lt"/>
              </a:rPr>
              <a:t>layouts after this.</a:t>
            </a:r>
            <a:endParaRPr lang="en-US" sz="4400" dirty="0">
              <a:solidFill>
                <a:srgbClr val="00002D"/>
              </a:solidFill>
              <a:latin typeface="+mj-lt"/>
            </a:endParaRPr>
          </a:p>
          <a:p>
            <a:pPr algn="ctr">
              <a:spcBef>
                <a:spcPts val="3600"/>
              </a:spcBef>
            </a:pPr>
            <a:r>
              <a:rPr lang="en-US" sz="6600" dirty="0">
                <a:solidFill>
                  <a:srgbClr val="00002D"/>
                </a:solidFill>
              </a:rPr>
              <a:t>Choose an appropriate </a:t>
            </a:r>
            <a:br>
              <a:rPr lang="en-US" sz="6600" dirty="0">
                <a:solidFill>
                  <a:srgbClr val="00002D"/>
                </a:solidFill>
              </a:rPr>
            </a:br>
            <a:r>
              <a:rPr lang="en-US" sz="6600" dirty="0">
                <a:solidFill>
                  <a:srgbClr val="00002D"/>
                </a:solidFill>
              </a:rPr>
              <a:t>layout from </a:t>
            </a:r>
            <a:br>
              <a:rPr lang="en-US" sz="6600" dirty="0">
                <a:solidFill>
                  <a:srgbClr val="00002D"/>
                </a:solidFill>
              </a:rPr>
            </a:br>
            <a:r>
              <a:rPr lang="en-US" sz="6600" b="1" dirty="0">
                <a:solidFill>
                  <a:srgbClr val="00002D"/>
                </a:solidFill>
              </a:rPr>
              <a:t>Home</a:t>
            </a:r>
            <a:r>
              <a:rPr lang="en-US" sz="6600" dirty="0">
                <a:solidFill>
                  <a:srgbClr val="00002D"/>
                </a:solidFill>
              </a:rPr>
              <a:t> &gt; </a:t>
            </a:r>
            <a:r>
              <a:rPr lang="en-US" sz="6600" b="1" dirty="0">
                <a:solidFill>
                  <a:srgbClr val="00002D"/>
                </a:solidFill>
              </a:rPr>
              <a:t>Layout gallery</a:t>
            </a:r>
            <a:r>
              <a:rPr lang="en-US" sz="6600" dirty="0">
                <a:solidFill>
                  <a:srgbClr val="00002D"/>
                </a:solidFill>
              </a:rPr>
              <a:t>.</a:t>
            </a:r>
          </a:p>
        </p:txBody>
      </p:sp>
      <p:sp>
        <p:nvSpPr>
          <p:cNvPr id="2" name="TextBox 1">
            <a:extLst>
              <a:ext uri="{FF2B5EF4-FFF2-40B4-BE49-F238E27FC236}">
                <a16:creationId xmlns:a16="http://schemas.microsoft.com/office/drawing/2014/main" id="{EB11D6F1-48A0-B0B0-BC3C-5FC66330BED9}"/>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dirty="0">
                <a:solidFill>
                  <a:srgbClr val="00002D"/>
                </a:solidFill>
              </a:rPr>
              <a:t>When pasting legacy slides that doesn’t match any of the new layouts, PowerPoint adds it to the end of the layouts and prepends the layout name with a number (</a:t>
            </a:r>
            <a:r>
              <a:rPr lang="en-US" sz="1400" dirty="0" err="1">
                <a:solidFill>
                  <a:srgbClr val="00002D"/>
                </a:solidFill>
              </a:rPr>
              <a:t>1_Title</a:t>
            </a:r>
            <a:r>
              <a:rPr lang="en-US" sz="1400" dirty="0">
                <a:solidFill>
                  <a:srgbClr val="00002D"/>
                </a:solidFill>
              </a:rPr>
              <a:t> Slide, for example). </a:t>
            </a:r>
          </a:p>
          <a:p>
            <a:pPr algn="l">
              <a:spcBef>
                <a:spcPts val="600"/>
              </a:spcBef>
            </a:pPr>
            <a:r>
              <a:rPr lang="en-US" sz="1400" dirty="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13489323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9" cy="2185214"/>
          </a:xfrm>
          <a:prstGeom prst="bracketPair">
            <a:avLst>
              <a:gd name="adj" fmla="val 0"/>
            </a:avLst>
          </a:prstGeom>
          <a:ln w="1016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38740425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2">
    <p:bg>
      <p:bgPr>
        <a:solidFill>
          <a:srgbClr val="E0F1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26" b="226"/>
          <a:stretch/>
        </p:blipFill>
        <p:spPr>
          <a:xfrm>
            <a:off x="685800" y="685800"/>
            <a:ext cx="1736570" cy="395448"/>
          </a:xfrm>
          <a:prstGeom prst="rect">
            <a:avLst/>
          </a:prstGeom>
        </p:spPr>
      </p:pic>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279471984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p14:dur="10"/>
    </mc:Choice>
    <mc:Fallback xmlns="">
      <p:transition/>
    </mc:Fallback>
  </mc:AlternateContent>
  <p:extLst>
    <p:ext uri="{DCECCB84-F9BA-43D5-87BE-67443E8EF086}">
      <p15:sldGuideLst xmlns:p15="http://schemas.microsoft.com/office/powerpoint/2012/main">
        <p15:guide id="1" pos="86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6092032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416056772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052983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65310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2748787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000930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B8DE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5773325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5785441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B8DE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02339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rgbClr val="E0F1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69438963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0">
                <a:schemeClr val="accent2"/>
              </a:gs>
              <a:gs pos="80000">
                <a:schemeClr val="tx2"/>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RESTRICTED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0839892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421146462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65673665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dirty="0">
                <a:solidFill>
                  <a:srgbClr val="00002D"/>
                </a:solidFill>
                <a:latin typeface="+mj-lt"/>
              </a:rPr>
              <a:t>Don’t use this or any </a:t>
            </a:r>
            <a:br>
              <a:rPr lang="en-US" sz="9600" dirty="0">
                <a:solidFill>
                  <a:srgbClr val="00002D"/>
                </a:solidFill>
                <a:latin typeface="+mj-lt"/>
              </a:rPr>
            </a:br>
            <a:r>
              <a:rPr lang="en-US" sz="9600" dirty="0">
                <a:solidFill>
                  <a:srgbClr val="00002D"/>
                </a:solidFill>
                <a:latin typeface="+mj-lt"/>
              </a:rPr>
              <a:t>layouts after this.</a:t>
            </a:r>
            <a:endParaRPr lang="en-US" sz="4400" dirty="0">
              <a:solidFill>
                <a:srgbClr val="00002D"/>
              </a:solidFill>
              <a:latin typeface="+mj-lt"/>
            </a:endParaRPr>
          </a:p>
          <a:p>
            <a:pPr algn="ctr">
              <a:spcBef>
                <a:spcPts val="3600"/>
              </a:spcBef>
            </a:pPr>
            <a:r>
              <a:rPr lang="en-US" sz="6600" dirty="0">
                <a:solidFill>
                  <a:srgbClr val="00002D"/>
                </a:solidFill>
              </a:rPr>
              <a:t>Choose an appropriate </a:t>
            </a:r>
            <a:br>
              <a:rPr lang="en-US" sz="6600" dirty="0">
                <a:solidFill>
                  <a:srgbClr val="00002D"/>
                </a:solidFill>
              </a:rPr>
            </a:br>
            <a:r>
              <a:rPr lang="en-US" sz="6600" dirty="0">
                <a:solidFill>
                  <a:srgbClr val="00002D"/>
                </a:solidFill>
              </a:rPr>
              <a:t>layout from </a:t>
            </a:r>
            <a:br>
              <a:rPr lang="en-US" sz="6600" dirty="0">
                <a:solidFill>
                  <a:srgbClr val="00002D"/>
                </a:solidFill>
              </a:rPr>
            </a:br>
            <a:r>
              <a:rPr lang="en-US" sz="6600" b="1" dirty="0">
                <a:solidFill>
                  <a:srgbClr val="00002D"/>
                </a:solidFill>
              </a:rPr>
              <a:t>Home</a:t>
            </a:r>
            <a:r>
              <a:rPr lang="en-US" sz="6600" dirty="0">
                <a:solidFill>
                  <a:srgbClr val="00002D"/>
                </a:solidFill>
              </a:rPr>
              <a:t> &gt; </a:t>
            </a:r>
            <a:r>
              <a:rPr lang="en-US" sz="6600" b="1" dirty="0">
                <a:solidFill>
                  <a:srgbClr val="00002D"/>
                </a:solidFill>
              </a:rPr>
              <a:t>Layout gallery</a:t>
            </a:r>
            <a:r>
              <a:rPr lang="en-US" sz="6600" dirty="0">
                <a:solidFill>
                  <a:srgbClr val="00002D"/>
                </a:solidFill>
              </a:rPr>
              <a:t>.</a:t>
            </a:r>
          </a:p>
        </p:txBody>
      </p:sp>
      <p:sp>
        <p:nvSpPr>
          <p:cNvPr id="2" name="TextBox 1">
            <a:extLst>
              <a:ext uri="{FF2B5EF4-FFF2-40B4-BE49-F238E27FC236}">
                <a16:creationId xmlns:a16="http://schemas.microsoft.com/office/drawing/2014/main" id="{C79BCB47-00AD-DF01-2171-B288626052B6}"/>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dirty="0">
                <a:solidFill>
                  <a:srgbClr val="00002D"/>
                </a:solidFill>
              </a:rPr>
              <a:t>When pasting legacy slides that doesn’t match any of the new layouts, PowerPoint adds it to the end of the layouts and prepends the layout name with a number (</a:t>
            </a:r>
            <a:r>
              <a:rPr lang="en-US" sz="1400" dirty="0" err="1">
                <a:solidFill>
                  <a:srgbClr val="00002D"/>
                </a:solidFill>
              </a:rPr>
              <a:t>1_Title</a:t>
            </a:r>
            <a:r>
              <a:rPr lang="en-US" sz="1400" dirty="0">
                <a:solidFill>
                  <a:srgbClr val="00002D"/>
                </a:solidFill>
              </a:rPr>
              <a:t> Slide, for example). </a:t>
            </a:r>
          </a:p>
          <a:p>
            <a:pPr algn="l">
              <a:spcBef>
                <a:spcPts val="600"/>
              </a:spcBef>
            </a:pPr>
            <a:r>
              <a:rPr lang="en-US" sz="1400" dirty="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29959315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gradFill>
          <a:gsLst>
            <a:gs pos="20000">
              <a:schemeClr val="bg2"/>
            </a:gs>
            <a:gs pos="100000">
              <a:schemeClr val="accent2"/>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invGray">
          <a:xfrm>
            <a:off x="1371600" y="2149713"/>
            <a:ext cx="8426918" cy="2185214"/>
          </a:xfrm>
          <a:prstGeom prst="bracketPair">
            <a:avLst>
              <a:gd name="adj" fmla="val 0"/>
            </a:avLst>
          </a:prstGeom>
          <a:ln w="101600">
            <a:solidFill>
              <a:schemeClr val="accent3"/>
            </a:solidFill>
          </a:ln>
        </p:spPr>
        <p:txBody>
          <a:bodyPr wrap="square" lIns="228600" tIns="91440" rIns="182880" bIns="731520" anchor="t" anchorCtr="0">
            <a:spAutoFit/>
          </a:bodyPr>
          <a:lstStyle>
            <a:lvl1pPr algn="l">
              <a:defRPr sz="4400"/>
            </a:lvl1pPr>
          </a:lstStyle>
          <a:p>
            <a:r>
              <a:rPr lang="en-US"/>
              <a:t>Click to Add Title; 2 Lines of Copy; 60 Characters Maximum</a:t>
            </a:r>
          </a:p>
        </p:txBody>
      </p:sp>
      <p:sp>
        <p:nvSpPr>
          <p:cNvPr id="3" name="Subtitle 2"/>
          <p:cNvSpPr>
            <a:spLocks noGrp="1"/>
          </p:cNvSpPr>
          <p:nvPr>
            <p:ph type="subTitle" idx="1" hasCustomPrompt="1"/>
          </p:nvPr>
        </p:nvSpPr>
        <p:spPr>
          <a:xfrm>
            <a:off x="1371600" y="3851940"/>
            <a:ext cx="8426919" cy="276999"/>
          </a:xfrm>
        </p:spPr>
        <p:txBody>
          <a:bodyPr wrap="square"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b="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27" name="Picture 26">
            <a:extLst>
              <a:ext uri="{FF2B5EF4-FFF2-40B4-BE49-F238E27FC236}">
                <a16:creationId xmlns:a16="http://schemas.microsoft.com/office/drawing/2014/main" id="{E77AE7DB-FD48-4294-BD87-EA8DA4C9EC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685800"/>
            <a:ext cx="1737435" cy="395448"/>
          </a:xfrm>
          <a:prstGeom prst="rect">
            <a:avLst/>
          </a:prstGeom>
        </p:spPr>
      </p:pic>
    </p:spTree>
    <p:extLst>
      <p:ext uri="{BB962C8B-B14F-4D97-AF65-F5344CB8AC3E}">
        <p14:creationId xmlns:p14="http://schemas.microsoft.com/office/powerpoint/2010/main" val="192417084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extLst>
    <p:ext uri="{DCECCB84-F9BA-43D5-87BE-67443E8EF086}">
      <p15:sldGuideLst xmlns:p15="http://schemas.microsoft.com/office/powerpoint/2012/main">
        <p15:guide id="1" pos="864">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itle" preserve="1">
  <p:cSld name="Title Slide 2">
    <p:bg>
      <p:bgPr>
        <a:solidFill>
          <a:srgbClr val="E0F1FF"/>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bwMode="gray">
          <a:xfrm>
            <a:off x="1371600" y="2149713"/>
            <a:ext cx="8426919" cy="2185214"/>
          </a:xfrm>
          <a:prstGeom prst="bracketPair">
            <a:avLst>
              <a:gd name="adj" fmla="val 0"/>
            </a:avLst>
          </a:prstGeom>
          <a:ln w="114300">
            <a:solidFill>
              <a:schemeClr val="accent3"/>
            </a:solidFill>
          </a:ln>
        </p:spPr>
        <p:txBody>
          <a:bodyPr wrap="square" lIns="228600" tIns="91440" rIns="182880" bIns="731520" anchor="t" anchorCtr="0">
            <a:spAutoFit/>
          </a:bodyPr>
          <a:lstStyle>
            <a:lvl1pPr algn="l">
              <a:defRPr sz="4400"/>
            </a:lvl1pPr>
          </a:lstStyle>
          <a:p>
            <a:r>
              <a:rPr lang="en-US"/>
              <a:t>Click to Add Title; 2 Lines of Copy; 60 Characters Maximum</a:t>
            </a:r>
          </a:p>
        </p:txBody>
      </p:sp>
      <p:sp>
        <p:nvSpPr>
          <p:cNvPr id="14" name="TextBox 13">
            <a:extLst>
              <a:ext uri="{FF2B5EF4-FFF2-40B4-BE49-F238E27FC236}">
                <a16:creationId xmlns:a16="http://schemas.microsoft.com/office/drawing/2014/main" id="{BB93A754-CF98-4BEB-BE89-ADF1CF77AA4F}"/>
              </a:ext>
            </a:extLst>
          </p:cNvPr>
          <p:cNvSpPr txBox="1"/>
          <p:nvPr/>
        </p:nvSpPr>
        <p:spPr>
          <a:xfrm>
            <a:off x="685800" y="6199632"/>
            <a:ext cx="7095744" cy="323165"/>
          </a:xfrm>
          <a:prstGeom prst="rect">
            <a:avLst/>
          </a:prstGeom>
          <a:noFill/>
        </p:spPr>
        <p:txBody>
          <a:bodyPr wrap="square" lIns="0" tIns="0" rIns="0" bIns="0" rtlCol="0" anchor="b" anchorCtr="0">
            <a:spAutoFit/>
          </a:bodyPr>
          <a:lstStyle/>
          <a:p>
            <a:r>
              <a:rPr lang="en-US" sz="700"/>
              <a:t>© 2026 Gartner, Inc. and/or its affiliates. All rights reserved. Gartner is a registered trademark of Gartner, Inc. or its affiliates. This presentation, including all supporting materials, </a:t>
            </a:r>
            <a:br>
              <a:rPr lang="en-US" sz="700"/>
            </a:br>
            <a:r>
              <a:rPr lang="en-US" sz="700"/>
              <a:t>is proprietary to Gartner, Inc. and/or its affiliates and is for the sole internal use of the intended recipients. Because this presentation may contain information that is confidential, proprietary or otherwise legally protected, it may not be further copied, distributed or publicly displayed without the express written permission of Gartner, Inc. or its affiliates.</a:t>
            </a:r>
          </a:p>
        </p:txBody>
      </p:sp>
      <p:pic>
        <p:nvPicPr>
          <p:cNvPr id="8" name="Picture 7">
            <a:extLst>
              <a:ext uri="{FF2B5EF4-FFF2-40B4-BE49-F238E27FC236}">
                <a16:creationId xmlns:a16="http://schemas.microsoft.com/office/drawing/2014/main" id="{4B98EA9B-8D5B-4923-90F5-A4CDF4762E56}"/>
              </a:ext>
            </a:extLst>
          </p:cNvPr>
          <p:cNvPicPr>
            <a:picLocks noChangeAspect="1"/>
          </p:cNvPicPr>
          <p:nvPr userDrawn="1"/>
        </p:nvPicPr>
        <p:blipFill>
          <a:blip r:embed="rId2">
            <a:extLst>
              <a:ext uri="{28A0092B-C50C-407E-A947-70E740481C1C}">
                <a14:useLocalDpi xmlns:a14="http://schemas.microsoft.com/office/drawing/2010/main" val="0"/>
              </a:ext>
            </a:extLst>
          </a:blip>
          <a:srcRect t="226" b="226"/>
          <a:stretch/>
        </p:blipFill>
        <p:spPr>
          <a:xfrm>
            <a:off x="685800" y="685800"/>
            <a:ext cx="1736570" cy="395448"/>
          </a:xfrm>
          <a:prstGeom prst="rect">
            <a:avLst/>
          </a:prstGeom>
        </p:spPr>
      </p:pic>
      <p:sp>
        <p:nvSpPr>
          <p:cNvPr id="3" name="Subtitle 2"/>
          <p:cNvSpPr>
            <a:spLocks noGrp="1"/>
          </p:cNvSpPr>
          <p:nvPr>
            <p:ph type="subTitle" idx="1" hasCustomPrompt="1"/>
          </p:nvPr>
        </p:nvSpPr>
        <p:spPr>
          <a:xfrm>
            <a:off x="1371600" y="3851940"/>
            <a:ext cx="8426919" cy="276999"/>
          </a:xfrm>
        </p:spPr>
        <p:txBody>
          <a:bodyPr lIns="246888" rIns="182880">
            <a:spAutoFit/>
          </a:bodyPr>
          <a:lstStyle>
            <a:lvl1pPr marL="0" marR="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Presenter Name</a:t>
            </a:r>
          </a:p>
        </p:txBody>
      </p:sp>
    </p:spTree>
    <p:extLst>
      <p:ext uri="{BB962C8B-B14F-4D97-AF65-F5344CB8AC3E}">
        <p14:creationId xmlns:p14="http://schemas.microsoft.com/office/powerpoint/2010/main" val="3409629086"/>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10"/>
    </mc:Choice>
    <mc:Fallback>
      <p:transition/>
    </mc:Fallback>
  </mc:AlternateContent>
  <p:extLst>
    <p:ext uri="{DCECCB84-F9BA-43D5-87BE-67443E8EF086}">
      <p15:sldGuideLst xmlns:p15="http://schemas.microsoft.com/office/powerpoint/2012/main">
        <p15:guide id="1" pos="864">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07861261"/>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5DE8436-F632-4929-A0C4-8AB62F36165A}"/>
              </a:ext>
            </a:extLst>
          </p:cNvPr>
          <p:cNvSpPr>
            <a:spLocks noGrp="1"/>
          </p:cNvSpPr>
          <p:nvPr>
            <p:ph type="title" hasCustomPrompt="1"/>
          </p:nvPr>
        </p:nvSpPr>
        <p:spPr/>
        <p:txBody>
          <a:bodyPr/>
          <a:lstStyle/>
          <a:p>
            <a:r>
              <a:rPr lang="en-US"/>
              <a:t>Click to edit title</a:t>
            </a:r>
          </a:p>
        </p:txBody>
      </p:sp>
    </p:spTree>
    <p:extLst>
      <p:ext uri="{BB962C8B-B14F-4D97-AF65-F5344CB8AC3E}">
        <p14:creationId xmlns:p14="http://schemas.microsoft.com/office/powerpoint/2010/main" val="161487202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4EDECE2-F9F2-4351-A826-ACD78703CADF}"/>
              </a:ext>
            </a:extLst>
          </p:cNvPr>
          <p:cNvSpPr>
            <a:spLocks noGrp="1"/>
          </p:cNvSpPr>
          <p:nvPr>
            <p:ph type="title" hasCustomPrompt="1"/>
          </p:nvPr>
        </p:nvSpPr>
        <p:spPr/>
        <p:txBody>
          <a:bodyPr/>
          <a:lstStyle/>
          <a:p>
            <a:r>
              <a:rPr lang="en-US"/>
              <a:t>Click to edit title</a:t>
            </a:r>
          </a:p>
        </p:txBody>
      </p:sp>
      <p:sp>
        <p:nvSpPr>
          <p:cNvPr id="3" name="Content Placeholder 2"/>
          <p:cNvSpPr>
            <a:spLocks noGrp="1"/>
          </p:cNvSpPr>
          <p:nvPr>
            <p:ph idx="1" hasCustomPrompt="1"/>
          </p:nvPr>
        </p:nvSpPr>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537795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Two column graphics righ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6628899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6236208" y="1527048"/>
            <a:ext cx="5495544" cy="4462272"/>
          </a:xfrm>
        </p:spPr>
        <p:txBody>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295941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type="twoObj" preserve="1">
  <p:cSld name="Three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a:xfrm>
            <a:off x="457200"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4425696"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8394192" y="1527048"/>
            <a:ext cx="3337560"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6895169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type="twoObj" preserve="1">
  <p:cSld name="Three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4425696"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8394192" y="1527048"/>
            <a:ext cx="3337560" cy="4462272"/>
          </a:xfrm>
          <a:solidFill>
            <a:srgbClr val="E0F1FF"/>
          </a:solidFill>
        </p:spPr>
        <p:txBody>
          <a:bodyPr lIns="18288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0778861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type="twoObj" preserve="1">
  <p:cSld name="Four colum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a:xfrm>
            <a:off x="457200"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a:xfrm>
            <a:off x="3348482"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a:xfrm>
            <a:off x="6239764"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B226B5DF-DF35-419C-8251-4F81A740D77A}"/>
              </a:ext>
            </a:extLst>
          </p:cNvPr>
          <p:cNvSpPr>
            <a:spLocks noGrp="1"/>
          </p:cNvSpPr>
          <p:nvPr>
            <p:ph sz="half" idx="11" hasCustomPrompt="1"/>
          </p:nvPr>
        </p:nvSpPr>
        <p:spPr>
          <a:xfrm>
            <a:off x="9131046" y="1527048"/>
            <a:ext cx="2600706" cy="4462272"/>
          </a:xfrm>
        </p:spPr>
        <p:txBody>
          <a:bodyPr/>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9519846"/>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type="twoObj" preserve="1">
  <p:cSld name="Four column shade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7200" y="361950"/>
            <a:ext cx="11274552" cy="451231"/>
          </a:xfrm>
        </p:spPr>
        <p:txBody>
          <a:bodyPr/>
          <a:lstStyle/>
          <a:p>
            <a:r>
              <a:rPr lang="en-US"/>
              <a:t>Click to edit title</a:t>
            </a:r>
          </a:p>
        </p:txBody>
      </p:sp>
      <p:sp>
        <p:nvSpPr>
          <p:cNvPr id="3" name="Content Placeholder 2"/>
          <p:cNvSpPr>
            <a:spLocks noGrp="1"/>
          </p:cNvSpPr>
          <p:nvPr>
            <p:ph sz="half" idx="1" hasCustomPrompt="1"/>
          </p:nvPr>
        </p:nvSpPr>
        <p:spPr bwMode="ltGray">
          <a:xfrm>
            <a:off x="457200"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hasCustomPrompt="1"/>
          </p:nvPr>
        </p:nvSpPr>
        <p:spPr bwMode="ltGray">
          <a:xfrm>
            <a:off x="3348482"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6" name="Content Placeholder 3">
            <a:extLst>
              <a:ext uri="{FF2B5EF4-FFF2-40B4-BE49-F238E27FC236}">
                <a16:creationId xmlns:a16="http://schemas.microsoft.com/office/drawing/2014/main" id="{13ADFCF5-3DAD-4A00-B1EE-30FF7A1A1DC5}"/>
              </a:ext>
            </a:extLst>
          </p:cNvPr>
          <p:cNvSpPr>
            <a:spLocks noGrp="1"/>
          </p:cNvSpPr>
          <p:nvPr>
            <p:ph sz="half" idx="10" hasCustomPrompt="1"/>
          </p:nvPr>
        </p:nvSpPr>
        <p:spPr bwMode="ltGray">
          <a:xfrm>
            <a:off x="6239764"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7" name="Content Placeholder 3">
            <a:extLst>
              <a:ext uri="{FF2B5EF4-FFF2-40B4-BE49-F238E27FC236}">
                <a16:creationId xmlns:a16="http://schemas.microsoft.com/office/drawing/2014/main" id="{F44528D9-D4DF-4ABD-97AD-FCFEE24F7C53}"/>
              </a:ext>
            </a:extLst>
          </p:cNvPr>
          <p:cNvSpPr>
            <a:spLocks noGrp="1"/>
          </p:cNvSpPr>
          <p:nvPr>
            <p:ph sz="half" idx="11" hasCustomPrompt="1"/>
          </p:nvPr>
        </p:nvSpPr>
        <p:spPr bwMode="ltGray">
          <a:xfrm>
            <a:off x="9131046" y="1527048"/>
            <a:ext cx="2600706" cy="4462272"/>
          </a:xfrm>
          <a:solidFill>
            <a:srgbClr val="E0F1FF"/>
          </a:solidFill>
        </p:spPr>
        <p:txBody>
          <a:bodyPr lIns="91440" tIns="182880" rIns="91440" bIns="91440"/>
          <a:lstStyle>
            <a:lvl1pPr>
              <a:defRPr sz="2000"/>
            </a:lvl1pPr>
            <a:lvl2pPr>
              <a:defRPr sz="2000"/>
            </a:lvl2pPr>
            <a:lvl3pPr>
              <a:defRPr sz="2000"/>
            </a:lvl3pPr>
            <a:lvl4pPr>
              <a:defRPr sz="2000"/>
            </a:lvl4pPr>
            <a:lvl5pPr>
              <a:defRPr sz="2000"/>
            </a:lvl5p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69079282"/>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ivider Slide">
    <p:bg>
      <p:bgPr>
        <a:solidFill>
          <a:srgbClr val="E0F1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5BAA7-7402-7653-A21A-2C33B981B892}"/>
              </a:ext>
            </a:extLst>
          </p:cNvPr>
          <p:cNvSpPr>
            <a:spLocks noGrp="1"/>
          </p:cNvSpPr>
          <p:nvPr>
            <p:ph type="title" hasCustomPrompt="1"/>
          </p:nvPr>
        </p:nvSpPr>
        <p:spPr bwMode="gray">
          <a:xfrm>
            <a:off x="1365814" y="1590378"/>
            <a:ext cx="5408210" cy="2031326"/>
          </a:xfrm>
          <a:prstGeom prst="bracketPair">
            <a:avLst>
              <a:gd name="adj" fmla="val 0"/>
            </a:avLst>
          </a:prstGeom>
          <a:ln w="101600">
            <a:solidFill>
              <a:schemeClr val="accent3"/>
            </a:solidFill>
          </a:ln>
        </p:spPr>
        <p:txBody>
          <a:bodyPr wrap="square" lIns="228600" rIns="182880" anchor="ctr" anchorCtr="0">
            <a:spAutoFit/>
          </a:bodyPr>
          <a:lstStyle>
            <a:lvl1pPr>
              <a:defRPr sz="4400"/>
            </a:lvl1pPr>
          </a:lstStyle>
          <a:p>
            <a:r>
              <a:rPr lang="en-US"/>
              <a:t>Divider Slide</a:t>
            </a:r>
            <a:br>
              <a:rPr lang="en-US"/>
            </a:br>
            <a:r>
              <a:rPr lang="en-US"/>
              <a:t>30 Characters Max.</a:t>
            </a:r>
            <a:br>
              <a:rPr lang="en-US"/>
            </a:br>
            <a:r>
              <a:rPr lang="en-US"/>
              <a:t>Lorem Ipsum</a:t>
            </a:r>
          </a:p>
        </p:txBody>
      </p:sp>
    </p:spTree>
    <p:extLst>
      <p:ext uri="{BB962C8B-B14F-4D97-AF65-F5344CB8AC3E}">
        <p14:creationId xmlns:p14="http://schemas.microsoft.com/office/powerpoint/2010/main" val="163948458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Left Rail">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1F3F689-0EFE-267D-1F38-8A7BB7CF62AF}"/>
              </a:ext>
            </a:extLst>
          </p:cNvPr>
          <p:cNvSpPr/>
          <p:nvPr userDrawn="1"/>
        </p:nvSpPr>
        <p:spPr bwMode="invGray">
          <a:xfrm>
            <a:off x="-1" y="0"/>
            <a:ext cx="4050792" cy="6858000"/>
          </a:xfrm>
          <a:prstGeom prst="rect">
            <a:avLst/>
          </a:prstGeom>
          <a:gradFill>
            <a:gsLst>
              <a:gs pos="20000">
                <a:srgbClr val="002869"/>
              </a:gs>
              <a:gs pos="100000">
                <a:srgbClr val="0057AF"/>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solidFill>
            </a:endParaRPr>
          </a:p>
        </p:txBody>
      </p:sp>
      <p:sp>
        <p:nvSpPr>
          <p:cNvPr id="2" name="Title 1">
            <a:extLst>
              <a:ext uri="{FF2B5EF4-FFF2-40B4-BE49-F238E27FC236}">
                <a16:creationId xmlns:a16="http://schemas.microsoft.com/office/drawing/2014/main" id="{D9D03778-9F51-35F8-9B55-7FB58E49C224}"/>
              </a:ext>
            </a:extLst>
          </p:cNvPr>
          <p:cNvSpPr>
            <a:spLocks noGrp="1"/>
          </p:cNvSpPr>
          <p:nvPr>
            <p:ph type="title"/>
          </p:nvPr>
        </p:nvSpPr>
        <p:spPr>
          <a:xfrm>
            <a:off x="457200" y="361950"/>
            <a:ext cx="3114675" cy="2051312"/>
          </a:xfrm>
        </p:spPr>
        <p:txBody>
          <a:bodyPr/>
          <a:lstStyle>
            <a:lvl1pPr>
              <a:defRPr>
                <a:solidFill>
                  <a:srgbClr val="FFFFFF"/>
                </a:solidFill>
              </a:defRPr>
            </a:lvl1pPr>
          </a:lstStyle>
          <a:p>
            <a:r>
              <a:rPr lang="en-US"/>
              <a:t>Click to edit Master title style</a:t>
            </a:r>
          </a:p>
        </p:txBody>
      </p:sp>
      <p:sp>
        <p:nvSpPr>
          <p:cNvPr id="4" name="TextBox 3">
            <a:extLst>
              <a:ext uri="{FF2B5EF4-FFF2-40B4-BE49-F238E27FC236}">
                <a16:creationId xmlns:a16="http://schemas.microsoft.com/office/drawing/2014/main" id="{64B9B515-6C0A-2DCC-BDD9-2AEDE0D6D5DB}"/>
              </a:ext>
            </a:extLst>
          </p:cNvPr>
          <p:cNvSpPr txBox="1"/>
          <p:nvPr userDrawn="1"/>
        </p:nvSpPr>
        <p:spPr>
          <a:xfrm>
            <a:off x="457200" y="6393216"/>
            <a:ext cx="3566160"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rgbClr val="FFFFFF"/>
                </a:solidFill>
              </a:rPr>
              <a:t>‹#›</a:t>
            </a:fld>
            <a:r>
              <a:rPr lang="en-US" sz="700" b="0">
                <a:solidFill>
                  <a:srgbClr val="FFFFFF"/>
                </a:solidFill>
              </a:rPr>
              <a:t>	INTERNAL © 2026 Gartner, Inc. and/or its affiliates. All rights reserved.</a:t>
            </a:r>
          </a:p>
        </p:txBody>
      </p:sp>
      <p:sp>
        <p:nvSpPr>
          <p:cNvPr id="6" name="Content Placeholder 5">
            <a:extLst>
              <a:ext uri="{FF2B5EF4-FFF2-40B4-BE49-F238E27FC236}">
                <a16:creationId xmlns:a16="http://schemas.microsoft.com/office/drawing/2014/main" id="{D3AB07D3-66B0-EF24-E15D-D61DB03311CA}"/>
              </a:ext>
            </a:extLst>
          </p:cNvPr>
          <p:cNvSpPr>
            <a:spLocks noGrp="1"/>
          </p:cNvSpPr>
          <p:nvPr>
            <p:ph sz="quarter" idx="10"/>
          </p:nvPr>
        </p:nvSpPr>
        <p:spPr>
          <a:xfrm>
            <a:off x="4478482" y="1346200"/>
            <a:ext cx="7256318" cy="45040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94401638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1C83FFE-85A9-5C0D-5033-94BE254D3694}"/>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2" name="Title 1">
            <a:extLst>
              <a:ext uri="{FF2B5EF4-FFF2-40B4-BE49-F238E27FC236}">
                <a16:creationId xmlns:a16="http://schemas.microsoft.com/office/drawing/2014/main" id="{8B478971-A225-4A64-8E00-AA9C8577611D}"/>
              </a:ext>
            </a:extLst>
          </p:cNvPr>
          <p:cNvSpPr>
            <a:spLocks noGrp="1"/>
          </p:cNvSpPr>
          <p:nvPr>
            <p:ph type="title" hasCustomPrompt="1"/>
          </p:nvPr>
        </p:nvSpPr>
        <p:spPr>
          <a:xfrm>
            <a:off x="773056" y="1009268"/>
            <a:ext cx="5718415" cy="4476115"/>
          </a:xfrm>
        </p:spPr>
        <p:txBody>
          <a:bodyPr anchor="ctr" anchorCtr="0"/>
          <a:lstStyle>
            <a:lvl1pPr marL="0" indent="0">
              <a:lnSpc>
                <a:spcPct val="100000"/>
              </a:lnSpc>
              <a:defRPr sz="2800">
                <a:latin typeface="+mj-lt"/>
              </a:defRPr>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a:t>
            </a:r>
          </a:p>
        </p:txBody>
      </p:sp>
      <p:sp>
        <p:nvSpPr>
          <p:cNvPr id="3" name="Text Placeholder 2">
            <a:extLst>
              <a:ext uri="{FF2B5EF4-FFF2-40B4-BE49-F238E27FC236}">
                <a16:creationId xmlns:a16="http://schemas.microsoft.com/office/drawing/2014/main" id="{44D4D588-53FA-4557-81C5-0FF86A2FBBA3}"/>
              </a:ext>
            </a:extLst>
          </p:cNvPr>
          <p:cNvSpPr>
            <a:spLocks noGrp="1"/>
          </p:cNvSpPr>
          <p:nvPr>
            <p:ph type="body" idx="1" hasCustomPrompt="1"/>
          </p:nvPr>
        </p:nvSpPr>
        <p:spPr>
          <a:xfrm>
            <a:off x="773056" y="5641514"/>
            <a:ext cx="5718415"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
        <p:nvSpPr>
          <p:cNvPr id="10" name="Picture Placeholder 9">
            <a:extLst>
              <a:ext uri="{FF2B5EF4-FFF2-40B4-BE49-F238E27FC236}">
                <a16:creationId xmlns:a16="http://schemas.microsoft.com/office/drawing/2014/main" id="{D2E7EA53-F4D0-483C-9798-E23D7CCB2A12}"/>
              </a:ext>
            </a:extLst>
          </p:cNvPr>
          <p:cNvSpPr>
            <a:spLocks noGrp="1"/>
          </p:cNvSpPr>
          <p:nvPr>
            <p:ph type="pic" sz="quarter" idx="10"/>
          </p:nvPr>
        </p:nvSpPr>
        <p:spPr>
          <a:xfrm>
            <a:off x="7043928" y="1346199"/>
            <a:ext cx="4690872" cy="4297680"/>
          </a:xfrm>
        </p:spPr>
        <p:txBody>
          <a:bodyPr/>
          <a:lstStyle>
            <a:lvl1pPr marL="0" indent="0">
              <a:buNone/>
              <a:defRPr/>
            </a:lvl1pPr>
          </a:lstStyle>
          <a:p>
            <a:r>
              <a:rPr lang="en-US"/>
              <a:t>Click icon to add picture</a:t>
            </a:r>
          </a:p>
        </p:txBody>
      </p:sp>
    </p:spTree>
    <p:extLst>
      <p:ext uri="{BB962C8B-B14F-4D97-AF65-F5344CB8AC3E}">
        <p14:creationId xmlns:p14="http://schemas.microsoft.com/office/powerpoint/2010/main" val="7796058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BC41137-E6C9-A053-8403-388C27EB8CE1}"/>
              </a:ext>
            </a:extLst>
          </p:cNvPr>
          <p:cNvSpPr txBox="1"/>
          <p:nvPr userDrawn="1"/>
        </p:nvSpPr>
        <p:spPr bwMode="ltGray">
          <a:xfrm>
            <a:off x="457200" y="1401620"/>
            <a:ext cx="1425191" cy="1121270"/>
          </a:xfrm>
          <a:custGeom>
            <a:avLst/>
            <a:gdLst/>
            <a:ahLst/>
            <a:cxnLst/>
            <a:rect l="l" t="t" r="r" b="b"/>
            <a:pathLst>
              <a:path w="611876" h="481394">
                <a:moveTo>
                  <a:pt x="561203" y="0"/>
                </a:moveTo>
                <a:lnTo>
                  <a:pt x="611876" y="100080"/>
                </a:lnTo>
                <a:cubicBezTo>
                  <a:pt x="564581" y="124572"/>
                  <a:pt x="531433" y="149697"/>
                  <a:pt x="512430" y="175456"/>
                </a:cubicBezTo>
                <a:cubicBezTo>
                  <a:pt x="502929" y="188335"/>
                  <a:pt x="495803" y="202429"/>
                  <a:pt x="491053" y="217736"/>
                </a:cubicBezTo>
                <a:lnTo>
                  <a:pt x="489521" y="224578"/>
                </a:lnTo>
                <a:lnTo>
                  <a:pt x="492794" y="224228"/>
                </a:lnTo>
                <a:cubicBezTo>
                  <a:pt x="525732" y="224228"/>
                  <a:pt x="553813" y="236474"/>
                  <a:pt x="577038" y="260966"/>
                </a:cubicBezTo>
                <a:cubicBezTo>
                  <a:pt x="600263" y="285458"/>
                  <a:pt x="611876" y="315440"/>
                  <a:pt x="611876" y="350911"/>
                </a:cubicBezTo>
                <a:cubicBezTo>
                  <a:pt x="611876" y="387227"/>
                  <a:pt x="599841" y="418053"/>
                  <a:pt x="575772" y="443389"/>
                </a:cubicBezTo>
                <a:cubicBezTo>
                  <a:pt x="551702" y="468726"/>
                  <a:pt x="521509" y="481394"/>
                  <a:pt x="485194" y="481394"/>
                </a:cubicBezTo>
                <a:cubicBezTo>
                  <a:pt x="441277" y="481394"/>
                  <a:pt x="404328" y="464925"/>
                  <a:pt x="374346" y="431988"/>
                </a:cubicBezTo>
                <a:cubicBezTo>
                  <a:pt x="344365" y="399050"/>
                  <a:pt x="329374" y="355556"/>
                  <a:pt x="329374" y="301505"/>
                </a:cubicBezTo>
                <a:cubicBezTo>
                  <a:pt x="329374" y="230563"/>
                  <a:pt x="350699" y="169122"/>
                  <a:pt x="393349" y="117182"/>
                </a:cubicBezTo>
                <a:cubicBezTo>
                  <a:pt x="435998" y="65242"/>
                  <a:pt x="491950" y="26181"/>
                  <a:pt x="561203" y="0"/>
                </a:cubicBezTo>
                <a:close/>
                <a:moveTo>
                  <a:pt x="231829" y="0"/>
                </a:moveTo>
                <a:lnTo>
                  <a:pt x="282502" y="100080"/>
                </a:lnTo>
                <a:cubicBezTo>
                  <a:pt x="235207" y="124572"/>
                  <a:pt x="202058" y="149697"/>
                  <a:pt x="183056" y="175456"/>
                </a:cubicBezTo>
                <a:cubicBezTo>
                  <a:pt x="173555" y="188335"/>
                  <a:pt x="166429" y="202429"/>
                  <a:pt x="161678" y="217736"/>
                </a:cubicBezTo>
                <a:lnTo>
                  <a:pt x="160146" y="224578"/>
                </a:lnTo>
                <a:lnTo>
                  <a:pt x="163420" y="224228"/>
                </a:lnTo>
                <a:cubicBezTo>
                  <a:pt x="196357" y="224228"/>
                  <a:pt x="224439" y="236474"/>
                  <a:pt x="247664" y="260966"/>
                </a:cubicBezTo>
                <a:cubicBezTo>
                  <a:pt x="270889" y="285458"/>
                  <a:pt x="282501" y="315440"/>
                  <a:pt x="282502" y="350911"/>
                </a:cubicBezTo>
                <a:cubicBezTo>
                  <a:pt x="282501" y="387227"/>
                  <a:pt x="270467" y="418053"/>
                  <a:pt x="246397" y="443389"/>
                </a:cubicBezTo>
                <a:cubicBezTo>
                  <a:pt x="222327" y="468726"/>
                  <a:pt x="192135" y="481394"/>
                  <a:pt x="155819" y="481394"/>
                </a:cubicBezTo>
                <a:cubicBezTo>
                  <a:pt x="111902" y="481394"/>
                  <a:pt x="74953" y="464925"/>
                  <a:pt x="44972" y="431988"/>
                </a:cubicBezTo>
                <a:cubicBezTo>
                  <a:pt x="14990" y="399050"/>
                  <a:pt x="0" y="355556"/>
                  <a:pt x="0" y="301505"/>
                </a:cubicBezTo>
                <a:cubicBezTo>
                  <a:pt x="0" y="230563"/>
                  <a:pt x="21324" y="169122"/>
                  <a:pt x="63974" y="117182"/>
                </a:cubicBezTo>
                <a:cubicBezTo>
                  <a:pt x="106624" y="65242"/>
                  <a:pt x="162575" y="26181"/>
                  <a:pt x="231829" y="0"/>
                </a:cubicBezTo>
                <a:close/>
              </a:path>
            </a:pathLst>
          </a:custGeom>
          <a:noFill/>
          <a:ln w="25400">
            <a:solidFill>
              <a:srgbClr val="B8DEFF"/>
            </a:solidFill>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spcBef>
                <a:spcPts val="600"/>
              </a:spcBef>
            </a:pPr>
            <a:endParaRPr lang="en-US" sz="10000" b="1" i="0">
              <a:latin typeface="+mn-lt"/>
            </a:endParaRPr>
          </a:p>
        </p:txBody>
      </p:sp>
      <p:sp>
        <p:nvSpPr>
          <p:cNvPr id="6" name="Title 1">
            <a:extLst>
              <a:ext uri="{FF2B5EF4-FFF2-40B4-BE49-F238E27FC236}">
                <a16:creationId xmlns:a16="http://schemas.microsoft.com/office/drawing/2014/main" id="{A5204F30-1AF4-524D-A3DC-8D6F9529A61E}"/>
              </a:ext>
            </a:extLst>
          </p:cNvPr>
          <p:cNvSpPr>
            <a:spLocks noGrp="1"/>
          </p:cNvSpPr>
          <p:nvPr>
            <p:ph type="title" hasCustomPrompt="1"/>
          </p:nvPr>
        </p:nvSpPr>
        <p:spPr>
          <a:xfrm>
            <a:off x="773054" y="995363"/>
            <a:ext cx="8086466" cy="4460875"/>
          </a:xfrm>
        </p:spPr>
        <p:txBody>
          <a:bodyPr anchor="ctr" anchorCtr="0"/>
          <a:lstStyle>
            <a:lvl1pPr marL="0" indent="0">
              <a:lnSpc>
                <a:spcPct val="100000"/>
              </a:lnSpc>
              <a:defRPr sz="2800"/>
            </a:lvl1pPr>
          </a:lstStyle>
          <a:p>
            <a:r>
              <a:rPr lang="en-US"/>
              <a:t>Quote placeholder Lorem ipsum dolor sit </a:t>
            </a:r>
            <a:r>
              <a:rPr lang="en-US" err="1"/>
              <a:t>amet</a:t>
            </a:r>
            <a:r>
              <a:rPr lang="en-US"/>
              <a:t>, </a:t>
            </a:r>
            <a:r>
              <a:rPr lang="en-US" err="1"/>
              <a:t>conse</a:t>
            </a:r>
            <a:r>
              <a:rPr lang="en-US"/>
              <a:t> </a:t>
            </a:r>
            <a:r>
              <a:rPr lang="en-US" err="1"/>
              <a:t>ctet</a:t>
            </a:r>
            <a:r>
              <a:rPr lang="en-US"/>
              <a:t> </a:t>
            </a:r>
            <a:r>
              <a:rPr lang="en-US" err="1"/>
              <a:t>ur</a:t>
            </a:r>
            <a:r>
              <a:rPr lang="en-US"/>
              <a:t> </a:t>
            </a:r>
            <a:r>
              <a:rPr lang="en-US" err="1"/>
              <a:t>adip</a:t>
            </a:r>
            <a:r>
              <a:rPr lang="en-US"/>
              <a:t> </a:t>
            </a:r>
            <a:r>
              <a:rPr lang="en-US" err="1"/>
              <a:t>iscing</a:t>
            </a:r>
            <a:r>
              <a:rPr lang="en-US"/>
              <a:t> </a:t>
            </a:r>
            <a:r>
              <a:rPr lang="en-US" err="1"/>
              <a:t>elit</a:t>
            </a:r>
            <a:r>
              <a:rPr lang="en-US"/>
              <a:t>. Mauris </a:t>
            </a:r>
            <a:r>
              <a:rPr lang="en-US" err="1"/>
              <a:t>accum</a:t>
            </a:r>
            <a:r>
              <a:rPr lang="en-US"/>
              <a:t> </a:t>
            </a:r>
            <a:r>
              <a:rPr lang="en-US" err="1"/>
              <a:t>san</a:t>
            </a:r>
            <a:r>
              <a:rPr lang="en-US"/>
              <a:t> </a:t>
            </a:r>
            <a:r>
              <a:rPr lang="en-US" err="1"/>
              <a:t>urna</a:t>
            </a:r>
            <a:r>
              <a:rPr lang="en-US"/>
              <a:t>. Sus </a:t>
            </a:r>
            <a:r>
              <a:rPr lang="en-US" err="1"/>
              <a:t>pendisse</a:t>
            </a:r>
            <a:r>
              <a:rPr lang="en-US"/>
              <a:t> </a:t>
            </a:r>
            <a:r>
              <a:rPr lang="en-US" err="1"/>
              <a:t>sem</a:t>
            </a:r>
            <a:r>
              <a:rPr lang="en-US"/>
              <a:t> per semper </a:t>
            </a:r>
            <a:r>
              <a:rPr lang="en-US" err="1"/>
              <a:t>commodo</a:t>
            </a:r>
            <a:r>
              <a:rPr lang="en-US"/>
              <a:t> lorem.”</a:t>
            </a:r>
          </a:p>
        </p:txBody>
      </p:sp>
      <p:sp>
        <p:nvSpPr>
          <p:cNvPr id="7" name="Text Placeholder 2">
            <a:extLst>
              <a:ext uri="{FF2B5EF4-FFF2-40B4-BE49-F238E27FC236}">
                <a16:creationId xmlns:a16="http://schemas.microsoft.com/office/drawing/2014/main" id="{D53A335E-67E2-3E4F-88F7-0D3EB5BAE73D}"/>
              </a:ext>
            </a:extLst>
          </p:cNvPr>
          <p:cNvSpPr>
            <a:spLocks noGrp="1"/>
          </p:cNvSpPr>
          <p:nvPr>
            <p:ph type="body" idx="1" hasCustomPrompt="1"/>
          </p:nvPr>
        </p:nvSpPr>
        <p:spPr>
          <a:xfrm>
            <a:off x="773056" y="5641514"/>
            <a:ext cx="8086463" cy="347472"/>
          </a:xfrm>
        </p:spPr>
        <p:txBody>
          <a:bodyPr/>
          <a:lstStyle>
            <a:lvl1pPr marL="0" indent="0">
              <a:buNone/>
              <a:defRPr sz="16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add attribution</a:t>
            </a:r>
          </a:p>
        </p:txBody>
      </p:sp>
    </p:spTree>
    <p:extLst>
      <p:ext uri="{BB962C8B-B14F-4D97-AF65-F5344CB8AC3E}">
        <p14:creationId xmlns:p14="http://schemas.microsoft.com/office/powerpoint/2010/main" val="3560228844"/>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END">
    <p:bg>
      <p:bgPr>
        <a:solidFill>
          <a:srgbClr val="FFFF00"/>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65764A-9DB5-E0B9-2854-737204071442}"/>
              </a:ext>
            </a:extLst>
          </p:cNvPr>
          <p:cNvSpPr txBox="1"/>
          <p:nvPr userDrawn="1"/>
        </p:nvSpPr>
        <p:spPr>
          <a:xfrm>
            <a:off x="208972" y="189623"/>
            <a:ext cx="11774056" cy="6555641"/>
          </a:xfrm>
          <a:prstGeom prst="rect">
            <a:avLst/>
          </a:prstGeom>
          <a:noFill/>
        </p:spPr>
        <p:txBody>
          <a:bodyPr wrap="none" lIns="0" rIns="0" rtlCol="0">
            <a:spAutoFit/>
          </a:bodyPr>
          <a:lstStyle/>
          <a:p>
            <a:pPr algn="ctr">
              <a:spcBef>
                <a:spcPts val="600"/>
              </a:spcBef>
            </a:pPr>
            <a:r>
              <a:rPr lang="en-US" sz="9600">
                <a:solidFill>
                  <a:srgbClr val="00002D"/>
                </a:solidFill>
                <a:latin typeface="+mj-lt"/>
              </a:rPr>
              <a:t>Don’t use this or any </a:t>
            </a:r>
            <a:br>
              <a:rPr lang="en-US" sz="9600">
                <a:solidFill>
                  <a:srgbClr val="00002D"/>
                </a:solidFill>
                <a:latin typeface="+mj-lt"/>
              </a:rPr>
            </a:br>
            <a:r>
              <a:rPr lang="en-US" sz="9600">
                <a:solidFill>
                  <a:srgbClr val="00002D"/>
                </a:solidFill>
                <a:latin typeface="+mj-lt"/>
              </a:rPr>
              <a:t>layouts after this.</a:t>
            </a:r>
            <a:endParaRPr lang="en-US" sz="4400">
              <a:solidFill>
                <a:srgbClr val="00002D"/>
              </a:solidFill>
              <a:latin typeface="+mj-lt"/>
            </a:endParaRPr>
          </a:p>
          <a:p>
            <a:pPr algn="ctr">
              <a:spcBef>
                <a:spcPts val="3600"/>
              </a:spcBef>
            </a:pPr>
            <a:r>
              <a:rPr lang="en-US" sz="6600">
                <a:solidFill>
                  <a:srgbClr val="00002D"/>
                </a:solidFill>
              </a:rPr>
              <a:t>Choose an appropriate </a:t>
            </a:r>
            <a:br>
              <a:rPr lang="en-US" sz="6600">
                <a:solidFill>
                  <a:srgbClr val="00002D"/>
                </a:solidFill>
              </a:rPr>
            </a:br>
            <a:r>
              <a:rPr lang="en-US" sz="6600">
                <a:solidFill>
                  <a:srgbClr val="00002D"/>
                </a:solidFill>
              </a:rPr>
              <a:t>layout from </a:t>
            </a:r>
            <a:br>
              <a:rPr lang="en-US" sz="6600">
                <a:solidFill>
                  <a:srgbClr val="00002D"/>
                </a:solidFill>
              </a:rPr>
            </a:br>
            <a:r>
              <a:rPr lang="en-US" sz="6600" b="1">
                <a:solidFill>
                  <a:srgbClr val="00002D"/>
                </a:solidFill>
              </a:rPr>
              <a:t>Home</a:t>
            </a:r>
            <a:r>
              <a:rPr lang="en-US" sz="6600">
                <a:solidFill>
                  <a:srgbClr val="00002D"/>
                </a:solidFill>
              </a:rPr>
              <a:t> &gt; </a:t>
            </a:r>
            <a:r>
              <a:rPr lang="en-US" sz="6600" b="1">
                <a:solidFill>
                  <a:srgbClr val="00002D"/>
                </a:solidFill>
              </a:rPr>
              <a:t>Layout gallery</a:t>
            </a:r>
            <a:r>
              <a:rPr lang="en-US" sz="6600">
                <a:solidFill>
                  <a:srgbClr val="00002D"/>
                </a:solidFill>
              </a:rPr>
              <a:t>.</a:t>
            </a:r>
          </a:p>
        </p:txBody>
      </p:sp>
      <p:sp>
        <p:nvSpPr>
          <p:cNvPr id="4" name="TextBox 3">
            <a:extLst>
              <a:ext uri="{FF2B5EF4-FFF2-40B4-BE49-F238E27FC236}">
                <a16:creationId xmlns:a16="http://schemas.microsoft.com/office/drawing/2014/main" id="{AA84E2C2-7CA7-DF36-F217-BE27B9E2B7F8}"/>
              </a:ext>
            </a:extLst>
          </p:cNvPr>
          <p:cNvSpPr txBox="1"/>
          <p:nvPr userDrawn="1"/>
        </p:nvSpPr>
        <p:spPr>
          <a:xfrm>
            <a:off x="12346930" y="835909"/>
            <a:ext cx="2668480" cy="2539157"/>
          </a:xfrm>
          <a:prstGeom prst="rect">
            <a:avLst/>
          </a:prstGeom>
          <a:noFill/>
          <a:ln>
            <a:solidFill>
              <a:srgbClr val="707996"/>
            </a:solidFill>
          </a:ln>
        </p:spPr>
        <p:txBody>
          <a:bodyPr wrap="square" lIns="91440" rIns="91440" rtlCol="0">
            <a:spAutoFit/>
          </a:bodyPr>
          <a:lstStyle/>
          <a:p>
            <a:pPr algn="l">
              <a:spcBef>
                <a:spcPts val="600"/>
              </a:spcBef>
            </a:pPr>
            <a:r>
              <a:rPr lang="en-US" sz="1400">
                <a:solidFill>
                  <a:srgbClr val="00002D"/>
                </a:solidFill>
              </a:rPr>
              <a:t>When pasting legacy slides that doesn’t match any of the new layouts, PowerPoint adds it to the end of the layouts and prepends the layout name with a number (</a:t>
            </a:r>
            <a:r>
              <a:rPr lang="en-US" sz="1400" err="1">
                <a:solidFill>
                  <a:srgbClr val="00002D"/>
                </a:solidFill>
              </a:rPr>
              <a:t>1_Title</a:t>
            </a:r>
            <a:r>
              <a:rPr lang="en-US" sz="1400">
                <a:solidFill>
                  <a:srgbClr val="00002D"/>
                </a:solidFill>
              </a:rPr>
              <a:t> Slide, for example). </a:t>
            </a:r>
          </a:p>
          <a:p>
            <a:pPr algn="l">
              <a:spcBef>
                <a:spcPts val="600"/>
              </a:spcBef>
            </a:pPr>
            <a:r>
              <a:rPr lang="en-US" sz="1400">
                <a:solidFill>
                  <a:srgbClr val="00002D"/>
                </a:solidFill>
              </a:rPr>
              <a:t>These “orphaned” layouts should not be used, instead choose from the layouts preceding this one. </a:t>
            </a:r>
          </a:p>
        </p:txBody>
      </p:sp>
    </p:spTree>
    <p:extLst>
      <p:ext uri="{BB962C8B-B14F-4D97-AF65-F5344CB8AC3E}">
        <p14:creationId xmlns:p14="http://schemas.microsoft.com/office/powerpoint/2010/main" val="1981023460"/>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slideLayout" Target="../slideLayouts/slideLayout29.xml"/><Relationship Id="rId18" Type="http://schemas.openxmlformats.org/officeDocument/2006/relationships/image" Target="../media/image3.png"/><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17" Type="http://schemas.openxmlformats.org/officeDocument/2006/relationships/theme" Target="../theme/theme2.xml"/><Relationship Id="rId2" Type="http://schemas.openxmlformats.org/officeDocument/2006/relationships/slideLayout" Target="../slideLayouts/slideLayout18.xml"/><Relationship Id="rId16" Type="http://schemas.openxmlformats.org/officeDocument/2006/relationships/slideLayout" Target="../slideLayouts/slideLayout32.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5" Type="http://schemas.openxmlformats.org/officeDocument/2006/relationships/slideLayout" Target="../slideLayouts/slideLayout3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 Id="rId14" Type="http://schemas.openxmlformats.org/officeDocument/2006/relationships/slideLayout" Target="../slideLayouts/slideLayout3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0.xml"/><Relationship Id="rId13" Type="http://schemas.openxmlformats.org/officeDocument/2006/relationships/slideLayout" Target="../slideLayouts/slideLayout45.xml"/><Relationship Id="rId18" Type="http://schemas.openxmlformats.org/officeDocument/2006/relationships/image" Target="../media/image1.png"/><Relationship Id="rId3" Type="http://schemas.openxmlformats.org/officeDocument/2006/relationships/slideLayout" Target="../slideLayouts/slideLayout35.xml"/><Relationship Id="rId7" Type="http://schemas.openxmlformats.org/officeDocument/2006/relationships/slideLayout" Target="../slideLayouts/slideLayout39.xml"/><Relationship Id="rId12" Type="http://schemas.openxmlformats.org/officeDocument/2006/relationships/slideLayout" Target="../slideLayouts/slideLayout44.xml"/><Relationship Id="rId17" Type="http://schemas.openxmlformats.org/officeDocument/2006/relationships/theme" Target="../theme/theme3.xml"/><Relationship Id="rId2" Type="http://schemas.openxmlformats.org/officeDocument/2006/relationships/slideLayout" Target="../slideLayouts/slideLayout34.xml"/><Relationship Id="rId16" Type="http://schemas.openxmlformats.org/officeDocument/2006/relationships/slideLayout" Target="../slideLayouts/slideLayout48.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1" Type="http://schemas.openxmlformats.org/officeDocument/2006/relationships/slideLayout" Target="../slideLayouts/slideLayout43.xml"/><Relationship Id="rId5" Type="http://schemas.openxmlformats.org/officeDocument/2006/relationships/slideLayout" Target="../slideLayouts/slideLayout37.xml"/><Relationship Id="rId15" Type="http://schemas.openxmlformats.org/officeDocument/2006/relationships/slideLayout" Target="../slideLayouts/slideLayout47.xml"/><Relationship Id="rId10" Type="http://schemas.openxmlformats.org/officeDocument/2006/relationships/slideLayout" Target="../slideLayouts/slideLayout42.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4" Type="http://schemas.openxmlformats.org/officeDocument/2006/relationships/slideLayout" Target="../slideLayouts/slideLayout46.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18" Type="http://schemas.openxmlformats.org/officeDocument/2006/relationships/image" Target="../media/image4.png"/><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theme" Target="../theme/theme4.xml"/><Relationship Id="rId2" Type="http://schemas.openxmlformats.org/officeDocument/2006/relationships/slideLayout" Target="../slideLayouts/slideLayout50.xml"/><Relationship Id="rId16" Type="http://schemas.openxmlformats.org/officeDocument/2006/relationships/slideLayout" Target="../slideLayouts/slideLayout64.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26" b="226"/>
          <a:stretch/>
        </p:blipFill>
        <p:spPr>
          <a:xfrm>
            <a:off x="10454640" y="6239533"/>
            <a:ext cx="1350666" cy="307571"/>
          </a:xfrm>
          <a:prstGeom prst="rect">
            <a:avLst/>
          </a:prstGeom>
        </p:spPr>
      </p:pic>
    </p:spTree>
    <p:extLst>
      <p:ext uri="{BB962C8B-B14F-4D97-AF65-F5344CB8AC3E}">
        <p14:creationId xmlns:p14="http://schemas.microsoft.com/office/powerpoint/2010/main" val="377813297"/>
      </p:ext>
    </p:extLst>
  </p:cSld>
  <p:clrMap bg1="lt1" tx1="dk1" bg2="lt2" tx2="dk2" accent1="accent1" accent2="accent2" accent3="accent3" accent4="accent4" accent5="accent5" accent6="accent6" hlink="hlink" folHlink="folHlink"/>
  <p:sldLayoutIdLst>
    <p:sldLayoutId id="2147483852" r:id="rId1"/>
    <p:sldLayoutId id="2147483929" r:id="rId2"/>
    <p:sldLayoutId id="2147483854" r:id="rId3"/>
    <p:sldLayoutId id="2147483855" r:id="rId4"/>
    <p:sldLayoutId id="2147483856" r:id="rId5"/>
    <p:sldLayoutId id="2147483857" r:id="rId6"/>
    <p:sldLayoutId id="2147483858" r:id="rId7"/>
    <p:sldLayoutId id="2147483859" r:id="rId8"/>
    <p:sldLayoutId id="2147483860" r:id="rId9"/>
    <p:sldLayoutId id="2147483943" r:id="rId10"/>
    <p:sldLayoutId id="2147483944" r:id="rId11"/>
    <p:sldLayoutId id="2147483948" r:id="rId12"/>
    <p:sldLayoutId id="2147483947" r:id="rId13"/>
    <p:sldLayoutId id="2147483867" r:id="rId14"/>
    <p:sldLayoutId id="2147483941" r:id="rId15"/>
    <p:sldLayoutId id="2147483949"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17" b="217"/>
          <a:stretch/>
        </p:blipFill>
        <p:spPr>
          <a:xfrm>
            <a:off x="10454640" y="6239533"/>
            <a:ext cx="1350441" cy="307571"/>
          </a:xfrm>
          <a:prstGeom prst="rect">
            <a:avLst/>
          </a:prstGeom>
        </p:spPr>
      </p:pic>
    </p:spTree>
    <p:extLst>
      <p:ext uri="{BB962C8B-B14F-4D97-AF65-F5344CB8AC3E}">
        <p14:creationId xmlns:p14="http://schemas.microsoft.com/office/powerpoint/2010/main" val="1624709770"/>
      </p:ext>
    </p:extLst>
  </p:cSld>
  <p:clrMap bg1="dk1" tx1="lt1" bg2="dk2" tx2="lt2" accent1="accent1" accent2="accent2" accent3="accent3" accent4="accent4" accent5="accent5" accent6="accent6" hlink="hlink" folHlink="folHlink"/>
  <p:sldLayoutIdLst>
    <p:sldLayoutId id="2147483954" r:id="rId1"/>
    <p:sldLayoutId id="2147483953" r:id="rId2"/>
    <p:sldLayoutId id="2147483955" r:id="rId3"/>
    <p:sldLayoutId id="2147483956" r:id="rId4"/>
    <p:sldLayoutId id="2147483957" r:id="rId5"/>
    <p:sldLayoutId id="2147483958" r:id="rId6"/>
    <p:sldLayoutId id="2147483959" r:id="rId7"/>
    <p:sldLayoutId id="2147483960" r:id="rId8"/>
    <p:sldLayoutId id="2147483961" r:id="rId9"/>
    <p:sldLayoutId id="2147483962" r:id="rId10"/>
    <p:sldLayoutId id="2147483963" r:id="rId11"/>
    <p:sldLayoutId id="2147483964" r:id="rId12"/>
    <p:sldLayoutId id="2147483965" r:id="rId13"/>
    <p:sldLayoutId id="2147483966" r:id="rId14"/>
    <p:sldLayoutId id="2147483967" r:id="rId15"/>
    <p:sldLayoutId id="2147483985"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E0F1FF"/>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RESTRICTED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26" b="226"/>
          <a:stretch/>
        </p:blipFill>
        <p:spPr>
          <a:xfrm>
            <a:off x="10454640" y="6239533"/>
            <a:ext cx="1350666" cy="307571"/>
          </a:xfrm>
          <a:prstGeom prst="rect">
            <a:avLst/>
          </a:prstGeom>
        </p:spPr>
      </p:pic>
    </p:spTree>
    <p:extLst>
      <p:ext uri="{BB962C8B-B14F-4D97-AF65-F5344CB8AC3E}">
        <p14:creationId xmlns:p14="http://schemas.microsoft.com/office/powerpoint/2010/main" val="2602401083"/>
      </p:ext>
    </p:extLst>
  </p:cSld>
  <p:clrMap bg1="lt1" tx1="dk1" bg2="lt2" tx2="dk2" accent1="accent1" accent2="accent2" accent3="accent3" accent4="accent4" accent5="accent5" accent6="accent6" hlink="hlink" folHlink="folHlink"/>
  <p:sldLayoutIdLst>
    <p:sldLayoutId id="2147483971" r:id="rId1"/>
    <p:sldLayoutId id="2147483970" r:id="rId2"/>
    <p:sldLayoutId id="2147483972" r:id="rId3"/>
    <p:sldLayoutId id="2147483973" r:id="rId4"/>
    <p:sldLayoutId id="2147483974" r:id="rId5"/>
    <p:sldLayoutId id="2147483975" r:id="rId6"/>
    <p:sldLayoutId id="2147483976" r:id="rId7"/>
    <p:sldLayoutId id="2147483977" r:id="rId8"/>
    <p:sldLayoutId id="2147483978" r:id="rId9"/>
    <p:sldLayoutId id="2147483979" r:id="rId10"/>
    <p:sldLayoutId id="2147483980" r:id="rId11"/>
    <p:sldLayoutId id="2147483981" r:id="rId12"/>
    <p:sldLayoutId id="2147483982" r:id="rId13"/>
    <p:sldLayoutId id="2147483983" r:id="rId14"/>
    <p:sldLayoutId id="2147483984" r:id="rId15"/>
    <p:sldLayoutId id="2147483986" r:id="rId16"/>
  </p:sldLayoutIdLst>
  <mc:AlternateContent xmlns:mc="http://schemas.openxmlformats.org/markup-compatibility/2006" xmlns:p14="http://schemas.microsoft.com/office/powerpoint/2010/main">
    <mc:Choice Requires="p14">
      <p:transition p14:dur="10"/>
    </mc:Choice>
    <mc:Fallback xmlns="">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userDrawn="1">
          <p15:clr>
            <a:srgbClr val="A4A3A4"/>
          </p15:clr>
        </p15:guide>
        <p15:guide id="15" pos="3840" userDrawn="1">
          <p15:clr>
            <a:srgbClr val="A4A3A4"/>
          </p15:clr>
        </p15:guide>
        <p15:guide id="16" orient="horz" pos="228" userDrawn="1">
          <p15:clr>
            <a:srgbClr val="5ACBF0"/>
          </p15:clr>
        </p15:guide>
        <p15:guide id="17" orient="horz" pos="537" userDrawn="1">
          <p15:clr>
            <a:srgbClr val="FDE53C"/>
          </p15:clr>
        </p15:guide>
        <p15:guide id="18" orient="horz" pos="848" userDrawn="1">
          <p15:clr>
            <a:srgbClr val="FDE53C"/>
          </p15:clr>
        </p15:guide>
        <p15:guide id="19" orient="horz" pos="960" userDrawn="1">
          <p15:clr>
            <a:srgbClr val="5ACBF0"/>
          </p15:clr>
        </p15:guide>
        <p15:guide id="20" orient="horz" pos="3773" userDrawn="1">
          <p15:clr>
            <a:srgbClr val="FBAE40"/>
          </p15:clr>
        </p15:guide>
        <p15:guide id="21" orient="horz" pos="4001" userDrawn="1">
          <p15:clr>
            <a:srgbClr val="5ACBF0"/>
          </p15:clr>
        </p15:guide>
        <p15:guide id="22" orient="horz" pos="4113" userDrawn="1">
          <p15:clr>
            <a:srgbClr val="5ACBF0"/>
          </p15:clr>
        </p15:guide>
        <p15:guide id="23" pos="288" userDrawn="1">
          <p15:clr>
            <a:srgbClr val="5ACBF0"/>
          </p15:clr>
        </p15:guide>
        <p15:guide id="24" pos="3756" userDrawn="1">
          <p15:clr>
            <a:srgbClr val="5ACBF0"/>
          </p15:clr>
        </p15:guide>
        <p15:guide id="25" pos="3927" userDrawn="1">
          <p15:clr>
            <a:srgbClr val="5ACBF0"/>
          </p15:clr>
        </p15:guide>
        <p15:guide id="26" pos="7394" userDrawn="1">
          <p15:clr>
            <a:srgbClr val="5ACBF0"/>
          </p15:clr>
        </p15:guide>
        <p15:guide id="27" orient="horz" pos="3969" userDrawn="1">
          <p15:clr>
            <a:srgbClr val="9FCC3B"/>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361950"/>
            <a:ext cx="11274552" cy="451231"/>
          </a:xfrm>
          <a:prstGeom prst="rect">
            <a:avLst/>
          </a:prstGeom>
        </p:spPr>
        <p:txBody>
          <a:bodyPr vert="horz" lIns="0" tIns="0" rIns="0" bIns="0" rtlCol="0" anchor="t" anchorCtr="0">
            <a:noAutofit/>
          </a:bodyPr>
          <a:lstStyle/>
          <a:p>
            <a:r>
              <a:rPr lang="en-US"/>
              <a:t>Click to edit title</a:t>
            </a:r>
          </a:p>
        </p:txBody>
      </p:sp>
      <p:sp>
        <p:nvSpPr>
          <p:cNvPr id="3" name="Text Placeholder 2"/>
          <p:cNvSpPr>
            <a:spLocks noGrp="1"/>
          </p:cNvSpPr>
          <p:nvPr>
            <p:ph type="body" idx="1"/>
          </p:nvPr>
        </p:nvSpPr>
        <p:spPr>
          <a:xfrm>
            <a:off x="457200" y="1527048"/>
            <a:ext cx="11274552" cy="4462272"/>
          </a:xfrm>
          <a:prstGeom prst="rect">
            <a:avLst/>
          </a:prstGeom>
        </p:spPr>
        <p:txBody>
          <a:bodyPr vert="horz" lIns="0" tIns="0" rIns="0" bIns="0" rtlCol="0">
            <a:noAutofit/>
          </a:bodyPr>
          <a:lstStyle/>
          <a:p>
            <a:pPr lvl="0"/>
            <a:r>
              <a:rPr lang="en-US"/>
              <a:t>Click to edit text</a:t>
            </a:r>
          </a:p>
          <a:p>
            <a:pPr lvl="1"/>
            <a:r>
              <a:rPr lang="en-US"/>
              <a:t>Second level</a:t>
            </a:r>
          </a:p>
          <a:p>
            <a:pPr lvl="2"/>
            <a:r>
              <a:rPr lang="en-US"/>
              <a:t>Third level</a:t>
            </a:r>
          </a:p>
          <a:p>
            <a:pPr lvl="3"/>
            <a:r>
              <a:rPr lang="en-US"/>
              <a:t>Fourth level</a:t>
            </a:r>
          </a:p>
          <a:p>
            <a:pPr lvl="4"/>
            <a:r>
              <a:rPr lang="en-US"/>
              <a:t>Fifth level</a:t>
            </a:r>
          </a:p>
        </p:txBody>
      </p:sp>
      <p:sp>
        <p:nvSpPr>
          <p:cNvPr id="14" name="TextBox 13">
            <a:extLst>
              <a:ext uri="{FF2B5EF4-FFF2-40B4-BE49-F238E27FC236}">
                <a16:creationId xmlns:a16="http://schemas.microsoft.com/office/drawing/2014/main" id="{4C02A410-1807-488C-9458-4CFAF1E4E8F0}"/>
              </a:ext>
            </a:extLst>
          </p:cNvPr>
          <p:cNvSpPr txBox="1"/>
          <p:nvPr/>
        </p:nvSpPr>
        <p:spPr>
          <a:xfrm>
            <a:off x="457200" y="6393216"/>
            <a:ext cx="7306056" cy="153888"/>
          </a:xfrm>
          <a:prstGeom prst="rect">
            <a:avLst/>
          </a:prstGeom>
          <a:noFill/>
        </p:spPr>
        <p:txBody>
          <a:bodyPr wrap="square" lIns="0" tIns="0" rIns="0" bIns="0" rtlCol="0" anchor="b" anchorCtr="0">
            <a:spAutoFit/>
          </a:bodyPr>
          <a:lstStyle/>
          <a:p>
            <a:pPr marL="228600" indent="-228600"/>
            <a:fld id="{E19460A7-1930-4D5F-A936-CB6F16095A68}" type="slidenum">
              <a:rPr lang="en-US" sz="1000" b="0" smtClean="0">
                <a:solidFill>
                  <a:schemeClr val="tx1"/>
                </a:solidFill>
              </a:rPr>
              <a:t>‹#›</a:t>
            </a:fld>
            <a:r>
              <a:rPr lang="en-US" sz="700" b="0">
                <a:solidFill>
                  <a:schemeClr val="tx1"/>
                </a:solidFill>
              </a:rPr>
              <a:t>	INTERNAL © 2026 Gartner, Inc. and/or its affiliates. All rights reserved.</a:t>
            </a:r>
          </a:p>
        </p:txBody>
      </p:sp>
      <p:pic>
        <p:nvPicPr>
          <p:cNvPr id="7" name="Picture 6">
            <a:extLst>
              <a:ext uri="{FF2B5EF4-FFF2-40B4-BE49-F238E27FC236}">
                <a16:creationId xmlns:a16="http://schemas.microsoft.com/office/drawing/2014/main" id="{57E7FBBB-CE99-4B6D-A472-B54EFCF17046}"/>
              </a:ext>
            </a:extLst>
          </p:cNvPr>
          <p:cNvPicPr>
            <a:picLocks noChangeAspect="1"/>
          </p:cNvPicPr>
          <p:nvPr/>
        </p:nvPicPr>
        <p:blipFill>
          <a:blip r:embed="rId18">
            <a:extLst>
              <a:ext uri="{28A0092B-C50C-407E-A947-70E740481C1C}">
                <a14:useLocalDpi xmlns:a14="http://schemas.microsoft.com/office/drawing/2010/main" val="0"/>
              </a:ext>
            </a:extLst>
          </a:blip>
          <a:srcRect t="226" b="226"/>
          <a:stretch/>
        </p:blipFill>
        <p:spPr>
          <a:xfrm>
            <a:off x="10454640" y="6239533"/>
            <a:ext cx="1350666" cy="307571"/>
          </a:xfrm>
          <a:prstGeom prst="rect">
            <a:avLst/>
          </a:prstGeom>
        </p:spPr>
      </p:pic>
    </p:spTree>
    <p:extLst>
      <p:ext uri="{BB962C8B-B14F-4D97-AF65-F5344CB8AC3E}">
        <p14:creationId xmlns:p14="http://schemas.microsoft.com/office/powerpoint/2010/main" val="3106656727"/>
      </p:ext>
    </p:extLst>
  </p:cSld>
  <p:clrMap bg1="lt1" tx1="dk1" bg2="lt2" tx2="dk2" accent1="accent1" accent2="accent2" accent3="accent3" accent4="accent4" accent5="accent5" accent6="accent6" hlink="hlink" folHlink="folHlink"/>
  <p:sldLayoutIdLst>
    <p:sldLayoutId id="2147483988" r:id="rId1"/>
    <p:sldLayoutId id="2147483989" r:id="rId2"/>
    <p:sldLayoutId id="2147483990" r:id="rId3"/>
    <p:sldLayoutId id="2147483991" r:id="rId4"/>
    <p:sldLayoutId id="2147483992" r:id="rId5"/>
    <p:sldLayoutId id="2147483993" r:id="rId6"/>
    <p:sldLayoutId id="2147483994" r:id="rId7"/>
    <p:sldLayoutId id="2147483995" r:id="rId8"/>
    <p:sldLayoutId id="2147483996" r:id="rId9"/>
    <p:sldLayoutId id="2147483997" r:id="rId10"/>
    <p:sldLayoutId id="2147483998" r:id="rId11"/>
    <p:sldLayoutId id="2147483999" r:id="rId12"/>
    <p:sldLayoutId id="2147484000" r:id="rId13"/>
    <p:sldLayoutId id="2147484001" r:id="rId14"/>
    <p:sldLayoutId id="2147484002" r:id="rId15"/>
    <p:sldLayoutId id="2147484003" r:id="rId16"/>
  </p:sldLayoutIdLst>
  <mc:AlternateContent xmlns:mc="http://schemas.openxmlformats.org/markup-compatibility/2006">
    <mc:Choice xmlns:p14="http://schemas.microsoft.com/office/powerpoint/2010/main" Requires="p14">
      <p:transition p14:dur="10"/>
    </mc:Choice>
    <mc:Fallback>
      <p:transition/>
    </mc:Fallback>
  </mc:AlternateContent>
  <p:hf sldNum="0" hdr="0" ftr="0" dt="0"/>
  <p:txStyles>
    <p:titleStyle>
      <a:lvl1pPr algn="l" defTabSz="914400" rtl="0" eaLnBrk="1" latinLnBrk="0" hangingPunct="1">
        <a:lnSpc>
          <a:spcPct val="100000"/>
        </a:lnSpc>
        <a:spcBef>
          <a:spcPts val="0"/>
        </a:spcBef>
        <a:spcAft>
          <a:spcPts val="0"/>
        </a:spcAft>
        <a:buNone/>
        <a:defRPr sz="2800" kern="1200">
          <a:solidFill>
            <a:schemeClr val="tx2"/>
          </a:solidFill>
          <a:latin typeface="+mj-lt"/>
          <a:ea typeface="+mj-ea"/>
          <a:cs typeface="+mj-cs"/>
        </a:defRPr>
      </a:lvl1pPr>
    </p:titleStyle>
    <p:bodyStyle>
      <a:lvl1pPr marL="228600"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1pPr>
      <a:lvl2pPr marL="630936" indent="-292608"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2pPr>
      <a:lvl3pPr marL="978408" indent="-228600" algn="l" defTabSz="914400" rtl="0" eaLnBrk="1" latinLnBrk="0" hangingPunct="1">
        <a:lnSpc>
          <a:spcPct val="100000"/>
        </a:lnSpc>
        <a:spcBef>
          <a:spcPts val="1200"/>
        </a:spcBef>
        <a:spcAft>
          <a:spcPts val="0"/>
        </a:spcAft>
        <a:buSzPct val="100000"/>
        <a:buFont typeface="Arial" panose="020B0604020202020204" pitchFamily="34" charset="0"/>
        <a:buChar char="•"/>
        <a:defRPr sz="2000" kern="1200">
          <a:solidFill>
            <a:schemeClr val="tx1"/>
          </a:solidFill>
          <a:latin typeface="+mn-lt"/>
          <a:ea typeface="+mn-ea"/>
          <a:cs typeface="+mn-cs"/>
        </a:defRPr>
      </a:lvl3pPr>
      <a:lvl4pPr marL="1380744" indent="-292608" algn="l" defTabSz="914400" rtl="0" eaLnBrk="1" latinLnBrk="0" hangingPunct="1">
        <a:lnSpc>
          <a:spcPct val="100000"/>
        </a:lnSpc>
        <a:spcBef>
          <a:spcPts val="1200"/>
        </a:spcBef>
        <a:spcAft>
          <a:spcPts val="0"/>
        </a:spcAft>
        <a:buSzPct val="100000"/>
        <a:buFont typeface="Arial" panose="020B0604020202020204" pitchFamily="34" charset="0"/>
        <a:buChar char="–"/>
        <a:tabLst/>
        <a:defRPr sz="2000" kern="1200">
          <a:solidFill>
            <a:schemeClr val="tx1"/>
          </a:solidFill>
          <a:latin typeface="+mn-lt"/>
          <a:ea typeface="+mn-ea"/>
          <a:cs typeface="+mn-cs"/>
        </a:defRPr>
      </a:lvl4pPr>
      <a:lvl5pPr marL="1719072" indent="-228600" algn="l" defTabSz="914400" rtl="0" eaLnBrk="1" latinLnBrk="0" hangingPunct="1">
        <a:lnSpc>
          <a:spcPct val="100000"/>
        </a:lnSpc>
        <a:spcBef>
          <a:spcPts val="1200"/>
        </a:spcBef>
        <a:spcAft>
          <a:spcPts val="0"/>
        </a:spcAft>
        <a:buFont typeface="Arial" panose="020B0604020202020204" pitchFamily="34" charset="0"/>
        <a:buChar char="•"/>
        <a:tabLst/>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4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4" orient="horz" pos="2160">
          <p15:clr>
            <a:srgbClr val="A4A3A4"/>
          </p15:clr>
        </p15:guide>
        <p15:guide id="15" pos="3840">
          <p15:clr>
            <a:srgbClr val="A4A3A4"/>
          </p15:clr>
        </p15:guide>
        <p15:guide id="16" orient="horz" pos="228">
          <p15:clr>
            <a:srgbClr val="5ACBF0"/>
          </p15:clr>
        </p15:guide>
        <p15:guide id="17" orient="horz" pos="537">
          <p15:clr>
            <a:srgbClr val="FDE53C"/>
          </p15:clr>
        </p15:guide>
        <p15:guide id="18" orient="horz" pos="848">
          <p15:clr>
            <a:srgbClr val="FDE53C"/>
          </p15:clr>
        </p15:guide>
        <p15:guide id="19" orient="horz" pos="960">
          <p15:clr>
            <a:srgbClr val="5ACBF0"/>
          </p15:clr>
        </p15:guide>
        <p15:guide id="20" orient="horz" pos="3773">
          <p15:clr>
            <a:srgbClr val="FBAE40"/>
          </p15:clr>
        </p15:guide>
        <p15:guide id="21" orient="horz" pos="4001">
          <p15:clr>
            <a:srgbClr val="5ACBF0"/>
          </p15:clr>
        </p15:guide>
        <p15:guide id="22" orient="horz" pos="4113">
          <p15:clr>
            <a:srgbClr val="5ACBF0"/>
          </p15:clr>
        </p15:guide>
        <p15:guide id="23" pos="288">
          <p15:clr>
            <a:srgbClr val="5ACBF0"/>
          </p15:clr>
        </p15:guide>
        <p15:guide id="24" pos="3756">
          <p15:clr>
            <a:srgbClr val="5ACBF0"/>
          </p15:clr>
        </p15:guide>
        <p15:guide id="25" pos="3927">
          <p15:clr>
            <a:srgbClr val="5ACBF0"/>
          </p15:clr>
        </p15:guide>
        <p15:guide id="26" pos="7394">
          <p15:clr>
            <a:srgbClr val="5ACBF0"/>
          </p15:clr>
        </p15:guide>
        <p15:guide id="27" orient="horz" pos="3969">
          <p15:clr>
            <a:srgbClr val="9FCC3B"/>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3AD108D-BB58-724B-E16A-E24ECD77937C}"/>
              </a:ext>
            </a:extLst>
          </p:cNvPr>
          <p:cNvSpPr>
            <a:spLocks noGrp="1"/>
          </p:cNvSpPr>
          <p:nvPr>
            <p:ph type="ctrTitle"/>
          </p:nvPr>
        </p:nvSpPr>
        <p:spPr>
          <a:xfrm>
            <a:off x="1371600" y="2149713"/>
            <a:ext cx="8426918" cy="1508105"/>
          </a:xfrm>
        </p:spPr>
        <p:txBody>
          <a:bodyPr/>
          <a:lstStyle/>
          <a:p>
            <a:r>
              <a:rPr lang="en-US" dirty="0"/>
              <a:t>Buyer Voice Analysis for GGM</a:t>
            </a:r>
          </a:p>
        </p:txBody>
      </p:sp>
      <p:sp>
        <p:nvSpPr>
          <p:cNvPr id="11" name="Subtitle 10">
            <a:extLst>
              <a:ext uri="{FF2B5EF4-FFF2-40B4-BE49-F238E27FC236}">
                <a16:creationId xmlns:a16="http://schemas.microsoft.com/office/drawing/2014/main" id="{4EC3D150-5641-23F2-B13B-CD41FB7E5972}"/>
              </a:ext>
            </a:extLst>
          </p:cNvPr>
          <p:cNvSpPr>
            <a:spLocks noGrp="1"/>
          </p:cNvSpPr>
          <p:nvPr>
            <p:ph type="subTitle" idx="1"/>
          </p:nvPr>
        </p:nvSpPr>
        <p:spPr>
          <a:xfrm>
            <a:off x="1371600" y="3380819"/>
            <a:ext cx="8426919" cy="276999"/>
          </a:xfrm>
        </p:spPr>
        <p:txBody>
          <a:bodyPr/>
          <a:lstStyle/>
          <a:p>
            <a:r>
              <a:rPr lang="en-US" dirty="0"/>
              <a:t>Nick DiLorenzo</a:t>
            </a:r>
          </a:p>
        </p:txBody>
      </p:sp>
      <p:grpSp>
        <p:nvGrpSpPr>
          <p:cNvPr id="10" name="Group 9" hidden="1">
            <a:extLst>
              <a:ext uri="{FF2B5EF4-FFF2-40B4-BE49-F238E27FC236}">
                <a16:creationId xmlns:a16="http://schemas.microsoft.com/office/drawing/2014/main" id="{E8B14D26-73D5-7724-3AAF-CFDBCDAE0C20}"/>
              </a:ext>
            </a:extLst>
          </p:cNvPr>
          <p:cNvGrpSpPr/>
          <p:nvPr/>
        </p:nvGrpSpPr>
        <p:grpSpPr>
          <a:xfrm>
            <a:off x="-839787" y="2254488"/>
            <a:ext cx="628650" cy="638175"/>
            <a:chOff x="1524000" y="1892538"/>
            <a:chExt cx="628650" cy="638175"/>
          </a:xfrm>
        </p:grpSpPr>
        <p:cxnSp>
          <p:nvCxnSpPr>
            <p:cNvPr id="7" name="Straight Connector 6">
              <a:extLst>
                <a:ext uri="{FF2B5EF4-FFF2-40B4-BE49-F238E27FC236}">
                  <a16:creationId xmlns:a16="http://schemas.microsoft.com/office/drawing/2014/main" id="{11E3F0AD-1321-4D63-D89E-A2C2A0167524}"/>
                </a:ext>
              </a:extLst>
            </p:cNvPr>
            <p:cNvCxnSpPr/>
            <p:nvPr/>
          </p:nvCxnSpPr>
          <p:spPr>
            <a:xfrm>
              <a:off x="1524000" y="1892538"/>
              <a:ext cx="0" cy="638175"/>
            </a:xfrm>
            <a:prstGeom prst="line">
              <a:avLst/>
            </a:prstGeom>
            <a:noFill/>
            <a:ln w="190500" cap="flat" cmpd="sng">
              <a:solidFill>
                <a:srgbClr val="6F7878"/>
              </a:solidFill>
              <a:prstDash val="solid"/>
              <a:round/>
              <a:headEnd type="none" w="lg" len="med"/>
              <a:tailEnd type="none" w="lg" len="med"/>
            </a:ln>
          </p:spPr>
        </p:cxnSp>
        <p:cxnSp>
          <p:nvCxnSpPr>
            <p:cNvPr id="9" name="Straight Connector 8">
              <a:extLst>
                <a:ext uri="{FF2B5EF4-FFF2-40B4-BE49-F238E27FC236}">
                  <a16:creationId xmlns:a16="http://schemas.microsoft.com/office/drawing/2014/main" id="{D80AA33C-716C-4A0B-9E8F-6880972D80E8}"/>
                </a:ext>
              </a:extLst>
            </p:cNvPr>
            <p:cNvCxnSpPr/>
            <p:nvPr/>
          </p:nvCxnSpPr>
          <p:spPr>
            <a:xfrm>
              <a:off x="1584325" y="1892538"/>
              <a:ext cx="568325" cy="0"/>
            </a:xfrm>
            <a:prstGeom prst="line">
              <a:avLst/>
            </a:prstGeom>
            <a:noFill/>
            <a:ln w="190500" cap="flat" cmpd="sng">
              <a:solidFill>
                <a:srgbClr val="6F7878"/>
              </a:solidFill>
              <a:prstDash val="solid"/>
              <a:round/>
              <a:headEnd type="none" w="lg" len="med"/>
              <a:tailEnd type="none" w="lg" len="med"/>
            </a:ln>
          </p:spPr>
        </p:cxnSp>
      </p:grpSp>
    </p:spTree>
    <p:extLst>
      <p:ext uri="{BB962C8B-B14F-4D97-AF65-F5344CB8AC3E}">
        <p14:creationId xmlns:p14="http://schemas.microsoft.com/office/powerpoint/2010/main" val="356751109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78B1D1-8536-DA53-49D7-3432F9A6C83E}"/>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E3B6B291-13BD-BF7F-D3F3-AD7927345B53}"/>
              </a:ext>
            </a:extLst>
          </p:cNvPr>
          <p:cNvSpPr>
            <a:spLocks noGrp="1"/>
          </p:cNvSpPr>
          <p:nvPr>
            <p:ph type="title"/>
          </p:nvPr>
        </p:nvSpPr>
        <p:spPr>
          <a:xfrm>
            <a:off x="457200" y="361950"/>
            <a:ext cx="11274552" cy="451231"/>
          </a:xfrm>
        </p:spPr>
        <p:txBody>
          <a:bodyPr/>
          <a:lstStyle/>
          <a:p>
            <a:r>
              <a:rPr lang="en-US" sz="2400"/>
              <a:t>Top questions enterprise buyers are asking about OpenAI</a:t>
            </a:r>
          </a:p>
        </p:txBody>
      </p:sp>
      <p:sp>
        <p:nvSpPr>
          <p:cNvPr id="6" name="TextBox 5">
            <a:extLst>
              <a:ext uri="{FF2B5EF4-FFF2-40B4-BE49-F238E27FC236}">
                <a16:creationId xmlns:a16="http://schemas.microsoft.com/office/drawing/2014/main" id="{187EF6A2-4582-1A66-6821-F8058A94BC53}"/>
              </a:ext>
            </a:extLst>
          </p:cNvPr>
          <p:cNvSpPr txBox="1"/>
          <p:nvPr/>
        </p:nvSpPr>
        <p:spPr>
          <a:xfrm>
            <a:off x="457199" y="761227"/>
            <a:ext cx="11274552"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57AF"/>
                </a:solidFill>
                <a:effectLst/>
                <a:uLnTx/>
                <a:uFillTx/>
                <a:latin typeface="Gartner Sans"/>
                <a:ea typeface="+mn-ea"/>
                <a:cs typeface="+mn-cs"/>
              </a:rPr>
              <a:t>Cost, comparison and governance recur in every market that follows. Brand visibility is the one concern that reaches outside the enterprise.</a:t>
            </a:r>
          </a:p>
        </p:txBody>
      </p:sp>
      <p:graphicFrame>
        <p:nvGraphicFramePr>
          <p:cNvPr id="19" name="Table 18">
            <a:extLst>
              <a:ext uri="{FF2B5EF4-FFF2-40B4-BE49-F238E27FC236}">
                <a16:creationId xmlns:a16="http://schemas.microsoft.com/office/drawing/2014/main" id="{EFCCFAF1-3457-9B06-5A89-1DD68CB29870}"/>
              </a:ext>
            </a:extLst>
          </p:cNvPr>
          <p:cNvGraphicFramePr>
            <a:graphicFrameLocks noGrp="1"/>
          </p:cNvGraphicFramePr>
          <p:nvPr/>
        </p:nvGraphicFramePr>
        <p:xfrm>
          <a:off x="457199" y="1125690"/>
          <a:ext cx="11274552" cy="4815840"/>
        </p:xfrm>
        <a:graphic>
          <a:graphicData uri="http://schemas.openxmlformats.org/drawingml/2006/table">
            <a:tbl>
              <a:tblPr firstRow="1" bandRow="1">
                <a:tableStyleId>{6E25E649-3F16-4E02-A733-19D2CDBF48F0}</a:tableStyleId>
              </a:tblPr>
              <a:tblGrid>
                <a:gridCol w="7719462">
                  <a:extLst>
                    <a:ext uri="{9D8B030D-6E8A-4147-A177-3AD203B41FA5}">
                      <a16:colId xmlns:a16="http://schemas.microsoft.com/office/drawing/2014/main" val="413194551"/>
                    </a:ext>
                  </a:extLst>
                </a:gridCol>
                <a:gridCol w="1111718">
                  <a:extLst>
                    <a:ext uri="{9D8B030D-6E8A-4147-A177-3AD203B41FA5}">
                      <a16:colId xmlns:a16="http://schemas.microsoft.com/office/drawing/2014/main" val="2952139194"/>
                    </a:ext>
                  </a:extLst>
                </a:gridCol>
                <a:gridCol w="2443372">
                  <a:extLst>
                    <a:ext uri="{9D8B030D-6E8A-4147-A177-3AD203B41FA5}">
                      <a16:colId xmlns:a16="http://schemas.microsoft.com/office/drawing/2014/main" val="184315823"/>
                    </a:ext>
                  </a:extLst>
                </a:gridCol>
              </a:tblGrid>
              <a:tr h="209584">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chemeClr val="bg1"/>
                          </a:solidFill>
                          <a:effectLst/>
                          <a:uLnTx/>
                          <a:uFillTx/>
                          <a:latin typeface="Gartner Sans Semibold" panose="020B0704030402040204" pitchFamily="34" charset="0"/>
                          <a:ea typeface="+mn-ea"/>
                          <a:cs typeface="+mn-cs"/>
                        </a:rPr>
                        <a:t>Theme &amp; Buyer Questions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57A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Gartner Sans Semibold" panose="020B0704030402040204" pitchFamily="34" charset="0"/>
                          <a:ea typeface="+mn-ea"/>
                          <a:cs typeface="+mn-cs"/>
                        </a:rPr>
                        <a:t>Prevalence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57A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Gartner Sans Semibold" panose="020B0704030402040204" pitchFamily="34" charset="0"/>
                          <a:ea typeface="+mn-ea"/>
                          <a:cs typeface="+mn-cs"/>
                        </a:rPr>
                        <a:t>Roles Asking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57AF"/>
                    </a:solidFill>
                  </a:tcPr>
                </a:tc>
                <a:extLst>
                  <a:ext uri="{0D108BD9-81ED-4DB2-BD59-A6C34878D82A}">
                    <a16:rowId xmlns:a16="http://schemas.microsoft.com/office/drawing/2014/main" val="3827733196"/>
                  </a:ext>
                </a:extLst>
              </a:tr>
              <a:tr h="5656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Budget and commercial terms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manage the shift from seat-based licensing to token or pooled-credit pricing without blowing our budget?”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“What negotiation leverage do we have on credit allowances and renewal discounts?”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“Who retains responsibility when AI-generated content is wrong, and how do we structure contract terms?”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Pervasive</a:t>
                      </a:r>
                      <a:br>
                        <a:rPr kumimoji="0" lang="en-US" sz="1100" b="0" i="0" u="none" strike="noStrike" kern="1200" cap="none" spc="0" normalizeH="0" baseline="0" noProof="0">
                          <a:ln>
                            <a:noFill/>
                          </a:ln>
                          <a:solidFill>
                            <a:srgbClr val="000000"/>
                          </a:solidFill>
                          <a:effectLst/>
                          <a:uLnTx/>
                          <a:uFillTx/>
                          <a:latin typeface="+mn-lt"/>
                          <a:ea typeface="+mn-ea"/>
                          <a:cs typeface="+mn-cs"/>
                        </a:rPr>
                      </a:br>
                      <a:r>
                        <a:rPr kumimoji="0" lang="en-US" sz="1100" b="0" i="0" u="none" strike="noStrike" kern="1200" cap="none" spc="0" normalizeH="0" baseline="0" noProof="0">
                          <a:ln>
                            <a:noFill/>
                          </a:ln>
                          <a:solidFill>
                            <a:srgbClr val="000000"/>
                          </a:solidFill>
                          <a:effectLst/>
                          <a:uLnTx/>
                          <a:uFillTx/>
                          <a:latin typeface="+mn-lt"/>
                          <a:ea typeface="+mn-ea"/>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57AF"/>
                          </a:solidFill>
                          <a:effectLst/>
                          <a:uLnTx/>
                          <a:uFillTx/>
                          <a:latin typeface="+mn-lt"/>
                          <a:ea typeface="+mn-ea"/>
                          <a:cs typeface="+mn-cs"/>
                        </a:rPr>
                        <a:t>IT Procurement · IT Sourcing &amp; Vendor Management · CIO · Finance · FinOps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1098055"/>
                  </a:ext>
                </a:extLst>
              </a:tr>
              <a:tr h="5656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Evaluating and selecting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does ChatGPT Enterprise compare to Microsoft Copilot and Anthropic Claude for enterprise-wide deployment?”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“What are the commercial and security differences between buying OpenAI direct and going through Azure?”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portable are our prompts and agent workflows if we need to move to another provider?”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Pervasive</a:t>
                      </a:r>
                      <a:br>
                        <a:rPr kumimoji="0" lang="en-US" sz="1100" b="0" i="0" u="none" strike="noStrike" kern="1200" cap="none" spc="0" normalizeH="0" baseline="0" noProof="0">
                          <a:ln>
                            <a:noFill/>
                          </a:ln>
                          <a:solidFill>
                            <a:srgbClr val="000000"/>
                          </a:solidFill>
                          <a:effectLst/>
                          <a:uLnTx/>
                          <a:uFillTx/>
                          <a:latin typeface="+mn-lt"/>
                          <a:ea typeface="+mn-ea"/>
                          <a:cs typeface="+mn-cs"/>
                        </a:rPr>
                      </a:br>
                      <a:r>
                        <a:rPr kumimoji="0" lang="en-US" sz="1100" b="0" i="0" u="none" strike="noStrike" kern="1200" cap="none" spc="0" normalizeH="0" baseline="0" noProof="0">
                          <a:ln>
                            <a:noFill/>
                          </a:ln>
                          <a:solidFill>
                            <a:srgbClr val="000000"/>
                          </a:solidFill>
                          <a:effectLst/>
                          <a:uLnTx/>
                          <a:uFillTx/>
                          <a:latin typeface="+mn-lt"/>
                          <a:ea typeface="+mn-ea"/>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57AF"/>
                          </a:solidFill>
                          <a:effectLst/>
                          <a:uLnTx/>
                          <a:uFillTx/>
                          <a:latin typeface="+mn-lt"/>
                          <a:ea typeface="+mn-ea"/>
                          <a:cs typeface="+mn-cs"/>
                        </a:rPr>
                        <a:t>EA · CIO · IT Leadership · Software Engineering Leaders</a:t>
                      </a:r>
                      <a:endParaRPr lang="en-US" sz="1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5006597"/>
                  </a:ext>
                </a:extLst>
              </a:tr>
              <a:tr h="5656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Guardrails and governance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discover and prevent staff pasting sensitive data into unsanctioned ChatGPT?”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govern the explosion of custom GPTs and agents built by non-technical users?”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“Is our SharePoint enterprise data being used to train ChatGPT models?”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Pervasive</a:t>
                      </a:r>
                      <a:br>
                        <a:rPr kumimoji="0" lang="en-US" sz="1100" b="0" i="0" u="none" strike="noStrike" kern="1200" cap="none" spc="0" normalizeH="0" baseline="0" noProof="0">
                          <a:ln>
                            <a:noFill/>
                          </a:ln>
                          <a:solidFill>
                            <a:srgbClr val="000000"/>
                          </a:solidFill>
                          <a:effectLst/>
                          <a:uLnTx/>
                          <a:uFillTx/>
                          <a:latin typeface="+mn-lt"/>
                          <a:ea typeface="+mn-ea"/>
                          <a:cs typeface="+mn-cs"/>
                        </a:rPr>
                      </a:br>
                      <a:r>
                        <a:rPr kumimoji="0" lang="en-US" sz="1100" b="0" i="0" u="none" strike="noStrike" kern="1200" cap="none" spc="0" normalizeH="0" baseline="0" noProof="0">
                          <a:ln>
                            <a:noFill/>
                          </a:ln>
                          <a:solidFill>
                            <a:srgbClr val="000000"/>
                          </a:solidFill>
                          <a:effectLst/>
                          <a:uLnTx/>
                          <a:uFillTx/>
                          <a:latin typeface="+mn-lt"/>
                          <a:ea typeface="+mn-ea"/>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57AF"/>
                          </a:solidFill>
                          <a:effectLst/>
                          <a:uLnTx/>
                          <a:uFillTx/>
                          <a:latin typeface="+mn-lt"/>
                          <a:ea typeface="+mn-ea"/>
                          <a:cs typeface="+mn-cs"/>
                        </a:rPr>
                        <a:t>CISO · Information Security · EA · Data Governance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1789915"/>
                  </a:ext>
                </a:extLst>
              </a:tr>
              <a:tr h="5656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Orchestrating and integrating agents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architect and govern multi-agent systems across vendor boundaries?”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“What gateway and MCP patterns hold this together as we scale?”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Significant</a:t>
                      </a:r>
                      <a:br>
                        <a:rPr lang="en-US" sz="1100"/>
                      </a:br>
                      <a:r>
                        <a:rPr lang="en-US" sz="11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57AF"/>
                          </a:solidFill>
                          <a:effectLst/>
                          <a:uLnTx/>
                          <a:uFillTx/>
                          <a:latin typeface="+mn-lt"/>
                          <a:ea typeface="+mn-ea"/>
                          <a:cs typeface="+mn-cs"/>
                        </a:rPr>
                        <a:t>EA · CIO · Divisional Technology Leader · Software Engineering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732657425"/>
                  </a:ext>
                </a:extLst>
              </a:tr>
              <a:tr h="5656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Adoption and proving value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prove the financial ROI of our ChatGPT Enterprise licenses to the board?”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structure AI literacy and training so employees get real value from their licenses?”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should the structure and skills of our development team change now that Codex is integrated?”</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Significant</a:t>
                      </a:r>
                      <a:br>
                        <a:rPr lang="en-US" sz="1100"/>
                      </a:br>
                      <a:r>
                        <a:rPr lang="en-US" sz="11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57AF"/>
                          </a:solidFill>
                          <a:effectLst/>
                          <a:uLnTx/>
                          <a:uFillTx/>
                          <a:latin typeface="+mn-lt"/>
                          <a:ea typeface="+mn-ea"/>
                          <a:cs typeface="+mn-cs"/>
                        </a:rPr>
                        <a:t>CIO · CHRO · Transformation · Software Engineering Leaders · D&amp;A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904688"/>
                  </a:ext>
                </a:extLst>
              </a:tr>
              <a:tr h="56563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How our brand shows up in AI answers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“Do our brand and products appear accurately when consumers ask ChatGPT about us?”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“What is our exposure when customers interpret our products through AI rather than our own channels?”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Significant</a:t>
                      </a:r>
                      <a:br>
                        <a:rPr lang="en-US" sz="1100"/>
                      </a:br>
                      <a:r>
                        <a:rPr lang="en-US" sz="1100"/>
                        <a:t>●●●○</a:t>
                      </a:r>
                      <a:endParaRPr lang="en-US" sz="1200"/>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57AF"/>
                          </a:solidFill>
                          <a:effectLst/>
                          <a:uLnTx/>
                          <a:uFillTx/>
                          <a:latin typeface="+mn-lt"/>
                          <a:ea typeface="+mn-ea"/>
                          <a:cs typeface="+mn-cs"/>
                        </a:rPr>
                        <a:t>CMO · Digital Marketing · E-commerce · CX · Strategy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6607818"/>
                  </a:ext>
                </a:extLst>
              </a:tr>
            </a:tbl>
          </a:graphicData>
        </a:graphic>
      </p:graphicFrame>
      <p:sp>
        <p:nvSpPr>
          <p:cNvPr id="3" name="TextBox 2">
            <a:extLst>
              <a:ext uri="{FF2B5EF4-FFF2-40B4-BE49-F238E27FC236}">
                <a16:creationId xmlns:a16="http://schemas.microsoft.com/office/drawing/2014/main" id="{A98E25F5-9223-6870-AA96-E6298778AA2F}"/>
              </a:ext>
            </a:extLst>
          </p:cNvPr>
          <p:cNvSpPr txBox="1"/>
          <p:nvPr/>
        </p:nvSpPr>
        <p:spPr>
          <a:xfrm>
            <a:off x="0" y="6185566"/>
            <a:ext cx="12191999" cy="246221"/>
          </a:xfrm>
          <a:prstGeom prst="rect">
            <a:avLst/>
          </a:prstGeom>
          <a:noFill/>
        </p:spPr>
        <p:txBody>
          <a:bodyPr wrap="square" lIns="0" rIns="0" rtlCol="0">
            <a:sp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Gartner Sans"/>
                <a:ea typeface="+mn-ea"/>
                <a:cs typeface="+mn-cs"/>
              </a:rPr>
              <a:t>Source: Gartner end user interaction data, 2026 YTD.</a:t>
            </a:r>
          </a:p>
        </p:txBody>
      </p:sp>
    </p:spTree>
    <p:extLst>
      <p:ext uri="{BB962C8B-B14F-4D97-AF65-F5344CB8AC3E}">
        <p14:creationId xmlns:p14="http://schemas.microsoft.com/office/powerpoint/2010/main" val="114950087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00CB9-9672-F2A2-247D-E27C7BCCE46F}"/>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8ED003D3-CFC9-A0AE-EA67-00A179497F2F}"/>
              </a:ext>
            </a:extLst>
          </p:cNvPr>
          <p:cNvSpPr>
            <a:spLocks noGrp="1"/>
          </p:cNvSpPr>
          <p:nvPr>
            <p:ph type="title"/>
          </p:nvPr>
        </p:nvSpPr>
        <p:spPr>
          <a:xfrm>
            <a:off x="457200" y="361950"/>
            <a:ext cx="11274552" cy="451231"/>
          </a:xfrm>
        </p:spPr>
        <p:txBody>
          <a:bodyPr/>
          <a:lstStyle/>
          <a:p>
            <a:r>
              <a:rPr lang="en-US" sz="2400"/>
              <a:t>What enterprise buyers are asking about OpenAI: </a:t>
            </a:r>
            <a:r>
              <a:rPr lang="en-US" sz="2400">
                <a:solidFill>
                  <a:srgbClr val="0057AF"/>
                </a:solidFill>
              </a:rPr>
              <a:t>Enterprise AI Assistants</a:t>
            </a:r>
          </a:p>
        </p:txBody>
      </p:sp>
      <p:sp>
        <p:nvSpPr>
          <p:cNvPr id="6" name="TextBox 5">
            <a:extLst>
              <a:ext uri="{FF2B5EF4-FFF2-40B4-BE49-F238E27FC236}">
                <a16:creationId xmlns:a16="http://schemas.microsoft.com/office/drawing/2014/main" id="{2F9E6289-AFD9-3341-6197-9DABA680D0EE}"/>
              </a:ext>
            </a:extLst>
          </p:cNvPr>
          <p:cNvSpPr txBox="1"/>
          <p:nvPr/>
        </p:nvSpPr>
        <p:spPr>
          <a:xfrm>
            <a:off x="457199" y="761227"/>
            <a:ext cx="11274552" cy="430887"/>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57AF"/>
                </a:solidFill>
                <a:effectLst/>
                <a:uLnTx/>
                <a:uFillTx/>
                <a:latin typeface="Gartner Sans"/>
                <a:ea typeface="+mn-ea"/>
                <a:cs typeface="+mn-cs"/>
              </a:rPr>
              <a:t>The largest evidence base of the four markets. Buyers are choosing between assistants, justifying overlapping spend, protecting data from consumer-grade use, and governing what their own employees build.</a:t>
            </a:r>
          </a:p>
        </p:txBody>
      </p:sp>
      <p:graphicFrame>
        <p:nvGraphicFramePr>
          <p:cNvPr id="19" name="Table 18">
            <a:extLst>
              <a:ext uri="{FF2B5EF4-FFF2-40B4-BE49-F238E27FC236}">
                <a16:creationId xmlns:a16="http://schemas.microsoft.com/office/drawing/2014/main" id="{4EBFDB07-6A6E-6989-A51D-B440913648CC}"/>
              </a:ext>
            </a:extLst>
          </p:cNvPr>
          <p:cNvGraphicFramePr>
            <a:graphicFrameLocks noGrp="1"/>
          </p:cNvGraphicFramePr>
          <p:nvPr/>
        </p:nvGraphicFramePr>
        <p:xfrm>
          <a:off x="457199" y="1341134"/>
          <a:ext cx="11274552" cy="4319579"/>
        </p:xfrm>
        <a:graphic>
          <a:graphicData uri="http://schemas.openxmlformats.org/drawingml/2006/table">
            <a:tbl>
              <a:tblPr firstRow="1" bandRow="1">
                <a:tableStyleId>{6E25E649-3F16-4E02-A733-19D2CDBF48F0}</a:tableStyleId>
              </a:tblPr>
              <a:tblGrid>
                <a:gridCol w="7719462">
                  <a:extLst>
                    <a:ext uri="{9D8B030D-6E8A-4147-A177-3AD203B41FA5}">
                      <a16:colId xmlns:a16="http://schemas.microsoft.com/office/drawing/2014/main" val="413194551"/>
                    </a:ext>
                  </a:extLst>
                </a:gridCol>
                <a:gridCol w="1111718">
                  <a:extLst>
                    <a:ext uri="{9D8B030D-6E8A-4147-A177-3AD203B41FA5}">
                      <a16:colId xmlns:a16="http://schemas.microsoft.com/office/drawing/2014/main" val="2952139194"/>
                    </a:ext>
                  </a:extLst>
                </a:gridCol>
                <a:gridCol w="2443372">
                  <a:extLst>
                    <a:ext uri="{9D8B030D-6E8A-4147-A177-3AD203B41FA5}">
                      <a16:colId xmlns:a16="http://schemas.microsoft.com/office/drawing/2014/main" val="184315823"/>
                    </a:ext>
                  </a:extLst>
                </a:gridCol>
              </a:tblGrid>
              <a:tr h="34337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chemeClr val="bg1"/>
                          </a:solidFill>
                          <a:effectLst/>
                          <a:uLnTx/>
                          <a:uFillTx/>
                          <a:latin typeface="Gartner Sans Semibold" panose="020B0704030402040204" pitchFamily="34" charset="0"/>
                          <a:ea typeface="+mn-ea"/>
                          <a:cs typeface="+mn-cs"/>
                        </a:rPr>
                        <a:t>Theme &amp; Buyer Questions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57A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Gartner Sans Semibold" panose="020B0704030402040204" pitchFamily="34" charset="0"/>
                          <a:ea typeface="+mn-ea"/>
                          <a:cs typeface="+mn-cs"/>
                        </a:rPr>
                        <a:t>Prevalence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57A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Gartner Sans Semibold" panose="020B0704030402040204" pitchFamily="34" charset="0"/>
                          <a:ea typeface="+mn-ea"/>
                          <a:cs typeface="+mn-cs"/>
                        </a:rPr>
                        <a:t>Roles Asking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57AF"/>
                    </a:solidFill>
                  </a:tcPr>
                </a:tc>
                <a:extLst>
                  <a:ext uri="{0D108BD9-81ED-4DB2-BD59-A6C34878D82A}">
                    <a16:rowId xmlns:a16="http://schemas.microsoft.com/office/drawing/2014/main" val="3827733196"/>
                  </a:ext>
                </a:extLst>
              </a:tr>
              <a:tr h="109878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Choosing between assistants, or running more than one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Copilot, ChatGPT Enterprise, Claude and Gemini compare on security and enterprise readiness?”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“Do we standardize on one AI platform, or run several to suit employee preference?”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“Should we build or buy a unified portal that routes across assistants without locking us 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0000"/>
                          </a:solidFill>
                          <a:effectLst/>
                          <a:uLnTx/>
                          <a:uFillTx/>
                          <a:latin typeface="+mn-lt"/>
                          <a:ea typeface="+mn-ea"/>
                          <a:cs typeface="+mn-cs"/>
                        </a:rPr>
                        <a:t>Pervasive</a:t>
                      </a:r>
                      <a:br>
                        <a:rPr kumimoji="0" lang="en-US" sz="1100" b="0" i="0" u="none" strike="noStrike" kern="1200" cap="none" spc="0" normalizeH="0" baseline="0" noProof="0" dirty="0">
                          <a:ln>
                            <a:noFill/>
                          </a:ln>
                          <a:solidFill>
                            <a:srgbClr val="000000"/>
                          </a:solidFill>
                          <a:effectLst/>
                          <a:uLnTx/>
                          <a:uFillTx/>
                          <a:latin typeface="+mn-lt"/>
                          <a:ea typeface="+mn-ea"/>
                          <a:cs typeface="+mn-cs"/>
                        </a:rPr>
                      </a:br>
                      <a:r>
                        <a:rPr kumimoji="0" lang="en-US" sz="1100" b="0" i="0" u="none" strike="noStrike" kern="1200" cap="none" spc="0" normalizeH="0" baseline="0" noProof="0" dirty="0">
                          <a:ln>
                            <a:noFill/>
                          </a:ln>
                          <a:solidFill>
                            <a:srgbClr val="000000"/>
                          </a:solidFill>
                          <a:effectLst/>
                          <a:uLnTx/>
                          <a:uFillTx/>
                          <a:latin typeface="+mn-lt"/>
                          <a:ea typeface="+mn-ea"/>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57AF"/>
                          </a:solidFill>
                          <a:effectLst/>
                          <a:uLnTx/>
                          <a:uFillTx/>
                          <a:latin typeface="+mn-lt"/>
                          <a:ea typeface="+mn-ea"/>
                          <a:cs typeface="+mn-cs"/>
                        </a:rPr>
                        <a:t>CIO · Head of EA · IT Infrastructure &amp; Operations · Strategy · IT Category Manager</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1098055"/>
                  </a:ext>
                </a:extLst>
              </a:tr>
              <a:tr h="9267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Licensing, cost control and proving value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budget and forecast now that seat licenses are shifting to pooled workspace credits?”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“What discount ranges, seat thresholds and minimum spend commitments are typical?”</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justify licensing both Copilot and ChatGPT Enterprise across the same workforce?”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measure real productivity impact and ROI beyond login and adoption metrics?”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Pervasive</a:t>
                      </a:r>
                      <a:br>
                        <a:rPr kumimoji="0" lang="en-US" sz="1100" b="0" i="0" u="none" strike="noStrike" kern="1200" cap="none" spc="0" normalizeH="0" baseline="0" noProof="0">
                          <a:ln>
                            <a:noFill/>
                          </a:ln>
                          <a:solidFill>
                            <a:srgbClr val="000000"/>
                          </a:solidFill>
                          <a:effectLst/>
                          <a:uLnTx/>
                          <a:uFillTx/>
                          <a:latin typeface="+mn-lt"/>
                          <a:ea typeface="+mn-ea"/>
                          <a:cs typeface="+mn-cs"/>
                        </a:rPr>
                      </a:br>
                      <a:r>
                        <a:rPr kumimoji="0" lang="en-US" sz="1100" b="0" i="0" u="none" strike="noStrike" kern="1200" cap="none" spc="0" normalizeH="0" baseline="0" noProof="0">
                          <a:ln>
                            <a:noFill/>
                          </a:ln>
                          <a:solidFill>
                            <a:srgbClr val="000000"/>
                          </a:solidFill>
                          <a:effectLst/>
                          <a:uLnTx/>
                          <a:uFillTx/>
                          <a:latin typeface="+mn-lt"/>
                          <a:ea typeface="+mn-ea"/>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57AF"/>
                          </a:solidFill>
                          <a:effectLst/>
                          <a:uLnTx/>
                          <a:uFillTx/>
                          <a:latin typeface="+mn-lt"/>
                          <a:ea typeface="+mn-ea"/>
                          <a:cs typeface="+mn-cs"/>
                        </a:rPr>
                        <a:t>IT Sourcing &amp; Procurement · CIO · CFO · EA · CHRO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5006597"/>
                  </a:ext>
                </a:extLst>
              </a:tr>
              <a:tr h="9267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Protecting enterprise data</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stop employees uploading proprietary files and PII into consumer-grade ChatGPT?”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“What gateways, CASB, DSPM, or secure browsers actually discover and block unsanctioned AI use?”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“Do our contracts guarantee our data and prompts will not be used to train the models?”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“Will ChatGPT Enterprise honor our existing SharePoint permissions when it indexes documents?”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Significant</a:t>
                      </a:r>
                      <a:br>
                        <a:rPr kumimoji="0" lang="en-US" sz="1100" b="0" i="0" u="none" strike="noStrike" kern="1200" cap="none" spc="0" normalizeH="0" baseline="0" noProof="0">
                          <a:ln>
                            <a:noFill/>
                          </a:ln>
                          <a:solidFill>
                            <a:srgbClr val="000000"/>
                          </a:solidFill>
                          <a:effectLst/>
                          <a:uLnTx/>
                          <a:uFillTx/>
                          <a:latin typeface="+mn-lt"/>
                          <a:ea typeface="+mn-ea"/>
                          <a:cs typeface="+mn-cs"/>
                        </a:rPr>
                      </a:br>
                      <a:r>
                        <a:rPr kumimoji="0" lang="en-US" sz="1100" b="0" i="0" u="none" strike="noStrike" kern="1200" cap="none" spc="0" normalizeH="0" baseline="0" noProof="0">
                          <a:ln>
                            <a:noFill/>
                          </a:ln>
                          <a:solidFill>
                            <a:srgbClr val="000000"/>
                          </a:solidFill>
                          <a:effectLst/>
                          <a:uLnTx/>
                          <a:uFillTx/>
                          <a:latin typeface="+mn-lt"/>
                          <a:ea typeface="+mn-ea"/>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57AF"/>
                          </a:solidFill>
                          <a:effectLst/>
                          <a:uLnTx/>
                          <a:uFillTx/>
                          <a:latin typeface="+mn-lt"/>
                          <a:ea typeface="+mn-ea"/>
                          <a:cs typeface="+mn-cs"/>
                        </a:rPr>
                        <a:t>CISO · Chief Compliance Officer · EA · Security Operations · D&amp;A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1789915"/>
                  </a:ext>
                </a:extLst>
              </a:tr>
              <a:tr h="92670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Governing what business users build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“Who can create, review and publish custom GPTs, and how do we enforce it?”</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control custom GPT proliferation before they meet compliance and brand standards?”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securely ground custom GPTs in proprietary and sensitive data?”</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Moderate</a:t>
                      </a:r>
                      <a:br>
                        <a:rPr lang="en-US" sz="1100"/>
                      </a:br>
                      <a:r>
                        <a:rPr lang="en-US" sz="11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0057AF"/>
                          </a:solidFill>
                          <a:effectLst/>
                          <a:uLnTx/>
                          <a:uFillTx/>
                          <a:latin typeface="+mn-lt"/>
                          <a:ea typeface="+mn-ea"/>
                          <a:cs typeface="+mn-cs"/>
                        </a:rPr>
                        <a:t>Manager · EA · CIO · CDAO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3904688"/>
                  </a:ext>
                </a:extLst>
              </a:tr>
            </a:tbl>
          </a:graphicData>
        </a:graphic>
      </p:graphicFrame>
      <p:sp>
        <p:nvSpPr>
          <p:cNvPr id="3" name="TextBox 2">
            <a:extLst>
              <a:ext uri="{FF2B5EF4-FFF2-40B4-BE49-F238E27FC236}">
                <a16:creationId xmlns:a16="http://schemas.microsoft.com/office/drawing/2014/main" id="{3886D6A7-951A-93A8-B21B-BAD4A6287D31}"/>
              </a:ext>
            </a:extLst>
          </p:cNvPr>
          <p:cNvSpPr txBox="1"/>
          <p:nvPr/>
        </p:nvSpPr>
        <p:spPr>
          <a:xfrm>
            <a:off x="0" y="6198948"/>
            <a:ext cx="12191999" cy="246221"/>
          </a:xfrm>
          <a:prstGeom prst="rect">
            <a:avLst/>
          </a:prstGeom>
          <a:noFill/>
        </p:spPr>
        <p:txBody>
          <a:bodyPr wrap="square" lIns="0" rIns="0" rtlCol="0">
            <a:sp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Gartner Sans"/>
                <a:ea typeface="+mn-ea"/>
                <a:cs typeface="+mn-cs"/>
              </a:rPr>
              <a:t>Source: Gartner end user interaction data, 2026 YTD.</a:t>
            </a:r>
          </a:p>
        </p:txBody>
      </p:sp>
    </p:spTree>
    <p:extLst>
      <p:ext uri="{BB962C8B-B14F-4D97-AF65-F5344CB8AC3E}">
        <p14:creationId xmlns:p14="http://schemas.microsoft.com/office/powerpoint/2010/main" val="417650957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1B2299-C9E6-EEAC-5BDC-76EC457279BA}"/>
            </a:ext>
          </a:extLst>
        </p:cNvPr>
        <p:cNvGrpSpPr/>
        <p:nvPr/>
      </p:nvGrpSpPr>
      <p:grpSpPr>
        <a:xfrm>
          <a:off x="0" y="0"/>
          <a:ext cx="0" cy="0"/>
          <a:chOff x="0" y="0"/>
          <a:chExt cx="0" cy="0"/>
        </a:xfrm>
      </p:grpSpPr>
      <p:sp>
        <p:nvSpPr>
          <p:cNvPr id="5" name="Title 1">
            <a:extLst>
              <a:ext uri="{FF2B5EF4-FFF2-40B4-BE49-F238E27FC236}">
                <a16:creationId xmlns:a16="http://schemas.microsoft.com/office/drawing/2014/main" id="{37506231-D710-8B14-E249-D38BB14A15D4}"/>
              </a:ext>
            </a:extLst>
          </p:cNvPr>
          <p:cNvSpPr>
            <a:spLocks noGrp="1"/>
          </p:cNvSpPr>
          <p:nvPr>
            <p:ph type="title"/>
          </p:nvPr>
        </p:nvSpPr>
        <p:spPr>
          <a:xfrm>
            <a:off x="457200" y="361950"/>
            <a:ext cx="11274552" cy="451231"/>
          </a:xfrm>
        </p:spPr>
        <p:txBody>
          <a:bodyPr/>
          <a:lstStyle/>
          <a:p>
            <a:r>
              <a:rPr lang="en-US" sz="2400"/>
              <a:t>What enterprise buyers are asking about OpenAI: </a:t>
            </a:r>
            <a:r>
              <a:rPr lang="en-US" sz="2400">
                <a:solidFill>
                  <a:srgbClr val="0057AF"/>
                </a:solidFill>
              </a:rPr>
              <a:t>Enterprise AI Coding Agents</a:t>
            </a:r>
          </a:p>
        </p:txBody>
      </p:sp>
      <p:sp>
        <p:nvSpPr>
          <p:cNvPr id="6" name="TextBox 5">
            <a:extLst>
              <a:ext uri="{FF2B5EF4-FFF2-40B4-BE49-F238E27FC236}">
                <a16:creationId xmlns:a16="http://schemas.microsoft.com/office/drawing/2014/main" id="{AB828FAD-929E-E6FA-8E66-B18E329361C0}"/>
              </a:ext>
            </a:extLst>
          </p:cNvPr>
          <p:cNvSpPr txBox="1"/>
          <p:nvPr/>
        </p:nvSpPr>
        <p:spPr>
          <a:xfrm>
            <a:off x="457199" y="761227"/>
            <a:ext cx="11274552" cy="215444"/>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57AF"/>
                </a:solidFill>
                <a:effectLst/>
                <a:uLnTx/>
                <a:uFillTx/>
                <a:latin typeface="Gartner Sans"/>
                <a:ea typeface="+mn-ea"/>
                <a:cs typeface="+mn-cs"/>
              </a:rPr>
              <a:t>Buyers are selecting a vendor, embedding agents into the SLDC, then governing and paying for what they deploy.</a:t>
            </a:r>
          </a:p>
        </p:txBody>
      </p:sp>
      <p:graphicFrame>
        <p:nvGraphicFramePr>
          <p:cNvPr id="19" name="Table 18">
            <a:extLst>
              <a:ext uri="{FF2B5EF4-FFF2-40B4-BE49-F238E27FC236}">
                <a16:creationId xmlns:a16="http://schemas.microsoft.com/office/drawing/2014/main" id="{CD6A74CB-BB2A-C03C-B55B-4AAC7162D71E}"/>
              </a:ext>
            </a:extLst>
          </p:cNvPr>
          <p:cNvGraphicFramePr>
            <a:graphicFrameLocks noGrp="1"/>
          </p:cNvGraphicFramePr>
          <p:nvPr/>
        </p:nvGraphicFramePr>
        <p:xfrm>
          <a:off x="457199" y="1341133"/>
          <a:ext cx="11274552" cy="4753896"/>
        </p:xfrm>
        <a:graphic>
          <a:graphicData uri="http://schemas.openxmlformats.org/drawingml/2006/table">
            <a:tbl>
              <a:tblPr firstRow="1" bandRow="1">
                <a:tableStyleId>{6E25E649-3F16-4E02-A733-19D2CDBF48F0}</a:tableStyleId>
              </a:tblPr>
              <a:tblGrid>
                <a:gridCol w="7719462">
                  <a:extLst>
                    <a:ext uri="{9D8B030D-6E8A-4147-A177-3AD203B41FA5}">
                      <a16:colId xmlns:a16="http://schemas.microsoft.com/office/drawing/2014/main" val="413194551"/>
                    </a:ext>
                  </a:extLst>
                </a:gridCol>
                <a:gridCol w="1111718">
                  <a:extLst>
                    <a:ext uri="{9D8B030D-6E8A-4147-A177-3AD203B41FA5}">
                      <a16:colId xmlns:a16="http://schemas.microsoft.com/office/drawing/2014/main" val="2952139194"/>
                    </a:ext>
                  </a:extLst>
                </a:gridCol>
                <a:gridCol w="2443372">
                  <a:extLst>
                    <a:ext uri="{9D8B030D-6E8A-4147-A177-3AD203B41FA5}">
                      <a16:colId xmlns:a16="http://schemas.microsoft.com/office/drawing/2014/main" val="184315823"/>
                    </a:ext>
                  </a:extLst>
                </a:gridCol>
              </a:tblGrid>
              <a:tr h="352200">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400" b="0" i="0" u="none" strike="noStrike" kern="1200" cap="none" spc="0" normalizeH="0" baseline="0" noProof="0">
                          <a:ln>
                            <a:noFill/>
                          </a:ln>
                          <a:solidFill>
                            <a:schemeClr val="bg1"/>
                          </a:solidFill>
                          <a:effectLst/>
                          <a:uLnTx/>
                          <a:uFillTx/>
                          <a:latin typeface="Gartner Sans Semibold" panose="020B0704030402040204" pitchFamily="34" charset="0"/>
                          <a:ea typeface="+mn-ea"/>
                          <a:cs typeface="+mn-cs"/>
                        </a:rPr>
                        <a:t>Theme &amp; Buyer Questions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57AF"/>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Gartner Sans Semibold" panose="020B0704030402040204" pitchFamily="34" charset="0"/>
                          <a:ea typeface="+mn-ea"/>
                          <a:cs typeface="+mn-cs"/>
                        </a:rPr>
                        <a:t>Prevalence</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57A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Gartner Sans Semibold" panose="020B0704030402040204" pitchFamily="34" charset="0"/>
                          <a:ea typeface="+mn-ea"/>
                          <a:cs typeface="+mn-cs"/>
                        </a:rPr>
                        <a:t>Roles Asking</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0057AF"/>
                    </a:solidFill>
                  </a:tcPr>
                </a:tc>
                <a:extLst>
                  <a:ext uri="{0D108BD9-81ED-4DB2-BD59-A6C34878D82A}">
                    <a16:rowId xmlns:a16="http://schemas.microsoft.com/office/drawing/2014/main" val="3827733196"/>
                  </a:ext>
                </a:extLst>
              </a:tr>
              <a:tr h="11004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Comparing coding agents and selecting a vendor</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Claude Code, GitHub Copilot, and OpenAI Codex compare on capabilities and vendor strengths?”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“We use Copilot or Codex, but Claude Code is emerging—how do we choose?”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“We have Codex but are investigating Claude—how do the two compare on cost and capability?”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Significant</a:t>
                      </a:r>
                      <a:br>
                        <a:rPr kumimoji="0" lang="en-US" sz="1100" b="0" i="0" u="none" strike="noStrike" kern="1200" cap="none" spc="0" normalizeH="0" baseline="0" noProof="0">
                          <a:ln>
                            <a:noFill/>
                          </a:ln>
                          <a:solidFill>
                            <a:srgbClr val="000000"/>
                          </a:solidFill>
                          <a:effectLst/>
                          <a:uLnTx/>
                          <a:uFillTx/>
                          <a:latin typeface="+mn-lt"/>
                          <a:ea typeface="+mn-ea"/>
                          <a:cs typeface="+mn-cs"/>
                        </a:rPr>
                      </a:br>
                      <a:r>
                        <a:rPr kumimoji="0" lang="en-US" sz="1100" b="0" i="0" u="none" strike="noStrike" kern="1200" cap="none" spc="0" normalizeH="0" baseline="0" noProof="0">
                          <a:ln>
                            <a:noFill/>
                          </a:ln>
                          <a:solidFill>
                            <a:srgbClr val="000000"/>
                          </a:solidFill>
                          <a:effectLst/>
                          <a:uLnTx/>
                          <a:uFillTx/>
                          <a:latin typeface="+mn-lt"/>
                          <a:ea typeface="+mn-ea"/>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57AF"/>
                          </a:solidFill>
                          <a:effectLst/>
                          <a:uLnTx/>
                          <a:uFillTx/>
                          <a:latin typeface="+mn-lt"/>
                          <a:ea typeface="+mn-ea"/>
                          <a:cs typeface="+mn-cs"/>
                        </a:rPr>
                        <a:t>EA · CIO · IT Infrastructure &amp; Operations · Software Engineering Management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41098055"/>
                  </a:ext>
                </a:extLst>
              </a:tr>
              <a:tr h="11004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Embedding agents into the software development lifecycle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use coding agents from requirement gathering through development and testing?”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tailor Codex to our templates, coding standards, and ways of working?”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“What are the emerging practices for legacy code modernization with coding agents?”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are others using Codex, and where does automated testing fit in?”</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mn-lt"/>
                          <a:ea typeface="+mn-ea"/>
                          <a:cs typeface="+mn-cs"/>
                        </a:rPr>
                        <a:t>Significant</a:t>
                      </a:r>
                      <a:br>
                        <a:rPr kumimoji="0" lang="en-US" sz="1100" b="0" i="0" u="none" strike="noStrike" kern="1200" cap="none" spc="0" normalizeH="0" baseline="0" noProof="0">
                          <a:ln>
                            <a:noFill/>
                          </a:ln>
                          <a:solidFill>
                            <a:srgbClr val="000000"/>
                          </a:solidFill>
                          <a:effectLst/>
                          <a:uLnTx/>
                          <a:uFillTx/>
                          <a:latin typeface="+mn-lt"/>
                          <a:ea typeface="+mn-ea"/>
                          <a:cs typeface="+mn-cs"/>
                        </a:rPr>
                      </a:br>
                      <a:r>
                        <a:rPr kumimoji="0" lang="en-US" sz="1100" b="0" i="0" u="none" strike="noStrike" kern="1200" cap="none" spc="0" normalizeH="0" baseline="0" noProof="0">
                          <a:ln>
                            <a:noFill/>
                          </a:ln>
                          <a:solidFill>
                            <a:srgbClr val="000000"/>
                          </a:solidFill>
                          <a:effectLst/>
                          <a:uLnTx/>
                          <a:uFillTx/>
                          <a:latin typeface="+mn-lt"/>
                          <a:ea typeface="+mn-ea"/>
                          <a:cs typeface="+mn-cs"/>
                        </a:rPr>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0" u="none" strike="noStrike" kern="1200" cap="none" spc="0" normalizeH="0" baseline="0" noProof="0">
                          <a:ln>
                            <a:noFill/>
                          </a:ln>
                          <a:solidFill>
                            <a:srgbClr val="0057AF"/>
                          </a:solidFill>
                          <a:effectLst/>
                          <a:uLnTx/>
                          <a:uFillTx/>
                          <a:latin typeface="+mn-lt"/>
                          <a:ea typeface="+mn-ea"/>
                          <a:cs typeface="+mn-cs"/>
                        </a:rPr>
                        <a:t>Software Engineering · EA · IT Infrastructure &amp; Operations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65006597"/>
                  </a:ext>
                </a:extLst>
              </a:tr>
              <a:tr h="11004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Governing what coding agents can reach</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deploy Codex without unlimited access to our data and file shares?”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“What risks do Codex and Copilot introduce, and what preventive measures should we take?”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“What are best practices for governing AI code-generating platforms within government agencies?”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govern and scale coding agents with zero-trust governance, and would it introduce latency?”</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Moderate</a:t>
                      </a:r>
                      <a:br>
                        <a:rPr lang="en-US" sz="1100"/>
                      </a:br>
                      <a:r>
                        <a:rPr lang="en-US" sz="11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57AF"/>
                          </a:solidFill>
                          <a:effectLst/>
                          <a:uLnTx/>
                          <a:uFillTx/>
                          <a:latin typeface="+mn-lt"/>
                          <a:ea typeface="+mn-ea"/>
                          <a:cs typeface="+mn-cs"/>
                        </a:rPr>
                        <a:t>IT/Cyber Security &amp; Risk Management · CIO · EA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1789915"/>
                  </a:ext>
                </a:extLst>
              </a:tr>
              <a:tr h="11004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Budgeting developer token spend</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budget for developer token spend as coding tools shift to consumption pricing?”</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100" b="0" i="1" u="none" strike="noStrike" kern="1200" cap="none" spc="0" normalizeH="0" baseline="0" noProof="0">
                          <a:ln>
                            <a:noFill/>
                          </a:ln>
                          <a:solidFill>
                            <a:srgbClr val="000000"/>
                          </a:solidFill>
                          <a:effectLst/>
                          <a:uLnTx/>
                          <a:uFillTx/>
                          <a:latin typeface="+mn-lt"/>
                          <a:ea typeface="+mn-ea"/>
                          <a:cs typeface="+mn-cs"/>
                        </a:rPr>
                        <a:t>“How do we track power users and optimize token transactions across the team?”</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100" b="0" i="1" u="none" strike="noStrike" kern="1200" cap="none" spc="0" normalizeH="0" baseline="0" noProof="0">
                        <a:ln>
                          <a:noFill/>
                        </a:ln>
                        <a:solidFill>
                          <a:srgbClr val="000000"/>
                        </a:solidFill>
                        <a:effectLst/>
                        <a:uLnTx/>
                        <a:uFillTx/>
                        <a:latin typeface="+mn-lt"/>
                        <a:ea typeface="+mn-ea"/>
                        <a:cs typeface="+mn-cs"/>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t>Moderate</a:t>
                      </a:r>
                      <a:br>
                        <a:rPr lang="en-US" sz="1100"/>
                      </a:br>
                      <a:r>
                        <a:rPr lang="en-US" sz="1100"/>
                        <a:t>●●○○</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57AF"/>
                          </a:solidFill>
                          <a:effectLst/>
                          <a:uLnTx/>
                          <a:uFillTx/>
                          <a:latin typeface="+mn-lt"/>
                          <a:ea typeface="+mn-ea"/>
                          <a:cs typeface="+mn-cs"/>
                        </a:rPr>
                        <a:t>IT Procurement · Software Engineering Management · CIO</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634147257"/>
                  </a:ext>
                </a:extLst>
              </a:tr>
            </a:tbl>
          </a:graphicData>
        </a:graphic>
      </p:graphicFrame>
      <p:sp>
        <p:nvSpPr>
          <p:cNvPr id="3" name="TextBox 2">
            <a:extLst>
              <a:ext uri="{FF2B5EF4-FFF2-40B4-BE49-F238E27FC236}">
                <a16:creationId xmlns:a16="http://schemas.microsoft.com/office/drawing/2014/main" id="{B46F49C0-22D9-A78B-7F55-076E5C2B6C34}"/>
              </a:ext>
            </a:extLst>
          </p:cNvPr>
          <p:cNvSpPr txBox="1"/>
          <p:nvPr/>
        </p:nvSpPr>
        <p:spPr>
          <a:xfrm>
            <a:off x="0" y="6185566"/>
            <a:ext cx="12191999" cy="246221"/>
          </a:xfrm>
          <a:prstGeom prst="rect">
            <a:avLst/>
          </a:prstGeom>
          <a:noFill/>
        </p:spPr>
        <p:txBody>
          <a:bodyPr wrap="square" lIns="0" rIns="0" rtlCol="0">
            <a:sp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000" b="0" i="1" u="none" strike="noStrike" kern="1200" cap="none" spc="0" normalizeH="0" baseline="0" noProof="0">
                <a:ln>
                  <a:noFill/>
                </a:ln>
                <a:solidFill>
                  <a:srgbClr val="000000"/>
                </a:solidFill>
                <a:effectLst/>
                <a:uLnTx/>
                <a:uFillTx/>
                <a:latin typeface="Gartner Sans"/>
                <a:ea typeface="+mn-ea"/>
                <a:cs typeface="+mn-cs"/>
              </a:rPr>
              <a:t>Source: Gartner end user interaction data, 2026 YTD.</a:t>
            </a:r>
          </a:p>
        </p:txBody>
      </p:sp>
    </p:spTree>
    <p:extLst>
      <p:ext uri="{BB962C8B-B14F-4D97-AF65-F5344CB8AC3E}">
        <p14:creationId xmlns:p14="http://schemas.microsoft.com/office/powerpoint/2010/main" val="268893061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4CB81B-80CB-874A-E6C4-93F68196A3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4518E-4B5E-0C52-4BEC-58464D74E61A}"/>
              </a:ext>
            </a:extLst>
          </p:cNvPr>
          <p:cNvSpPr>
            <a:spLocks noGrp="1"/>
          </p:cNvSpPr>
          <p:nvPr>
            <p:ph type="title"/>
          </p:nvPr>
        </p:nvSpPr>
        <p:spPr/>
        <p:txBody>
          <a:bodyPr/>
          <a:lstStyle/>
          <a:p>
            <a:r>
              <a:rPr lang="en-US" dirty="0"/>
              <a:t>Commercial friction across the five deep-dive areas</a:t>
            </a:r>
          </a:p>
        </p:txBody>
      </p:sp>
      <p:sp>
        <p:nvSpPr>
          <p:cNvPr id="19" name="TextBox 18">
            <a:extLst>
              <a:ext uri="{FF2B5EF4-FFF2-40B4-BE49-F238E27FC236}">
                <a16:creationId xmlns:a16="http://schemas.microsoft.com/office/drawing/2014/main" id="{4F4AC642-C041-BFFD-3A94-766151929F43}"/>
              </a:ext>
            </a:extLst>
          </p:cNvPr>
          <p:cNvSpPr txBox="1"/>
          <p:nvPr/>
        </p:nvSpPr>
        <p:spPr>
          <a:xfrm>
            <a:off x="457199" y="771000"/>
            <a:ext cx="11274552" cy="276999"/>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57AF"/>
                </a:solidFill>
                <a:effectLst/>
                <a:uLnTx/>
                <a:uFillTx/>
                <a:latin typeface="Gartner Sans"/>
                <a:ea typeface="+mn-ea"/>
                <a:cs typeface="+mn-cs"/>
              </a:rPr>
              <a:t>Buyer conversations, 1Q26 – July 2026 · further themes outside these five areas are in the appendix</a:t>
            </a:r>
          </a:p>
        </p:txBody>
      </p:sp>
      <p:graphicFrame>
        <p:nvGraphicFramePr>
          <p:cNvPr id="3" name="Table 2">
            <a:extLst>
              <a:ext uri="{FF2B5EF4-FFF2-40B4-BE49-F238E27FC236}">
                <a16:creationId xmlns:a16="http://schemas.microsoft.com/office/drawing/2014/main" id="{7B2E4601-6A60-D1A6-F477-F3A369516875}"/>
              </a:ext>
            </a:extLst>
          </p:cNvPr>
          <p:cNvGraphicFramePr>
            <a:graphicFrameLocks noGrp="1"/>
          </p:cNvGraphicFramePr>
          <p:nvPr/>
        </p:nvGraphicFramePr>
        <p:xfrm>
          <a:off x="457199" y="1245011"/>
          <a:ext cx="7493904" cy="4587240"/>
        </p:xfrm>
        <a:graphic>
          <a:graphicData uri="http://schemas.openxmlformats.org/drawingml/2006/table">
            <a:tbl>
              <a:tblPr firstRow="1" bandRow="1">
                <a:tableStyleId>{6E25E649-3F16-4E02-A733-19D2CDBF48F0}</a:tableStyleId>
              </a:tblPr>
              <a:tblGrid>
                <a:gridCol w="4912516">
                  <a:extLst>
                    <a:ext uri="{9D8B030D-6E8A-4147-A177-3AD203B41FA5}">
                      <a16:colId xmlns:a16="http://schemas.microsoft.com/office/drawing/2014/main" val="2793791401"/>
                    </a:ext>
                  </a:extLst>
                </a:gridCol>
                <a:gridCol w="1281733">
                  <a:extLst>
                    <a:ext uri="{9D8B030D-6E8A-4147-A177-3AD203B41FA5}">
                      <a16:colId xmlns:a16="http://schemas.microsoft.com/office/drawing/2014/main" val="1530147718"/>
                    </a:ext>
                  </a:extLst>
                </a:gridCol>
                <a:gridCol w="1299655">
                  <a:extLst>
                    <a:ext uri="{9D8B030D-6E8A-4147-A177-3AD203B41FA5}">
                      <a16:colId xmlns:a16="http://schemas.microsoft.com/office/drawing/2014/main" val="1788095609"/>
                    </a:ext>
                  </a:extLst>
                </a:gridCol>
              </a:tblGrid>
              <a:tr h="211910">
                <a:tc>
                  <a:txBody>
                    <a:bodyPr/>
                    <a:lstStyle/>
                    <a:p>
                      <a:r>
                        <a:rPr lang="en-US" sz="1200">
                          <a:solidFill>
                            <a:schemeClr val="bg1"/>
                          </a:solidFill>
                          <a:latin typeface="+mj-lt"/>
                        </a:rPr>
                        <a:t>Category/Theme</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0057AF"/>
                    </a:solidFill>
                  </a:tcPr>
                </a:tc>
                <a:tc>
                  <a:txBody>
                    <a:bodyPr/>
                    <a:lstStyle/>
                    <a:p>
                      <a:pPr algn="l"/>
                      <a:r>
                        <a:rPr lang="en-US" sz="1200">
                          <a:solidFill>
                            <a:schemeClr val="bg1"/>
                          </a:solidFill>
                          <a:latin typeface="+mj-lt"/>
                        </a:rPr>
                        <a:t>Spread</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0057AF"/>
                    </a:solidFill>
                  </a:tcPr>
                </a:tc>
                <a:tc>
                  <a:txBody>
                    <a:bodyPr/>
                    <a:lstStyle/>
                    <a:p>
                      <a:pPr algn="l"/>
                      <a:r>
                        <a:rPr lang="en-US" sz="1200">
                          <a:solidFill>
                            <a:schemeClr val="bg1"/>
                          </a:solidFill>
                          <a:latin typeface="+mj-lt"/>
                        </a:rPr>
                        <a:t>Trajectory</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rgbClr val="0057AF"/>
                    </a:solidFill>
                  </a:tcPr>
                </a:tc>
                <a:extLst>
                  <a:ext uri="{0D108BD9-81ED-4DB2-BD59-A6C34878D82A}">
                    <a16:rowId xmlns:a16="http://schemas.microsoft.com/office/drawing/2014/main" val="2832994619"/>
                  </a:ext>
                </a:extLst>
              </a:tr>
              <a:tr h="190719">
                <a:tc>
                  <a:txBody>
                    <a:bodyPr/>
                    <a:lstStyle/>
                    <a:p>
                      <a:r>
                        <a:rPr lang="en-US" sz="1100">
                          <a:latin typeface="+mj-lt"/>
                        </a:rPr>
                        <a:t>AI-native pricing and packaging</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a:latin typeface="+mj-lt"/>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a:latin typeface="+mj-lt"/>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70645077"/>
                  </a:ext>
                </a:extLst>
              </a:tr>
              <a:tr h="180124">
                <a:tc>
                  <a:txBody>
                    <a:bodyPr/>
                    <a:lstStyle/>
                    <a:p>
                      <a:r>
                        <a:rPr lang="en-US" sz="1050"/>
                        <a:t>Forced migration to AI-native tiers at renewal</a:t>
                      </a:r>
                      <a:endParaRPr lang="en-US" sz="1050">
                        <a:solidFill>
                          <a:srgbClr val="C00000"/>
                        </a:solidFill>
                      </a:endParaRPr>
                    </a:p>
                  </a:txBody>
                  <a:tcPr marL="36576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a:t>●●●○ Significant</a:t>
                      </a:r>
                      <a:endParaRPr lang="en-US" sz="1050">
                        <a:solidFill>
                          <a:srgbClr val="C00000"/>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a:solidFill>
                            <a:srgbClr val="1F96FF"/>
                          </a:solidFill>
                          <a:latin typeface="+mn-lt"/>
                        </a:rPr>
                        <a:t>✦ New</a:t>
                      </a:r>
                      <a:endParaRPr lang="en-US" sz="1050">
                        <a:solidFill>
                          <a:srgbClr val="E36135"/>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569587564"/>
                  </a:ext>
                </a:extLst>
              </a:tr>
              <a:tr h="180124">
                <a:tc>
                  <a:txBody>
                    <a:bodyPr/>
                    <a:lstStyle/>
                    <a:p>
                      <a:r>
                        <a:rPr lang="en-US" sz="1050"/>
                        <a:t>Budgeting volatility in token-based consumption</a:t>
                      </a:r>
                      <a:endParaRPr lang="en-US" sz="1050">
                        <a:solidFill>
                          <a:srgbClr val="5A798C"/>
                        </a:solidFill>
                      </a:endParaRPr>
                    </a:p>
                  </a:txBody>
                  <a:tcPr marL="36576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a:t>●●●● Pervasive</a:t>
                      </a:r>
                      <a:endParaRPr lang="en-US" sz="1050">
                        <a:solidFill>
                          <a:srgbClr val="5A798C"/>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a:solidFill>
                            <a:srgbClr val="5A798C"/>
                          </a:solidFill>
                        </a:rPr>
                        <a:t>→ Stable</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98228691"/>
                  </a:ext>
                </a:extLst>
              </a:tr>
              <a:tr h="180124">
                <a:tc>
                  <a:txBody>
                    <a:bodyPr/>
                    <a:lstStyle/>
                    <a:p>
                      <a:r>
                        <a:rPr lang="en-US" sz="1050"/>
                        <a:t>Duplicate spend with acquired platforms</a:t>
                      </a:r>
                      <a:endParaRPr lang="en-US" sz="1050">
                        <a:solidFill>
                          <a:srgbClr val="C00000"/>
                        </a:solidFill>
                      </a:endParaRPr>
                    </a:p>
                  </a:txBody>
                  <a:tcPr marL="36576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a:t>●●○○ Moderate</a:t>
                      </a:r>
                      <a:endParaRPr lang="en-US" sz="1050">
                        <a:solidFill>
                          <a:srgbClr val="C00000"/>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a:solidFill>
                            <a:srgbClr val="E36135"/>
                          </a:solidFill>
                        </a:rPr>
                        <a:t>↗ Intensifying</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44588680"/>
                  </a:ext>
                </a:extLst>
              </a:tr>
              <a:tr h="190719">
                <a:tc>
                  <a:txBody>
                    <a:bodyPr/>
                    <a:lstStyle/>
                    <a:p>
                      <a:r>
                        <a:rPr lang="en-US" sz="1100">
                          <a:latin typeface="Gartner Sans Semibold" panose="020B0704030402040204" pitchFamily="34" charset="0"/>
                        </a:rPr>
                        <a:t>Renewal cost and contract leverage</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a:latin typeface="Gartner Sans Semibold" panose="020B0704030402040204" pitchFamily="34" charset="0"/>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100">
                        <a:latin typeface="Gartner Sans Semibold" panose="020B0704030402040204" pitchFamily="34" charset="0"/>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77542965"/>
                  </a:ext>
                </a:extLst>
              </a:tr>
              <a:tr h="180124">
                <a:tc>
                  <a:txBody>
                    <a:bodyPr/>
                    <a:lstStyle/>
                    <a:p>
                      <a:r>
                        <a:rPr lang="en-US" sz="1050"/>
                        <a:t>Repricing penalties and locked spend on inflexible contracts</a:t>
                      </a:r>
                      <a:endParaRPr lang="en-US" sz="1050">
                        <a:solidFill>
                          <a:srgbClr val="5A798C"/>
                        </a:solidFill>
                      </a:endParaRPr>
                    </a:p>
                  </a:txBody>
                  <a:tcPr marL="36576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a:t>●●●● Pervasive</a:t>
                      </a:r>
                      <a:endParaRPr lang="en-US" sz="1050">
                        <a:solidFill>
                          <a:srgbClr val="5A798C"/>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a:solidFill>
                            <a:srgbClr val="5A798C"/>
                          </a:solidFill>
                        </a:rPr>
                        <a:t>→ Stable</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02727942"/>
                  </a:ext>
                </a:extLst>
              </a:tr>
              <a:tr h="180124">
                <a:tc>
                  <a:txBody>
                    <a:bodyPr/>
                    <a:lstStyle/>
                    <a:p>
                      <a:r>
                        <a:rPr lang="en-US" sz="1050"/>
                        <a:t>Opaque pricing and renewal rate escalations</a:t>
                      </a:r>
                      <a:endParaRPr lang="en-US" sz="1050">
                        <a:solidFill>
                          <a:srgbClr val="5A798C"/>
                        </a:solidFill>
                      </a:endParaRPr>
                    </a:p>
                  </a:txBody>
                  <a:tcPr marL="36576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a:t>●●●● Pervasive</a:t>
                      </a:r>
                      <a:endParaRPr lang="en-US" sz="1050">
                        <a:solidFill>
                          <a:srgbClr val="5A798C"/>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a:solidFill>
                            <a:srgbClr val="5A798C"/>
                          </a:solidFill>
                        </a:rPr>
                        <a:t>→ Stable</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78657507"/>
                  </a:ext>
                </a:extLst>
              </a:tr>
              <a:tr h="1907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Platform displacement and cost alternatives</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endParaRPr lang="en-US" sz="105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789575321"/>
                  </a:ext>
                </a:extLst>
              </a:tr>
              <a:tr h="180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Total cost of ownership and complexity driving alternative evaluation</a:t>
                      </a:r>
                      <a:endParaRPr kumimoji="0" lang="en-US" sz="1050" b="0" i="0" u="none" strike="noStrike" kern="1200" cap="none" spc="0" normalizeH="0" baseline="0" noProof="0">
                        <a:ln>
                          <a:noFill/>
                        </a:ln>
                        <a:solidFill>
                          <a:srgbClr val="C00000"/>
                        </a:solidFill>
                        <a:effectLst/>
                        <a:uLnTx/>
                        <a:uFillTx/>
                        <a:latin typeface="+mn-lt"/>
                        <a:ea typeface="+mn-ea"/>
                        <a:cs typeface="+mn-cs"/>
                      </a:endParaRPr>
                    </a:p>
                  </a:txBody>
                  <a:tcPr marL="36576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050" b="0" i="0" u="none" strike="noStrike" kern="1200" cap="none" spc="0" normalizeH="0" baseline="0" noProof="0">
                          <a:ln>
                            <a:noFill/>
                          </a:ln>
                          <a:solidFill>
                            <a:srgbClr val="000000"/>
                          </a:solidFill>
                          <a:effectLst/>
                          <a:uLnTx/>
                          <a:uFillTx/>
                          <a:latin typeface="+mn-lt"/>
                          <a:ea typeface="+mn-ea"/>
                          <a:cs typeface="+mn-cs"/>
                        </a:rPr>
                        <a:t>●●●● Pervasive</a:t>
                      </a:r>
                      <a:endParaRPr lang="en-US" sz="105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050" b="0" i="0" u="none" strike="noStrike" kern="1200" cap="none" spc="0" normalizeH="0" baseline="0" noProof="0">
                          <a:ln>
                            <a:noFill/>
                          </a:ln>
                          <a:solidFill>
                            <a:srgbClr val="E36135"/>
                          </a:solidFill>
                          <a:effectLst/>
                          <a:uLnTx/>
                          <a:uFillTx/>
                          <a:latin typeface="+mn-lt"/>
                          <a:ea typeface="+mn-ea"/>
                          <a:cs typeface="+mn-cs"/>
                        </a:rPr>
                        <a:t>↗ Intensifying</a:t>
                      </a:r>
                      <a:endParaRPr lang="en-US" sz="1050">
                        <a:solidFill>
                          <a:srgbClr val="E36135"/>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81994490"/>
                  </a:ext>
                </a:extLst>
              </a:tr>
              <a:tr h="180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Per-user cost and admin burden for smaller organizations</a:t>
                      </a:r>
                      <a:endParaRPr lang="en-US" sz="1050"/>
                    </a:p>
                  </a:txBody>
                  <a:tcPr marL="36576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t>●●○○ Moderate</a:t>
                      </a:r>
                      <a:endParaRPr lang="en-US" sz="1050">
                        <a:solidFill>
                          <a:srgbClr val="C00000"/>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050" b="0" i="0" u="none" strike="noStrike" kern="1200" cap="none" spc="0" normalizeH="0" baseline="0" noProof="0">
                          <a:ln>
                            <a:noFill/>
                          </a:ln>
                          <a:solidFill>
                            <a:srgbClr val="5A798C"/>
                          </a:solidFill>
                          <a:effectLst/>
                          <a:uLnTx/>
                          <a:uFillTx/>
                          <a:latin typeface="+mn-lt"/>
                          <a:ea typeface="+mn-ea"/>
                          <a:cs typeface="+mn-cs"/>
                        </a:rPr>
                        <a:t>→ Stable</a:t>
                      </a:r>
                      <a:endParaRPr lang="en-US" sz="105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12730380"/>
                  </a:ext>
                </a:extLst>
              </a:tr>
              <a:tr h="1907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artner Sans Semibold"/>
                          <a:ea typeface="+mn-ea"/>
                          <a:cs typeface="+mn-cs"/>
                        </a:rPr>
                        <a:t>AI business case and ROI proof gap</a:t>
                      </a: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5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5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17908571"/>
                  </a:ext>
                </a:extLst>
              </a:tr>
              <a:tr h="180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The soft-to-hard value translation gap</a:t>
                      </a:r>
                      <a:endParaRPr kumimoji="0" lang="en-US" sz="1050" b="0" i="0" u="none" strike="noStrike" kern="1200" cap="none" spc="0" normalizeH="0" baseline="0" noProof="0">
                        <a:ln>
                          <a:noFill/>
                        </a:ln>
                        <a:solidFill>
                          <a:srgbClr val="5A798C"/>
                        </a:solidFill>
                        <a:effectLst/>
                        <a:uLnTx/>
                        <a:uFillTx/>
                        <a:latin typeface="+mn-lt"/>
                        <a:ea typeface="+mn-ea"/>
                        <a:cs typeface="+mn-cs"/>
                      </a:endParaRPr>
                    </a:p>
                  </a:txBody>
                  <a:tcPr marL="36576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050" b="0" i="0" u="none" strike="noStrike" kern="1200" cap="none" spc="0" normalizeH="0" baseline="0" noProof="0">
                          <a:ln>
                            <a:noFill/>
                          </a:ln>
                          <a:solidFill>
                            <a:srgbClr val="000000"/>
                          </a:solidFill>
                          <a:effectLst/>
                          <a:uLnTx/>
                          <a:uFillTx/>
                          <a:latin typeface="+mn-lt"/>
                          <a:ea typeface="+mn-ea"/>
                          <a:cs typeface="+mn-cs"/>
                        </a:rPr>
                        <a:t>●●●● Pervasive</a:t>
                      </a:r>
                      <a:endParaRPr lang="en-US" sz="105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050" b="0" i="0" u="none" strike="noStrike" kern="1200" cap="none" spc="0" normalizeH="0" baseline="0" noProof="0">
                          <a:ln>
                            <a:noFill/>
                          </a:ln>
                          <a:solidFill>
                            <a:srgbClr val="5A798C"/>
                          </a:solidFill>
                          <a:effectLst/>
                          <a:uLnTx/>
                          <a:uFillTx/>
                          <a:latin typeface="+mn-lt"/>
                          <a:ea typeface="+mn-ea"/>
                          <a:cs typeface="+mn-cs"/>
                        </a:rPr>
                        <a:t>→ Stable</a:t>
                      </a:r>
                      <a:endParaRPr lang="en-US" sz="105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153969734"/>
                  </a:ext>
                </a:extLst>
              </a:tr>
              <a:tr h="180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mn-lt"/>
                          <a:ea typeface="+mn-ea"/>
                          <a:cs typeface="+mn-cs"/>
                        </a:rPr>
                        <a:t>Headcount demanded, productivity delivered</a:t>
                      </a:r>
                    </a:p>
                  </a:txBody>
                  <a:tcPr marL="36576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1050"/>
                        <a:t>●●●○ Significant</a:t>
                      </a:r>
                      <a:endParaRPr lang="en-US" sz="1050">
                        <a:solidFill>
                          <a:srgbClr val="C00000"/>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050" b="0" i="0" u="none" strike="noStrike" kern="1200" cap="none" spc="0" normalizeH="0" baseline="0" noProof="0">
                          <a:ln>
                            <a:noFill/>
                          </a:ln>
                          <a:solidFill>
                            <a:srgbClr val="E36135"/>
                          </a:solidFill>
                          <a:effectLst/>
                          <a:uLnTx/>
                          <a:uFillTx/>
                          <a:latin typeface="+mn-lt"/>
                          <a:ea typeface="+mn-ea"/>
                          <a:cs typeface="+mn-cs"/>
                        </a:rPr>
                        <a:t>↗ Intensifying</a:t>
                      </a:r>
                      <a:endParaRPr lang="en-US" sz="1050">
                        <a:solidFill>
                          <a:srgbClr val="E36135"/>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059226858"/>
                  </a:ext>
                </a:extLst>
              </a:tr>
              <a:tr h="180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chemeClr val="tx1"/>
                          </a:solidFill>
                          <a:effectLst/>
                          <a:uLnTx/>
                          <a:uFillTx/>
                          <a:latin typeface="+mn-lt"/>
                          <a:ea typeface="+mn-ea"/>
                          <a:cs typeface="+mn-cs"/>
                        </a:rPr>
                        <a:t>Data foundations blocking return</a:t>
                      </a:r>
                    </a:p>
                  </a:txBody>
                  <a:tcPr marL="36576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n-US" sz="1050"/>
                        <a:t>●●●○ Significant</a:t>
                      </a:r>
                      <a:endParaRPr lang="en-US" sz="1050">
                        <a:solidFill>
                          <a:srgbClr val="C00000"/>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050" b="0" i="0" u="none" strike="noStrike" kern="1200" cap="none" spc="0" normalizeH="0" baseline="0" noProof="0">
                          <a:ln>
                            <a:noFill/>
                          </a:ln>
                          <a:solidFill>
                            <a:srgbClr val="E36135"/>
                          </a:solidFill>
                          <a:effectLst/>
                          <a:uLnTx/>
                          <a:uFillTx/>
                          <a:latin typeface="+mn-lt"/>
                          <a:ea typeface="+mn-ea"/>
                          <a:cs typeface="+mn-cs"/>
                        </a:rPr>
                        <a:t>↗ Intensifying</a:t>
                      </a:r>
                      <a:endParaRPr lang="en-US" sz="1050">
                        <a:solidFill>
                          <a:srgbClr val="E36135"/>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rgbClr val="5A798C"/>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533315697"/>
                  </a:ext>
                </a:extLst>
              </a:tr>
              <a:tr h="19071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Gartner Sans Semibold" panose="020B0704030402040204" pitchFamily="34" charset="0"/>
                          <a:ea typeface="+mn-ea"/>
                          <a:cs typeface="+mn-cs"/>
                        </a:rPr>
                        <a:t>Cost-offset tactics using ServiceNow’s own tools</a:t>
                      </a:r>
                      <a:endParaRPr lang="en-US" sz="105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5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endParaRPr lang="en-US" sz="105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rgbClr val="5A798C"/>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063741779"/>
                  </a:ext>
                </a:extLst>
              </a:tr>
              <a:tr h="180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000000"/>
                          </a:solidFill>
                          <a:effectLst/>
                          <a:uLnTx/>
                          <a:uFillTx/>
                          <a:latin typeface="+mn-lt"/>
                          <a:ea typeface="+mn-ea"/>
                          <a:cs typeface="+mn-cs"/>
                        </a:rPr>
                        <a:t>Configuration workarounds to avoid license inflation</a:t>
                      </a:r>
                      <a:endParaRPr lang="en-US" sz="1050"/>
                    </a:p>
                  </a:txBody>
                  <a:tcPr marL="36576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t>●●○○ Moderate</a:t>
                      </a:r>
                      <a:endParaRPr lang="en-US" sz="1050">
                        <a:solidFill>
                          <a:srgbClr val="C00000"/>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kumimoji="0" lang="en-US" sz="1050" b="0" i="0" u="none" strike="noStrike" kern="1200" cap="none" spc="0" normalizeH="0" baseline="0" noProof="0">
                          <a:ln>
                            <a:noFill/>
                          </a:ln>
                          <a:solidFill>
                            <a:srgbClr val="5A798C"/>
                          </a:solidFill>
                          <a:effectLst/>
                          <a:uLnTx/>
                          <a:uFillTx/>
                          <a:latin typeface="+mn-lt"/>
                          <a:ea typeface="+mn-ea"/>
                          <a:cs typeface="+mn-cs"/>
                        </a:rPr>
                        <a:t>→ Stable</a:t>
                      </a:r>
                      <a:endParaRPr lang="en-US" sz="105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084881486"/>
                  </a:ext>
                </a:extLst>
              </a:tr>
              <a:tr h="18012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50"/>
                        <a:t>Fulfiller vs. business stakeholder license optimization</a:t>
                      </a:r>
                    </a:p>
                  </a:txBody>
                  <a:tcPr marL="365760">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050"/>
                        <a:t>●●●○ Significant</a:t>
                      </a:r>
                      <a:endParaRPr lang="en-US" sz="1050">
                        <a:solidFill>
                          <a:srgbClr val="5A798C"/>
                        </a:solidFill>
                      </a:endParaRPr>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kumimoji="0" lang="en-US" sz="1050" b="0" i="0" u="none" strike="noStrike" kern="1200" cap="none" spc="0" normalizeH="0" baseline="0" noProof="0">
                          <a:ln>
                            <a:noFill/>
                          </a:ln>
                          <a:solidFill>
                            <a:srgbClr val="5A798C"/>
                          </a:solidFill>
                          <a:effectLst/>
                          <a:uLnTx/>
                          <a:uFillTx/>
                          <a:latin typeface="+mn-lt"/>
                          <a:ea typeface="+mn-ea"/>
                          <a:cs typeface="+mn-cs"/>
                        </a:rPr>
                        <a:t>→ Stable</a:t>
                      </a:r>
                      <a:endParaRPr lang="en-US" sz="1050"/>
                    </a:p>
                  </a:txBody>
                  <a:tcP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451108074"/>
                  </a:ext>
                </a:extLst>
              </a:tr>
            </a:tbl>
          </a:graphicData>
        </a:graphic>
      </p:graphicFrame>
      <p:sp>
        <p:nvSpPr>
          <p:cNvPr id="6" name="TextBox 5">
            <a:extLst>
              <a:ext uri="{FF2B5EF4-FFF2-40B4-BE49-F238E27FC236}">
                <a16:creationId xmlns:a16="http://schemas.microsoft.com/office/drawing/2014/main" id="{575FFA6C-3E66-822A-862F-83FA8E8D377C}"/>
              </a:ext>
            </a:extLst>
          </p:cNvPr>
          <p:cNvSpPr txBox="1"/>
          <p:nvPr/>
        </p:nvSpPr>
        <p:spPr>
          <a:xfrm>
            <a:off x="457199" y="6029263"/>
            <a:ext cx="11274552" cy="246221"/>
          </a:xfrm>
          <a:prstGeom prst="rect">
            <a:avLst/>
          </a:prstGeom>
          <a:noFill/>
        </p:spPr>
        <p:txBody>
          <a:bodyPr wrap="square" lIns="0" rIns="0" rtlCol="0">
            <a:sp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000" b="0" i="1" u="none" strike="noStrike" kern="1200" cap="none" spc="0" normalizeH="0" baseline="0" noProof="0" dirty="0">
                <a:ln>
                  <a:noFill/>
                </a:ln>
                <a:solidFill>
                  <a:srgbClr val="5A798C"/>
                </a:solidFill>
                <a:effectLst/>
                <a:uLnTx/>
                <a:uFillTx/>
                <a:latin typeface="Gartner Sans"/>
                <a:ea typeface="+mn-ea"/>
                <a:cs typeface="+mn-cs"/>
              </a:rPr>
              <a:t>Spread: Pervasive / Significant / Moderate / Niche. Trajectory compares 1Q26, 2Q26 and partial 3Q26 (July only).</a:t>
            </a:r>
          </a:p>
        </p:txBody>
      </p:sp>
      <p:sp>
        <p:nvSpPr>
          <p:cNvPr id="8" name="Rectangle 7">
            <a:extLst>
              <a:ext uri="{FF2B5EF4-FFF2-40B4-BE49-F238E27FC236}">
                <a16:creationId xmlns:a16="http://schemas.microsoft.com/office/drawing/2014/main" id="{C42B1AC4-FD7C-C7EB-0A23-05220EE7C795}"/>
              </a:ext>
            </a:extLst>
          </p:cNvPr>
          <p:cNvSpPr/>
          <p:nvPr/>
        </p:nvSpPr>
        <p:spPr>
          <a:xfrm>
            <a:off x="8475606" y="1384364"/>
            <a:ext cx="3256145" cy="4089271"/>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Gartner Sans Semibold" panose="020B0704030402040204" pitchFamily="34" charset="0"/>
                <a:ea typeface="+mn-ea"/>
                <a:cs typeface="+mn-cs"/>
              </a:rPr>
              <a:t>What this means for the session</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srgbClr val="000000"/>
              </a:solidFill>
              <a:effectLst/>
              <a:uLnTx/>
              <a:uFillTx/>
              <a:latin typeface="Gartner San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Gartner Sans Medium" panose="020B0604030402040204" pitchFamily="34" charset="0"/>
                <a:ea typeface="+mn-ea"/>
                <a:cs typeface="+mn-cs"/>
              </a:rPr>
              <a:t>Go deepest on renewal mechanics and TCO</a:t>
            </a:r>
            <a:br>
              <a:rPr kumimoji="0" lang="en-US" sz="1200" b="0" i="0" u="none" strike="noStrike" kern="1200" cap="none" spc="0" normalizeH="0" baseline="0" noProof="0" dirty="0">
                <a:ln>
                  <a:noFill/>
                </a:ln>
                <a:solidFill>
                  <a:srgbClr val="000000"/>
                </a:solidFill>
                <a:effectLst/>
                <a:uLnTx/>
                <a:uFillTx/>
                <a:latin typeface="Gartner Sans"/>
                <a:ea typeface="+mn-ea"/>
                <a:cs typeface="+mn-cs"/>
              </a:rPr>
            </a:br>
            <a:r>
              <a:rPr kumimoji="0" lang="en-US" sz="1200" b="0" i="0" u="none" strike="noStrike" kern="1200" cap="none" spc="0" normalizeH="0" baseline="0" noProof="0" dirty="0">
                <a:ln>
                  <a:noFill/>
                </a:ln>
                <a:solidFill>
                  <a:srgbClr val="5A798C"/>
                </a:solidFill>
                <a:effectLst/>
                <a:uLnTx/>
                <a:uFillTx/>
                <a:latin typeface="Gartner Sans"/>
                <a:ea typeface="+mn-ea"/>
                <a:cs typeface="+mn-cs"/>
              </a:rPr>
              <a:t>Widest and most durable signal, steady across all three quarters.</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Gartner San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Gartner Sans Medium" panose="020B0604030402040204" pitchFamily="34" charset="0"/>
                <a:ea typeface="+mn-ea"/>
                <a:cs typeface="+mn-cs"/>
              </a:rPr>
              <a:t>Treat AI-native pricing as still forming</a:t>
            </a:r>
            <a:br>
              <a:rPr kumimoji="0" lang="en-US" sz="1200" b="0" i="0" u="none" strike="noStrike" kern="1200" cap="none" spc="0" normalizeH="0" baseline="0" noProof="0" dirty="0">
                <a:ln>
                  <a:noFill/>
                </a:ln>
                <a:solidFill>
                  <a:srgbClr val="000000"/>
                </a:solidFill>
                <a:effectLst/>
                <a:uLnTx/>
                <a:uFillTx/>
                <a:latin typeface="Gartner Sans"/>
                <a:ea typeface="+mn-ea"/>
                <a:cs typeface="+mn-cs"/>
              </a:rPr>
            </a:br>
            <a:r>
              <a:rPr kumimoji="0" lang="en-US" sz="1200" b="0" i="0" u="none" strike="noStrike" kern="1200" cap="none" spc="0" normalizeH="0" baseline="0" noProof="0" dirty="0">
                <a:ln>
                  <a:noFill/>
                </a:ln>
                <a:solidFill>
                  <a:srgbClr val="5A798C"/>
                </a:solidFill>
                <a:effectLst/>
                <a:uLnTx/>
                <a:uFillTx/>
                <a:latin typeface="Gartner Sans"/>
                <a:ea typeface="+mn-ea"/>
                <a:cs typeface="+mn-cs"/>
              </a:rPr>
              <a:t>Fastest-moving area; conclusions are provisional and may shift by 4Q26</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Gartner San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000000"/>
                </a:solidFill>
                <a:effectLst/>
                <a:uLnTx/>
                <a:uFillTx/>
                <a:latin typeface="Gartner Sans Medium" panose="020B0604030402040204" pitchFamily="34" charset="0"/>
                <a:ea typeface="+mn-ea"/>
                <a:cs typeface="+mn-cs"/>
              </a:rPr>
              <a:t>Use the ROI proof gap is broader than the last briefing suggested</a:t>
            </a:r>
            <a:br>
              <a:rPr kumimoji="0" lang="en-US" sz="1200" b="0" i="0" u="none" strike="noStrike" kern="1200" cap="none" spc="0" normalizeH="0" baseline="0" noProof="0" dirty="0">
                <a:ln>
                  <a:noFill/>
                </a:ln>
                <a:solidFill>
                  <a:srgbClr val="000000"/>
                </a:solidFill>
                <a:effectLst/>
                <a:uLnTx/>
                <a:uFillTx/>
                <a:latin typeface="Gartner Sans"/>
                <a:ea typeface="+mn-ea"/>
                <a:cs typeface="+mn-cs"/>
              </a:rPr>
            </a:br>
            <a:r>
              <a:rPr kumimoji="0" lang="en-US" sz="1200" b="0" i="0" u="none" strike="noStrike" kern="1200" cap="none" spc="0" normalizeH="0" baseline="0" noProof="0" dirty="0">
                <a:ln>
                  <a:noFill/>
                </a:ln>
                <a:solidFill>
                  <a:srgbClr val="5A798C"/>
                </a:solidFill>
                <a:effectLst/>
                <a:uLnTx/>
                <a:uFillTx/>
                <a:latin typeface="Gartner Sans"/>
                <a:ea typeface="+mn-ea"/>
                <a:cs typeface="+mn-cs"/>
              </a:rPr>
              <a:t>A dedicated pass surfaced three distinct themes, one of them pervasive.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000000"/>
              </a:solidFill>
              <a:effectLst/>
              <a:uLnTx/>
              <a:uFillTx/>
              <a:latin typeface="Gartner San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5A798C"/>
                </a:solidFill>
                <a:effectLst/>
                <a:uLnTx/>
                <a:uFillTx/>
                <a:latin typeface="Gartner Sans"/>
                <a:ea typeface="+mn-ea"/>
                <a:cs typeface="+mn-cs"/>
              </a:rPr>
              <a:t>Themes touching negotiation leverage are flagged for analyst review before any external use.</a:t>
            </a:r>
          </a:p>
        </p:txBody>
      </p:sp>
    </p:spTree>
    <p:extLst>
      <p:ext uri="{BB962C8B-B14F-4D97-AF65-F5344CB8AC3E}">
        <p14:creationId xmlns:p14="http://schemas.microsoft.com/office/powerpoint/2010/main" val="332614061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A21C75-5046-5074-FBEA-096DFB803465}"/>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482BCA59-2E58-18CB-0BF2-2CFC346596FE}"/>
              </a:ext>
            </a:extLst>
          </p:cNvPr>
          <p:cNvSpPr>
            <a:spLocks noGrp="1"/>
          </p:cNvSpPr>
          <p:nvPr>
            <p:ph type="title"/>
          </p:nvPr>
        </p:nvSpPr>
        <p:spPr>
          <a:xfrm>
            <a:off x="457200" y="361950"/>
            <a:ext cx="11274552" cy="451231"/>
          </a:xfrm>
        </p:spPr>
        <p:txBody>
          <a:bodyPr/>
          <a:lstStyle/>
          <a:p>
            <a:r>
              <a:rPr lang="en-US" dirty="0"/>
              <a:t>AI-native pricing and packaging</a:t>
            </a:r>
          </a:p>
        </p:txBody>
      </p:sp>
      <p:sp>
        <p:nvSpPr>
          <p:cNvPr id="7" name="TextBox 6">
            <a:extLst>
              <a:ext uri="{FF2B5EF4-FFF2-40B4-BE49-F238E27FC236}">
                <a16:creationId xmlns:a16="http://schemas.microsoft.com/office/drawing/2014/main" id="{163B90AD-6AA0-FC7C-6E22-98B541544446}"/>
              </a:ext>
            </a:extLst>
          </p:cNvPr>
          <p:cNvSpPr txBox="1"/>
          <p:nvPr/>
        </p:nvSpPr>
        <p:spPr>
          <a:xfrm>
            <a:off x="457199" y="771000"/>
            <a:ext cx="11274552" cy="24622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57AF"/>
                </a:solidFill>
                <a:effectLst/>
                <a:uLnTx/>
                <a:uFillTx/>
                <a:latin typeface="Gartner Sans"/>
                <a:ea typeface="+mn-ea"/>
                <a:cs typeface="+mn-cs"/>
              </a:rPr>
              <a:t>Buyers are moving onto AI-embedded tiers faster than they can model the cost</a:t>
            </a:r>
          </a:p>
        </p:txBody>
      </p:sp>
      <p:graphicFrame>
        <p:nvGraphicFramePr>
          <p:cNvPr id="14" name="Content Placeholder 13">
            <a:extLst>
              <a:ext uri="{FF2B5EF4-FFF2-40B4-BE49-F238E27FC236}">
                <a16:creationId xmlns:a16="http://schemas.microsoft.com/office/drawing/2014/main" id="{7CD0B6E0-6AF5-519F-C7D9-6FA0BC5ECBB5}"/>
              </a:ext>
            </a:extLst>
          </p:cNvPr>
          <p:cNvGraphicFramePr>
            <a:graphicFrameLocks noGrp="1"/>
          </p:cNvGraphicFramePr>
          <p:nvPr>
            <p:ph sz="half" idx="1"/>
          </p:nvPr>
        </p:nvGraphicFramePr>
        <p:xfrm>
          <a:off x="457199" y="1312319"/>
          <a:ext cx="11274549" cy="4620019"/>
        </p:xfrm>
        <a:graphic>
          <a:graphicData uri="http://schemas.openxmlformats.org/drawingml/2006/table">
            <a:tbl>
              <a:tblPr bandRow="1">
                <a:tableStyleId>{6E25E649-3F16-4E02-A733-19D2CDBF48F0}</a:tableStyleId>
              </a:tblPr>
              <a:tblGrid>
                <a:gridCol w="3758183">
                  <a:extLst>
                    <a:ext uri="{9D8B030D-6E8A-4147-A177-3AD203B41FA5}">
                      <a16:colId xmlns:a16="http://schemas.microsoft.com/office/drawing/2014/main" val="2115640825"/>
                    </a:ext>
                  </a:extLst>
                </a:gridCol>
                <a:gridCol w="3758183">
                  <a:extLst>
                    <a:ext uri="{9D8B030D-6E8A-4147-A177-3AD203B41FA5}">
                      <a16:colId xmlns:a16="http://schemas.microsoft.com/office/drawing/2014/main" val="321892266"/>
                    </a:ext>
                  </a:extLst>
                </a:gridCol>
                <a:gridCol w="3758183">
                  <a:extLst>
                    <a:ext uri="{9D8B030D-6E8A-4147-A177-3AD203B41FA5}">
                      <a16:colId xmlns:a16="http://schemas.microsoft.com/office/drawing/2014/main" val="1553774025"/>
                    </a:ext>
                  </a:extLst>
                </a:gridCol>
              </a:tblGrid>
              <a:tr h="657241">
                <a:tc>
                  <a:txBody>
                    <a:bodyPr/>
                    <a:lstStyle/>
                    <a:p>
                      <a:r>
                        <a:rPr lang="en-US" sz="1600" dirty="0">
                          <a:solidFill>
                            <a:srgbClr val="002869"/>
                          </a:solidFill>
                          <a:latin typeface="Gartner Sans Semibold" panose="020B0704030402040204" pitchFamily="34" charset="0"/>
                        </a:rPr>
                        <a:t>Forced migration to AI-native tiers at renewals</a:t>
                      </a:r>
                      <a:endParaRPr lang="en-US" sz="1600" dirty="0">
                        <a:solidFill>
                          <a:srgbClr val="002869"/>
                        </a:solidFill>
                      </a:endParaRPr>
                    </a:p>
                  </a:txBody>
                  <a:tcPr>
                    <a:lnL w="9525" cap="flat" cmpd="sng" algn="ctr">
                      <a:noFill/>
                      <a:prstDash val="solid"/>
                      <a:round/>
                      <a:headEnd type="none" w="med" len="med"/>
                      <a:tailEnd type="none" w="med" len="med"/>
                    </a:lnL>
                    <a:lnR w="9525" cap="flat" cmpd="sng" algn="ctr">
                      <a:solidFill>
                        <a:srgbClr val="5A798C"/>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kumimoji="0" lang="en-US" sz="1600" b="0" i="0" u="none" strike="noStrike" kern="1200" cap="none" spc="0" normalizeH="0" baseline="0" noProof="0" dirty="0">
                          <a:ln>
                            <a:noFill/>
                          </a:ln>
                          <a:solidFill>
                            <a:srgbClr val="002869"/>
                          </a:solidFill>
                          <a:effectLst/>
                          <a:uLnTx/>
                          <a:uFillTx/>
                          <a:latin typeface="Gartner Sans Semibold" panose="020B0704030402040204" pitchFamily="34" charset="0"/>
                          <a:ea typeface="+mn-ea"/>
                          <a:cs typeface="+mn-cs"/>
                        </a:rPr>
                        <a:t>Budgeting volatility in token-based consumption</a:t>
                      </a:r>
                      <a:endParaRPr lang="en-US" sz="1600" dirty="0">
                        <a:solidFill>
                          <a:srgbClr val="002869"/>
                        </a:solidFill>
                      </a:endParaRPr>
                    </a:p>
                  </a:txBody>
                  <a:tcPr>
                    <a:lnL w="9525" cap="flat" cmpd="sng" algn="ctr">
                      <a:solidFill>
                        <a:srgbClr val="5A798C"/>
                      </a:solidFill>
                      <a:prstDash val="solid"/>
                      <a:round/>
                      <a:headEnd type="none" w="med" len="med"/>
                      <a:tailEnd type="none" w="med" len="med"/>
                    </a:lnL>
                    <a:lnR w="9525" cap="flat" cmpd="sng" algn="ctr">
                      <a:solidFill>
                        <a:srgbClr val="5A798C"/>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r>
                        <a:rPr lang="en-US" sz="1600" dirty="0">
                          <a:solidFill>
                            <a:srgbClr val="002869"/>
                          </a:solidFill>
                          <a:latin typeface="Gartner Sans Semibold" panose="020B0704030402040204" pitchFamily="34" charset="0"/>
                        </a:rPr>
                        <a:t>Duplicate spend with acquired platforms</a:t>
                      </a:r>
                      <a:endParaRPr lang="en-US" sz="1600" dirty="0">
                        <a:solidFill>
                          <a:srgbClr val="002869"/>
                        </a:solidFill>
                      </a:endParaRPr>
                    </a:p>
                  </a:txBody>
                  <a:tcPr>
                    <a:lnL w="9525" cap="flat" cmpd="sng" algn="ctr">
                      <a:solidFill>
                        <a:srgbClr val="5A798C"/>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25940341"/>
                  </a:ext>
                </a:extLst>
              </a:tr>
              <a:tr h="328621">
                <a:tc>
                  <a:txBody>
                    <a:bodyPr/>
                    <a:lstStyle/>
                    <a:p>
                      <a:pPr marL="0" indent="0">
                        <a:spcBef>
                          <a:spcPts val="0"/>
                        </a:spcBef>
                        <a:buSzTx/>
                        <a:buFont typeface="Arial" panose="020B0604020202020204" pitchFamily="34" charset="0"/>
                        <a:buNone/>
                        <a:defRPr/>
                      </a:pPr>
                      <a:r>
                        <a:rPr lang="en-US" sz="1200" dirty="0">
                          <a:solidFill>
                            <a:srgbClr val="000000"/>
                          </a:solidFill>
                          <a:latin typeface="+mn-lt"/>
                        </a:rPr>
                        <a:t>●●●○ Significant </a:t>
                      </a:r>
                      <a:r>
                        <a:rPr lang="en-US" sz="1200" dirty="0">
                          <a:latin typeface="Gartner Sans" panose="020B0504030402040204" pitchFamily="34" charset="0"/>
                        </a:rPr>
                        <a:t>·</a:t>
                      </a:r>
                      <a:r>
                        <a:rPr lang="en-US" sz="1200" dirty="0">
                          <a:solidFill>
                            <a:srgbClr val="000000"/>
                          </a:solidFill>
                          <a:latin typeface="+mn-lt"/>
                        </a:rPr>
                        <a:t> </a:t>
                      </a:r>
                      <a:r>
                        <a:rPr lang="en-US" sz="1200" dirty="0">
                          <a:solidFill>
                            <a:srgbClr val="1F96FF"/>
                          </a:solidFill>
                          <a:latin typeface="+mn-lt"/>
                        </a:rPr>
                        <a:t>✦ New</a:t>
                      </a:r>
                    </a:p>
                  </a:txBody>
                  <a:tcPr>
                    <a:lnL w="9525" cap="flat" cmpd="sng" algn="ctr">
                      <a:noFill/>
                      <a:prstDash val="solid"/>
                      <a:round/>
                      <a:headEnd type="none" w="med" len="med"/>
                      <a:tailEnd type="none" w="med" len="med"/>
                    </a:lnL>
                    <a:lnR w="9525" cap="flat" cmpd="sng" algn="ctr">
                      <a:solidFill>
                        <a:srgbClr val="5A798C"/>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lvl="0" indent="0">
                        <a:spcBef>
                          <a:spcPts val="0"/>
                        </a:spcBef>
                        <a:buSzTx/>
                        <a:buNone/>
                        <a:defRPr/>
                      </a:pPr>
                      <a:r>
                        <a:rPr lang="en-US" sz="1200" dirty="0">
                          <a:solidFill>
                            <a:srgbClr val="000000"/>
                          </a:solidFill>
                          <a:latin typeface="+mn-lt"/>
                        </a:rPr>
                        <a:t>●●●● Pervasive </a:t>
                      </a:r>
                      <a:r>
                        <a:rPr lang="en-US" sz="1200" dirty="0">
                          <a:latin typeface="Gartner Sans" panose="020B0504030402040204" pitchFamily="34" charset="0"/>
                        </a:rPr>
                        <a:t>·</a:t>
                      </a:r>
                      <a:r>
                        <a:rPr kumimoji="0" lang="en-US" sz="1200" b="0" i="0" u="none" strike="noStrike" kern="1200" cap="none" spc="0" normalizeH="0" baseline="0" noProof="0" dirty="0">
                          <a:ln>
                            <a:noFill/>
                          </a:ln>
                          <a:solidFill>
                            <a:srgbClr val="000000"/>
                          </a:solidFill>
                          <a:effectLst/>
                          <a:uLnTx/>
                          <a:uFillTx/>
                          <a:latin typeface="+mn-lt"/>
                          <a:ea typeface="+mn-ea"/>
                          <a:cs typeface="+mn-cs"/>
                        </a:rPr>
                        <a:t> </a:t>
                      </a:r>
                      <a:r>
                        <a:rPr kumimoji="0" lang="en-US" sz="1200" b="0" i="0" u="none" strike="noStrike" kern="1200" cap="none" spc="0" normalizeH="0" baseline="0" noProof="0" dirty="0">
                          <a:ln>
                            <a:noFill/>
                          </a:ln>
                          <a:solidFill>
                            <a:srgbClr val="5A798C"/>
                          </a:solidFill>
                          <a:effectLst/>
                          <a:uLnTx/>
                          <a:uFillTx/>
                          <a:latin typeface="+mn-lt"/>
                          <a:ea typeface="+mn-ea"/>
                          <a:cs typeface="+mn-cs"/>
                        </a:rPr>
                        <a:t>→ Stable</a:t>
                      </a:r>
                    </a:p>
                  </a:txBody>
                  <a:tcPr>
                    <a:lnL w="9525" cap="flat" cmpd="sng" algn="ctr">
                      <a:solidFill>
                        <a:srgbClr val="5A798C"/>
                      </a:solidFill>
                      <a:prstDash val="solid"/>
                      <a:round/>
                      <a:headEnd type="none" w="med" len="med"/>
                      <a:tailEnd type="none" w="med" len="med"/>
                    </a:lnL>
                    <a:lnR w="9525" cap="flat" cmpd="sng" algn="ctr">
                      <a:solidFill>
                        <a:srgbClr val="5A798C"/>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spcBef>
                          <a:spcPts val="0"/>
                        </a:spcBef>
                        <a:buSzTx/>
                        <a:buFont typeface="Arial" panose="020B0604020202020204" pitchFamily="34" charset="0"/>
                        <a:buNone/>
                        <a:defRPr/>
                      </a:pPr>
                      <a:r>
                        <a:rPr lang="en-US" sz="1200" dirty="0">
                          <a:solidFill>
                            <a:srgbClr val="000000"/>
                          </a:solidFill>
                          <a:latin typeface="+mn-lt"/>
                        </a:rPr>
                        <a:t>●●○○ Moderate </a:t>
                      </a:r>
                      <a:r>
                        <a:rPr lang="en-US" sz="1200" dirty="0">
                          <a:solidFill>
                            <a:srgbClr val="000000"/>
                          </a:solidFill>
                          <a:latin typeface="Gartner Sans" panose="020B0504030402040204" pitchFamily="34" charset="0"/>
                        </a:rPr>
                        <a:t>·</a:t>
                      </a:r>
                      <a:r>
                        <a:rPr lang="en-US" sz="1200" dirty="0">
                          <a:solidFill>
                            <a:srgbClr val="000000"/>
                          </a:solidFill>
                          <a:latin typeface="+mn-lt"/>
                        </a:rPr>
                        <a:t> </a:t>
                      </a:r>
                      <a:r>
                        <a:rPr lang="en-US" sz="1200" dirty="0">
                          <a:solidFill>
                            <a:srgbClr val="E36135"/>
                          </a:solidFill>
                          <a:latin typeface="+mn-lt"/>
                        </a:rPr>
                        <a:t>↗ Intensifying</a:t>
                      </a:r>
                      <a:endParaRPr lang="en-US" sz="1200" dirty="0">
                        <a:solidFill>
                          <a:srgbClr val="DE0A01"/>
                        </a:solidFill>
                        <a:latin typeface="+mn-lt"/>
                      </a:endParaRPr>
                    </a:p>
                  </a:txBody>
                  <a:tcPr>
                    <a:lnL w="9525" cap="flat" cmpd="sng" algn="ctr">
                      <a:solidFill>
                        <a:srgbClr val="5A798C"/>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69844695"/>
                  </a:ext>
                </a:extLst>
              </a:tr>
              <a:tr h="2880263">
                <a:tc>
                  <a:txBody>
                    <a:bodyPr/>
                    <a:lstStyle/>
                    <a:p>
                      <a:pPr marL="0" indent="0">
                        <a:spcBef>
                          <a:spcPts val="0"/>
                        </a:spcBef>
                        <a:buFont typeface="Arial" panose="020B0604020202020204" pitchFamily="34" charset="0"/>
                        <a:buNone/>
                      </a:pPr>
                      <a:r>
                        <a:rPr lang="en-US" sz="1200" dirty="0">
                          <a:latin typeface="Gartner Sans" panose="020B0504030402040204" pitchFamily="34" charset="0"/>
                        </a:rPr>
                        <a:t>Account teams are using renewals to move legacy Standard, Professional and Professional Plus licenses onto the Foundation, Advanced and Prime tiers, with the transition framed as mandatory. The concern is absent from 1Q26—the tiers launched in April 2026.</a:t>
                      </a:r>
                    </a:p>
                    <a:p>
                      <a:pPr marL="0" indent="0">
                        <a:spcBef>
                          <a:spcPts val="0"/>
                        </a:spcBef>
                        <a:buFont typeface="Arial" panose="020B0604020202020204" pitchFamily="34" charset="0"/>
                        <a:buNone/>
                      </a:pPr>
                      <a:endParaRPr lang="en-US" sz="1200" dirty="0">
                        <a:latin typeface="Gartner Sans" panose="020B0504030402040204" pitchFamily="34" charset="0"/>
                      </a:endParaRPr>
                    </a:p>
                    <a:p>
                      <a:pPr marL="0" indent="0">
                        <a:spcBef>
                          <a:spcPts val="0"/>
                        </a:spcBef>
                        <a:buFont typeface="Arial" panose="020B0604020202020204" pitchFamily="34" charset="0"/>
                        <a:buNone/>
                      </a:pPr>
                      <a:r>
                        <a:rPr lang="en-US" sz="1200" dirty="0">
                          <a:latin typeface="Gartner Sans" panose="020B0504030402040204" pitchFamily="34" charset="0"/>
                        </a:rPr>
                        <a:t>Buyers report no written timeline for legacy SKU discontinuation, which they read as manufactured urgency rather than a product decision.</a:t>
                      </a:r>
                    </a:p>
                    <a:p>
                      <a:pPr marL="0" indent="0">
                        <a:spcBef>
                          <a:spcPts val="0"/>
                        </a:spcBef>
                        <a:buFont typeface="Arial" panose="020B0604020202020204" pitchFamily="34" charset="0"/>
                        <a:buNone/>
                      </a:pPr>
                      <a:endParaRPr lang="en-US" sz="1200" dirty="0">
                        <a:latin typeface="Gartner Sans" panose="020B0504030402040204" pitchFamily="34" charset="0"/>
                      </a:endParaRPr>
                    </a:p>
                    <a:p>
                      <a:pPr marL="0" indent="0">
                        <a:spcBef>
                          <a:spcPts val="0"/>
                        </a:spcBef>
                        <a:buFont typeface="Arial" panose="020B0604020202020204" pitchFamily="34" charset="0"/>
                        <a:buNone/>
                      </a:pPr>
                      <a:r>
                        <a:rPr lang="en-US" sz="1200" dirty="0">
                          <a:latin typeface="Gartner Sans" panose="020B0504030402040204" pitchFamily="34" charset="0"/>
                        </a:rPr>
                        <a:t>The new tiers enforce wall-to-wall licensing across all active fulfillers, removing the ability buyers previously had to license AI only where it was needed.</a:t>
                      </a:r>
                    </a:p>
                  </a:txBody>
                  <a:tcPr>
                    <a:lnL w="9525" cap="flat" cmpd="sng" algn="ctr">
                      <a:noFill/>
                      <a:prstDash val="solid"/>
                      <a:round/>
                      <a:headEnd type="none" w="med" len="med"/>
                      <a:tailEnd type="none" w="med" len="med"/>
                    </a:lnL>
                    <a:lnR w="9525" cap="flat" cmpd="sng" algn="ctr">
                      <a:solidFill>
                        <a:srgbClr val="5A798C"/>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Gartner Sans" panose="020B0504030402040204" pitchFamily="34" charset="0"/>
                          <a:ea typeface="+mn-ea"/>
                          <a:cs typeface="+mn-cs"/>
                        </a:rPr>
                        <a:t>The shift from seat-based licensing to assist and token consumption makes spend hard to forecast; buyers report it is impractical to predict how many credits a given workflow will draw.</a:t>
                      </a: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Gartner Sans" panose="020B050403040204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Gartner Sans" panose="020B0504030402040204" pitchFamily="34" charset="0"/>
                          <a:ea typeface="+mn-ea"/>
                          <a:cs typeface="+mn-cs"/>
                        </a:rPr>
                        <a:t>The sharpest contractual objection is SN’s ability to change token-to-action ratios mid-contract, which can devalue credit blocks already purchased.</a:t>
                      </a: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endParaRPr kumimoji="0" lang="en-US" sz="1200" b="0" i="0" u="none" strike="noStrike" kern="1200" cap="none" spc="0" normalizeH="0" baseline="0" noProof="0" dirty="0">
                        <a:ln>
                          <a:noFill/>
                        </a:ln>
                        <a:solidFill>
                          <a:srgbClr val="000000"/>
                        </a:solidFill>
                        <a:effectLst/>
                        <a:uLnTx/>
                        <a:uFillTx/>
                        <a:latin typeface="Gartner Sans" panose="020B050403040204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200" b="0" i="0" u="none" strike="noStrike" kern="1200" cap="none" spc="0" normalizeH="0" baseline="0" noProof="0" dirty="0">
                          <a:ln>
                            <a:noFill/>
                          </a:ln>
                          <a:solidFill>
                            <a:srgbClr val="000000"/>
                          </a:solidFill>
                          <a:effectLst/>
                          <a:uLnTx/>
                          <a:uFillTx/>
                          <a:latin typeface="Gartner Sans" panose="020B0504030402040204" pitchFamily="34" charset="0"/>
                          <a:ea typeface="+mn-ea"/>
                          <a:cs typeface="+mn-cs"/>
                        </a:rPr>
                        <a:t>Buyers expect exposure to unbudgeted overage once pre-allocated drawdown pools are exhausted, with no cap on what follows.</a:t>
                      </a:r>
                    </a:p>
                  </a:txBody>
                  <a:tcPr>
                    <a:lnL w="9525" cap="flat" cmpd="sng" algn="ctr">
                      <a:solidFill>
                        <a:srgbClr val="5A798C"/>
                      </a:solidFill>
                      <a:prstDash val="solid"/>
                      <a:round/>
                      <a:headEnd type="none" w="med" len="med"/>
                      <a:tailEnd type="none" w="med" len="med"/>
                    </a:lnL>
                    <a:lnR w="9525" cap="flat" cmpd="sng" algn="ctr">
                      <a:solidFill>
                        <a:srgbClr val="5A798C"/>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indent="0">
                        <a:spcBef>
                          <a:spcPts val="0"/>
                        </a:spcBef>
                        <a:buFont typeface="Arial" panose="020B0604020202020204" pitchFamily="34" charset="0"/>
                        <a:buNone/>
                        <a:defRPr/>
                      </a:pPr>
                      <a:r>
                        <a:rPr lang="en-US" sz="1200" dirty="0">
                          <a:solidFill>
                            <a:srgbClr val="000000"/>
                          </a:solidFill>
                          <a:latin typeface="Gartner Sans" panose="020B0504030402040204" pitchFamily="34" charset="0"/>
                        </a:rPr>
                        <a:t>Buyers holding standalone multi-year Moveworks contracts face pricing friction at SN renewal, because Prime and Advanced bundle conversational AI by default.</a:t>
                      </a:r>
                    </a:p>
                    <a:p>
                      <a:pPr marL="0" indent="0">
                        <a:spcBef>
                          <a:spcPts val="0"/>
                        </a:spcBef>
                        <a:buFont typeface="Arial" panose="020B0604020202020204" pitchFamily="34" charset="0"/>
                        <a:buNone/>
                        <a:defRPr/>
                      </a:pPr>
                      <a:endParaRPr lang="en-US" sz="1200" dirty="0">
                        <a:solidFill>
                          <a:srgbClr val="000000"/>
                        </a:solidFill>
                        <a:latin typeface="Gartner Sans" panose="020B0504030402040204" pitchFamily="34" charset="0"/>
                      </a:endParaRPr>
                    </a:p>
                    <a:p>
                      <a:pPr marL="0" indent="0">
                        <a:spcBef>
                          <a:spcPts val="0"/>
                        </a:spcBef>
                        <a:buFont typeface="Arial" panose="020B0604020202020204" pitchFamily="34" charset="0"/>
                        <a:buNone/>
                        <a:defRPr/>
                      </a:pPr>
                      <a:r>
                        <a:rPr lang="en-US" sz="1200" dirty="0">
                          <a:solidFill>
                            <a:srgbClr val="000000"/>
                          </a:solidFill>
                          <a:latin typeface="Gartner Sans" panose="020B0504030402040204" pitchFamily="34" charset="0"/>
                        </a:rPr>
                        <a:t>The core objection is paying twice for the same conversational AI capability—once in the standalone contract, once inside the bundled tier.</a:t>
                      </a:r>
                    </a:p>
                    <a:p>
                      <a:pPr marL="0" indent="0">
                        <a:spcBef>
                          <a:spcPts val="0"/>
                        </a:spcBef>
                        <a:buFont typeface="Arial" panose="020B0604020202020204" pitchFamily="34" charset="0"/>
                        <a:buNone/>
                        <a:defRPr/>
                      </a:pPr>
                      <a:endParaRPr lang="en-US" sz="1200" dirty="0">
                        <a:solidFill>
                          <a:srgbClr val="000000"/>
                        </a:solidFill>
                        <a:latin typeface="Gartner Sans" panose="020B0504030402040204" pitchFamily="34" charset="0"/>
                      </a:endParaRPr>
                    </a:p>
                    <a:p>
                      <a:pPr marL="0" indent="0">
                        <a:spcBef>
                          <a:spcPts val="0"/>
                        </a:spcBef>
                        <a:buFont typeface="Arial" panose="020B0604020202020204" pitchFamily="34" charset="0"/>
                        <a:buNone/>
                        <a:defRPr/>
                      </a:pPr>
                      <a:r>
                        <a:rPr lang="en-US" sz="1200" dirty="0">
                          <a:solidFill>
                            <a:srgbClr val="000000"/>
                          </a:solidFill>
                          <a:latin typeface="Gartner Sans" panose="020B0504030402040204" pitchFamily="34" charset="0"/>
                        </a:rPr>
                        <a:t>Quotes for the rebranded bundle arrive at close to double prior standalone cost, carrying capability the buyer did not request.</a:t>
                      </a:r>
                    </a:p>
                  </a:txBody>
                  <a:tcPr>
                    <a:lnL w="9525" cap="flat" cmpd="sng" algn="ctr">
                      <a:solidFill>
                        <a:srgbClr val="5A798C"/>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91942454"/>
                  </a:ext>
                </a:extLst>
              </a:tr>
              <a:tr h="7538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rgbClr val="0057AF"/>
                          </a:solidFill>
                          <a:latin typeface="Gartner Sans" panose="020B0504030402040204" pitchFamily="34" charset="0"/>
                        </a:rPr>
                        <a:t>IT category managers, CIOs and sourcing directors · manufacturing, government, retail, financial services · NA, EMEA, APAC</a:t>
                      </a:r>
                    </a:p>
                  </a:txBody>
                  <a:tcPr>
                    <a:lnL w="9525" cap="flat" cmpd="sng" algn="ctr">
                      <a:noFill/>
                      <a:prstDash val="solid"/>
                      <a:round/>
                      <a:headEnd type="none" w="med" len="med"/>
                      <a:tailEnd type="none" w="med" len="med"/>
                    </a:lnL>
                    <a:lnR w="9525" cap="flat" cmpd="sng" algn="ctr">
                      <a:solidFill>
                        <a:srgbClr val="5A798C"/>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0057AF"/>
                          </a:solidFill>
                          <a:effectLst/>
                          <a:uLnTx/>
                          <a:uFillTx/>
                          <a:latin typeface="Gartner Sans" panose="020B0504030402040204" pitchFamily="34" charset="0"/>
                          <a:ea typeface="+mn-ea"/>
                          <a:cs typeface="+mn-cs"/>
                        </a:rPr>
                        <a:t>IT procurement managers, sourcing leaders, heads of AI · banking, manufacturing, retail · NA, EMEA</a:t>
                      </a:r>
                    </a:p>
                  </a:txBody>
                  <a:tcPr>
                    <a:lnL w="9525" cap="flat" cmpd="sng" algn="ctr">
                      <a:solidFill>
                        <a:srgbClr val="5A798C"/>
                      </a:solidFill>
                      <a:prstDash val="solid"/>
                      <a:round/>
                      <a:headEnd type="none" w="med" len="med"/>
                      <a:tailEnd type="none" w="med" len="med"/>
                    </a:lnL>
                    <a:lnR w="9525" cap="flat" cmpd="sng" algn="ctr">
                      <a:solidFill>
                        <a:srgbClr val="5A798C"/>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dirty="0">
                          <a:solidFill>
                            <a:srgbClr val="0057AF"/>
                          </a:solidFill>
                          <a:latin typeface="Gartner Sans" panose="020B0504030402040204" pitchFamily="34" charset="0"/>
                        </a:rPr>
                        <a:t>Sourcing directors, IT category managers, enterprise architects · services, retail, manufacturing · NA, EMEA</a:t>
                      </a:r>
                    </a:p>
                  </a:txBody>
                  <a:tcPr>
                    <a:lnL w="9525" cap="flat" cmpd="sng" algn="ctr">
                      <a:solidFill>
                        <a:srgbClr val="5A798C"/>
                      </a:solid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7212627"/>
                  </a:ext>
                </a:extLst>
              </a:tr>
            </a:tbl>
          </a:graphicData>
        </a:graphic>
      </p:graphicFrame>
      <p:sp>
        <p:nvSpPr>
          <p:cNvPr id="4" name="TextBox 3">
            <a:extLst>
              <a:ext uri="{FF2B5EF4-FFF2-40B4-BE49-F238E27FC236}">
                <a16:creationId xmlns:a16="http://schemas.microsoft.com/office/drawing/2014/main" id="{AB7A40AC-29D6-A6E3-8A60-92B0C80C63F9}"/>
              </a:ext>
            </a:extLst>
          </p:cNvPr>
          <p:cNvSpPr txBox="1"/>
          <p:nvPr/>
        </p:nvSpPr>
        <p:spPr>
          <a:xfrm>
            <a:off x="457199" y="6029263"/>
            <a:ext cx="11274552" cy="246221"/>
          </a:xfrm>
          <a:prstGeom prst="rect">
            <a:avLst/>
          </a:prstGeom>
          <a:noFill/>
        </p:spPr>
        <p:txBody>
          <a:bodyPr wrap="square" lIns="0" rIns="0" rtlCol="0">
            <a:sp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000" b="0" i="1" u="none" strike="noStrike" kern="1200" cap="none" spc="0" normalizeH="0" baseline="0" noProof="0" dirty="0">
                <a:ln>
                  <a:noFill/>
                </a:ln>
                <a:solidFill>
                  <a:srgbClr val="5A798C"/>
                </a:solidFill>
                <a:effectLst/>
                <a:uLnTx/>
                <a:uFillTx/>
                <a:latin typeface="Gartner Sans"/>
                <a:ea typeface="+mn-ea"/>
                <a:cs typeface="+mn-cs"/>
              </a:rPr>
              <a:t>Spread: Pervasive / Significant / Moderate / Niche. Trajectory compares 1Q26, 2Q26 and partial 3Q26 (July only).</a:t>
            </a:r>
          </a:p>
        </p:txBody>
      </p:sp>
    </p:spTree>
    <p:extLst>
      <p:ext uri="{BB962C8B-B14F-4D97-AF65-F5344CB8AC3E}">
        <p14:creationId xmlns:p14="http://schemas.microsoft.com/office/powerpoint/2010/main" val="252094382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D6FA31-8364-A524-DEDC-BC1B9BE8B2C6}"/>
            </a:ext>
          </a:extLst>
        </p:cNvPr>
        <p:cNvGrpSpPr/>
        <p:nvPr/>
      </p:nvGrpSpPr>
      <p:grpSpPr>
        <a:xfrm>
          <a:off x="0" y="0"/>
          <a:ext cx="0" cy="0"/>
          <a:chOff x="0" y="0"/>
          <a:chExt cx="0" cy="0"/>
        </a:xfrm>
      </p:grpSpPr>
      <p:sp>
        <p:nvSpPr>
          <p:cNvPr id="6" name="Title 1">
            <a:extLst>
              <a:ext uri="{FF2B5EF4-FFF2-40B4-BE49-F238E27FC236}">
                <a16:creationId xmlns:a16="http://schemas.microsoft.com/office/drawing/2014/main" id="{7327F8CC-F050-4126-1626-398B0D76A5A5}"/>
              </a:ext>
            </a:extLst>
          </p:cNvPr>
          <p:cNvSpPr>
            <a:spLocks noGrp="1"/>
          </p:cNvSpPr>
          <p:nvPr>
            <p:ph type="title"/>
          </p:nvPr>
        </p:nvSpPr>
        <p:spPr>
          <a:xfrm>
            <a:off x="457200" y="361950"/>
            <a:ext cx="11274552" cy="451231"/>
          </a:xfrm>
        </p:spPr>
        <p:txBody>
          <a:bodyPr/>
          <a:lstStyle/>
          <a:p>
            <a:r>
              <a:rPr lang="en-US" dirty="0"/>
              <a:t>Cost-offset tactics using ServiceNow’s own tools</a:t>
            </a:r>
          </a:p>
        </p:txBody>
      </p:sp>
      <p:sp>
        <p:nvSpPr>
          <p:cNvPr id="7" name="TextBox 6">
            <a:extLst>
              <a:ext uri="{FF2B5EF4-FFF2-40B4-BE49-F238E27FC236}">
                <a16:creationId xmlns:a16="http://schemas.microsoft.com/office/drawing/2014/main" id="{45ABD625-2120-9D73-039A-B0748EC71727}"/>
              </a:ext>
            </a:extLst>
          </p:cNvPr>
          <p:cNvSpPr txBox="1"/>
          <p:nvPr/>
        </p:nvSpPr>
        <p:spPr>
          <a:xfrm>
            <a:off x="457199" y="771000"/>
            <a:ext cx="11274552" cy="24622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57AF"/>
                </a:solidFill>
                <a:effectLst/>
                <a:uLnTx/>
                <a:uFillTx/>
                <a:latin typeface="Gartner Sans"/>
                <a:ea typeface="+mn-ea"/>
                <a:cs typeface="+mn-cs"/>
              </a:rPr>
              <a:t>Buyers are reducing spend inside the platform rather than leaving it—and accepting audit risk to do so</a:t>
            </a:r>
            <a:endParaRPr kumimoji="0" lang="en-US" sz="1600" b="1" i="0" u="none" strike="noStrike" kern="1200" cap="none" spc="0" normalizeH="0" baseline="0" noProof="0" dirty="0">
              <a:ln>
                <a:noFill/>
              </a:ln>
              <a:solidFill>
                <a:srgbClr val="DE0A01"/>
              </a:solidFill>
              <a:effectLst/>
              <a:uLnTx/>
              <a:uFillTx/>
              <a:latin typeface="Gartner Sans"/>
              <a:ea typeface="+mn-ea"/>
              <a:cs typeface="+mn-cs"/>
            </a:endParaRPr>
          </a:p>
        </p:txBody>
      </p:sp>
      <p:graphicFrame>
        <p:nvGraphicFramePr>
          <p:cNvPr id="14" name="Content Placeholder 13">
            <a:extLst>
              <a:ext uri="{FF2B5EF4-FFF2-40B4-BE49-F238E27FC236}">
                <a16:creationId xmlns:a16="http://schemas.microsoft.com/office/drawing/2014/main" id="{86DBC982-FC4D-5421-69F8-4DC47E688465}"/>
              </a:ext>
            </a:extLst>
          </p:cNvPr>
          <p:cNvGraphicFramePr>
            <a:graphicFrameLocks noGrp="1"/>
          </p:cNvGraphicFramePr>
          <p:nvPr>
            <p:ph sz="half" idx="1"/>
          </p:nvPr>
        </p:nvGraphicFramePr>
        <p:xfrm>
          <a:off x="457199" y="1307813"/>
          <a:ext cx="9128240" cy="4552230"/>
        </p:xfrm>
        <a:graphic>
          <a:graphicData uri="http://schemas.openxmlformats.org/drawingml/2006/table">
            <a:tbl>
              <a:tblPr firstRow="1" bandRow="1">
                <a:tableStyleId>{6E25E649-3F16-4E02-A733-19D2CDBF48F0}</a:tableStyleId>
              </a:tblPr>
              <a:tblGrid>
                <a:gridCol w="4564120">
                  <a:extLst>
                    <a:ext uri="{9D8B030D-6E8A-4147-A177-3AD203B41FA5}">
                      <a16:colId xmlns:a16="http://schemas.microsoft.com/office/drawing/2014/main" val="2115640825"/>
                    </a:ext>
                  </a:extLst>
                </a:gridCol>
                <a:gridCol w="4564120">
                  <a:extLst>
                    <a:ext uri="{9D8B030D-6E8A-4147-A177-3AD203B41FA5}">
                      <a16:colId xmlns:a16="http://schemas.microsoft.com/office/drawing/2014/main" val="321892266"/>
                    </a:ext>
                  </a:extLst>
                </a:gridCol>
              </a:tblGrid>
              <a:tr h="544300">
                <a:tc>
                  <a:txBody>
                    <a:bodyPr/>
                    <a:lstStyle/>
                    <a:p>
                      <a:r>
                        <a:rPr lang="en-US" sz="1600">
                          <a:solidFill>
                            <a:srgbClr val="002869"/>
                          </a:solidFill>
                          <a:latin typeface="Gartner Sans Semibold" panose="020B0704030402040204" pitchFamily="34" charset="0"/>
                        </a:rPr>
                        <a:t>Configuration workarounds to avoid license inflation</a:t>
                      </a:r>
                      <a:endParaRPr lang="en-US" sz="1600">
                        <a:solidFill>
                          <a:srgbClr val="002869"/>
                        </a:solidFill>
                      </a:endParaRPr>
                    </a:p>
                  </a:txBody>
                  <a:tcPr>
                    <a:lnL>
                      <a:noFill/>
                    </a:lnL>
                    <a:lnR w="9525" cap="flat" cmpd="sng" algn="ctr">
                      <a:solidFill>
                        <a:srgbClr val="5A798C"/>
                      </a:solidFill>
                      <a:prstDash val="solid"/>
                      <a:round/>
                      <a:headEnd type="none" w="med" len="med"/>
                      <a:tailEnd type="none" w="med" len="med"/>
                    </a:lnR>
                    <a:lnT w="25400" cmpd="sng">
                      <a:noFill/>
                    </a:lnT>
                    <a:lnB>
                      <a:noFill/>
                    </a:lnB>
                    <a:lnTlToBr w="12700" cmpd="sng">
                      <a:noFill/>
                      <a:prstDash val="solid"/>
                    </a:lnTlToBr>
                    <a:lnBlToTr w="12700" cmpd="sng">
                      <a:noFill/>
                      <a:prstDash val="solid"/>
                    </a:lnBlToTr>
                    <a:solidFill>
                      <a:schemeClr val="bg1"/>
                    </a:solidFill>
                  </a:tcPr>
                </a:tc>
                <a:tc>
                  <a:txBody>
                    <a:bodyPr/>
                    <a:lstStyle/>
                    <a:p>
                      <a:r>
                        <a:rPr kumimoji="0" lang="en-US" sz="1600" b="0" i="0" u="none" strike="noStrike" kern="1200" cap="none" spc="0" normalizeH="0" baseline="0" noProof="0">
                          <a:ln>
                            <a:noFill/>
                          </a:ln>
                          <a:solidFill>
                            <a:srgbClr val="002869"/>
                          </a:solidFill>
                          <a:effectLst/>
                          <a:uLnTx/>
                          <a:uFillTx/>
                          <a:latin typeface="Gartner Sans Semibold" panose="020B0704030402040204" pitchFamily="34" charset="0"/>
                          <a:ea typeface="+mn-ea"/>
                          <a:cs typeface="+mn-cs"/>
                        </a:rPr>
                        <a:t>Fulfiller vs. business stakeholder license optimization</a:t>
                      </a:r>
                      <a:endParaRPr lang="en-US" sz="1600">
                        <a:solidFill>
                          <a:srgbClr val="002869"/>
                        </a:solidFill>
                      </a:endParaRPr>
                    </a:p>
                  </a:txBody>
                  <a:tcPr>
                    <a:lnL w="9525" cap="flat" cmpd="sng" algn="ctr">
                      <a:solidFill>
                        <a:srgbClr val="5A798C"/>
                      </a:solidFill>
                      <a:prstDash val="solid"/>
                      <a:round/>
                      <a:headEnd type="none" w="med" len="med"/>
                      <a:tailEnd type="none" w="med" len="med"/>
                    </a:lnL>
                    <a:lnR w="9525" cap="flat" cmpd="sng" algn="ctr">
                      <a:noFill/>
                      <a:prstDash val="solid"/>
                      <a:round/>
                      <a:headEnd type="none" w="med" len="med"/>
                      <a:tailEnd type="none" w="med" len="med"/>
                    </a:lnR>
                    <a:lnT w="25400" cmpd="sng">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825940341"/>
                  </a:ext>
                </a:extLst>
              </a:tr>
              <a:tr h="313237">
                <a:tc>
                  <a:txBody>
                    <a:bodyPr/>
                    <a:lstStyle/>
                    <a:p>
                      <a:pPr marL="0" indent="0">
                        <a:spcBef>
                          <a:spcPts val="0"/>
                        </a:spcBef>
                        <a:buSzTx/>
                        <a:buFont typeface="Arial" panose="020B0604020202020204" pitchFamily="34" charset="0"/>
                        <a:buNone/>
                        <a:defRPr/>
                      </a:pPr>
                      <a:r>
                        <a:rPr lang="en-US" sz="1200">
                          <a:solidFill>
                            <a:srgbClr val="000000"/>
                          </a:solidFill>
                        </a:rPr>
                        <a:t>●●○○ Moderate </a:t>
                      </a:r>
                      <a:r>
                        <a:rPr lang="en-US" sz="1200">
                          <a:solidFill>
                            <a:srgbClr val="000000"/>
                          </a:solidFill>
                          <a:latin typeface="Gartner Sans" panose="020B0504030402040204" pitchFamily="34" charset="0"/>
                        </a:rPr>
                        <a:t>·</a:t>
                      </a:r>
                      <a:r>
                        <a:rPr lang="en-US" sz="1200">
                          <a:solidFill>
                            <a:srgbClr val="000000"/>
                          </a:solidFill>
                          <a:latin typeface="+mn-lt"/>
                        </a:rPr>
                        <a:t> </a:t>
                      </a:r>
                      <a:r>
                        <a:rPr lang="en-US" sz="1200">
                          <a:solidFill>
                            <a:srgbClr val="5A798C"/>
                          </a:solidFill>
                        </a:rPr>
                        <a:t>→ Stable</a:t>
                      </a:r>
                      <a:endParaRPr lang="en-US" sz="1200">
                        <a:solidFill>
                          <a:srgbClr val="C00000"/>
                        </a:solidFill>
                        <a:latin typeface="+mn-lt"/>
                      </a:endParaRPr>
                    </a:p>
                  </a:txBody>
                  <a:tcPr>
                    <a:lnL>
                      <a:noFill/>
                    </a:lnL>
                    <a:lnR w="9525" cap="flat" cmpd="sng" algn="ctr">
                      <a:solidFill>
                        <a:srgbClr val="5A798C"/>
                      </a:solid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tc>
                  <a:txBody>
                    <a:bodyPr/>
                    <a:lstStyle/>
                    <a:p>
                      <a:pPr marL="0" lvl="0" indent="0">
                        <a:spcBef>
                          <a:spcPts val="0"/>
                        </a:spcBef>
                        <a:buSzTx/>
                        <a:buNone/>
                        <a:defRPr/>
                      </a:pPr>
                      <a:r>
                        <a:rPr lang="en-US" sz="1200">
                          <a:solidFill>
                            <a:srgbClr val="000000"/>
                          </a:solidFill>
                        </a:rPr>
                        <a:t>●●●○ Significant </a:t>
                      </a:r>
                      <a:r>
                        <a:rPr kumimoji="0" lang="en-US" sz="1200" b="0" i="0" u="none" strike="noStrike" kern="1200" cap="none" spc="0" normalizeH="0" baseline="0" noProof="0">
                          <a:ln>
                            <a:noFill/>
                          </a:ln>
                          <a:solidFill>
                            <a:srgbClr val="000000"/>
                          </a:solidFill>
                          <a:effectLst/>
                          <a:uLnTx/>
                          <a:uFillTx/>
                          <a:latin typeface="Gartner Sans" panose="020B0504030402040204" pitchFamily="34" charset="0"/>
                          <a:ea typeface="+mn-ea"/>
                          <a:cs typeface="+mn-cs"/>
                        </a:rPr>
                        <a:t>·</a:t>
                      </a:r>
                      <a:r>
                        <a:rPr kumimoji="0" lang="en-US" sz="1200" b="0" i="0" u="none" strike="noStrike" kern="1200" cap="none" spc="0" normalizeH="0" baseline="0" noProof="0">
                          <a:ln>
                            <a:noFill/>
                          </a:ln>
                          <a:solidFill>
                            <a:srgbClr val="000000"/>
                          </a:solidFill>
                          <a:effectLst/>
                          <a:uLnTx/>
                          <a:uFillTx/>
                          <a:latin typeface="+mn-lt"/>
                          <a:ea typeface="+mn-ea"/>
                          <a:cs typeface="+mn-cs"/>
                        </a:rPr>
                        <a:t> </a:t>
                      </a:r>
                      <a:r>
                        <a:rPr kumimoji="0" lang="en-US" sz="1200" b="0" i="0" u="none" strike="noStrike" kern="1200" cap="none" spc="0" normalizeH="0" baseline="0" noProof="0">
                          <a:ln>
                            <a:noFill/>
                          </a:ln>
                          <a:solidFill>
                            <a:srgbClr val="5A798C"/>
                          </a:solidFill>
                          <a:effectLst/>
                          <a:uLnTx/>
                          <a:uFillTx/>
                          <a:latin typeface="+mn-lt"/>
                          <a:ea typeface="+mn-ea"/>
                          <a:cs typeface="+mn-cs"/>
                        </a:rPr>
                        <a:t>→ Stable</a:t>
                      </a:r>
                      <a:endParaRPr kumimoji="0" lang="en-US" sz="1200" b="0" i="0" u="none" strike="noStrike" kern="1200" cap="none" spc="0" normalizeH="0" baseline="0" noProof="0">
                        <a:ln>
                          <a:noFill/>
                        </a:ln>
                        <a:solidFill>
                          <a:srgbClr val="C00000"/>
                        </a:solidFill>
                        <a:effectLst/>
                        <a:uLnTx/>
                        <a:uFillTx/>
                        <a:latin typeface="+mn-lt"/>
                        <a:ea typeface="+mn-ea"/>
                        <a:cs typeface="+mn-cs"/>
                      </a:endParaRPr>
                    </a:p>
                  </a:txBody>
                  <a:tcPr>
                    <a:lnL w="9525" cap="flat" cmpd="sng" algn="ctr">
                      <a:solidFill>
                        <a:srgbClr val="5A798C"/>
                      </a:solid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69844695"/>
                  </a:ext>
                </a:extLst>
              </a:tr>
              <a:tr h="2948118">
                <a:tc>
                  <a:txBody>
                    <a:bodyPr/>
                    <a:lstStyle/>
                    <a:p>
                      <a:pPr marL="0" indent="0">
                        <a:spcBef>
                          <a:spcPts val="0"/>
                        </a:spcBef>
                        <a:buFont typeface="Arial" panose="020B0604020202020204" pitchFamily="34" charset="0"/>
                        <a:buNone/>
                      </a:pPr>
                      <a:r>
                        <a:rPr lang="en-US" sz="1200">
                          <a:latin typeface="Gartner Sans" panose="020B0504030402040204" pitchFamily="34" charset="0"/>
                        </a:rPr>
                        <a:t>To avoid per-seat costs and whole-headcount licensing demands on specialized modules such as HR service delivery and source-to-pay, buyers deploy configuration workarounds.</a:t>
                      </a:r>
                    </a:p>
                    <a:p>
                      <a:pPr marL="0" indent="0">
                        <a:spcBef>
                          <a:spcPts val="0"/>
                        </a:spcBef>
                        <a:buFont typeface="Arial" panose="020B0604020202020204" pitchFamily="34" charset="0"/>
                        <a:buNone/>
                      </a:pPr>
                      <a:endParaRPr lang="en-US" sz="1200">
                        <a:latin typeface="Gartner Sans" panose="020B0504030402040204" pitchFamily="34" charset="0"/>
                      </a:endParaRPr>
                    </a:p>
                    <a:p>
                      <a:pPr marL="0" indent="0">
                        <a:spcBef>
                          <a:spcPts val="0"/>
                        </a:spcBef>
                        <a:buFont typeface="Arial" panose="020B0604020202020204" pitchFamily="34" charset="0"/>
                        <a:buNone/>
                      </a:pPr>
                      <a:r>
                        <a:rPr lang="en-US" sz="1200">
                          <a:latin typeface="Gartner Sans" panose="020B0504030402040204" pitchFamily="34" charset="0"/>
                        </a:rPr>
                        <a:t>The common pattern routes the general workforce through the standard ITSM portal they are already licensed for, while restricting genuine fulfiller access to a small licensed group. Buyers also add custom fields and tables to replicate modules they have not purchased.</a:t>
                      </a:r>
                    </a:p>
                    <a:p>
                      <a:pPr marL="0" indent="0">
                        <a:spcBef>
                          <a:spcPts val="0"/>
                        </a:spcBef>
                        <a:buFont typeface="Arial" panose="020B0604020202020204" pitchFamily="34" charset="0"/>
                        <a:buNone/>
                      </a:pPr>
                      <a:endParaRPr lang="en-US" sz="1200">
                        <a:latin typeface="Gartner Sans" panose="020B0504030402040204" pitchFamily="34" charset="0"/>
                      </a:endParaRPr>
                    </a:p>
                    <a:p>
                      <a:pPr marL="0" indent="0">
                        <a:spcBef>
                          <a:spcPts val="0"/>
                        </a:spcBef>
                        <a:buFont typeface="Arial" panose="020B0604020202020204" pitchFamily="34" charset="0"/>
                        <a:buNone/>
                      </a:pPr>
                      <a:r>
                        <a:rPr lang="en-US" sz="1200">
                          <a:latin typeface="Gartner Sans" panose="020B0504030402040204" pitchFamily="34" charset="0"/>
                        </a:rPr>
                        <a:t>Buyers are candid about the exposure. Audits can reclassify custom fields as licensable features, and altering grandfathered custom tables at renewal can void exclusions the buyer relied on.</a:t>
                      </a:r>
                    </a:p>
                  </a:txBody>
                  <a:tcPr>
                    <a:lnL>
                      <a:noFill/>
                    </a:lnL>
                    <a:lnR w="9525" cap="flat" cmpd="sng" algn="ctr">
                      <a:solidFill>
                        <a:srgbClr val="5A798C"/>
                      </a:solidFill>
                      <a:prstDash val="solid"/>
                      <a:round/>
                      <a:headEnd type="none" w="med" len="med"/>
                      <a:tailEnd type="none" w="med" len="med"/>
                    </a:lnR>
                    <a:lnT>
                      <a:noFill/>
                    </a:lnT>
                    <a:lnB>
                      <a:noFill/>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Gartner Sans" panose="020B0504030402040204" pitchFamily="34" charset="0"/>
                          <a:ea typeface="+mn-ea"/>
                          <a:cs typeface="+mn-cs"/>
                        </a:rPr>
                        <a:t>Buyers treat the Business Stakeholder license—intended for occasional approvers and commenters—as a primary cost-offset lever, auditing active roles and moving view-only users off full fulfiller licensing.</a:t>
                      </a: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endParaRPr kumimoji="0" lang="en-US" sz="1200" b="0" i="0" u="none" strike="noStrike" kern="1200" cap="none" spc="0" normalizeH="0" baseline="0" noProof="0">
                        <a:ln>
                          <a:noFill/>
                        </a:ln>
                        <a:solidFill>
                          <a:srgbClr val="000000"/>
                        </a:solidFill>
                        <a:effectLst/>
                        <a:uLnTx/>
                        <a:uFillTx/>
                        <a:latin typeface="Gartner Sans" panose="020B050403040204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Gartner Sans" panose="020B0504030402040204" pitchFamily="34" charset="0"/>
                          <a:ea typeface="+mn-ea"/>
                          <a:cs typeface="+mn-cs"/>
                        </a:rPr>
                        <a:t>Counting logic for stakeholder roles is a recurring source of confusion, which complicates the exercise.</a:t>
                      </a: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endParaRPr kumimoji="0" lang="en-US" sz="1200" b="0" i="0" u="none" strike="noStrike" kern="1200" cap="none" spc="0" normalizeH="0" baseline="0" noProof="0">
                        <a:ln>
                          <a:noFill/>
                        </a:ln>
                        <a:solidFill>
                          <a:srgbClr val="000000"/>
                        </a:solidFill>
                        <a:effectLst/>
                        <a:uLnTx/>
                        <a:uFillTx/>
                        <a:latin typeface="Gartner Sans" panose="020B050403040204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Pct val="100000"/>
                        <a:buFont typeface="Arial" panose="020B0604020202020204" pitchFamily="34" charset="0"/>
                        <a:buNone/>
                        <a:tabLst/>
                        <a:defRPr/>
                      </a:pPr>
                      <a:r>
                        <a:rPr kumimoji="0" lang="en-US" sz="1200" b="0" i="0" u="none" strike="noStrike" kern="1200" cap="none" spc="0" normalizeH="0" baseline="0" noProof="0">
                          <a:ln>
                            <a:noFill/>
                          </a:ln>
                          <a:solidFill>
                            <a:srgbClr val="000000"/>
                          </a:solidFill>
                          <a:effectLst/>
                          <a:uLnTx/>
                          <a:uFillTx/>
                          <a:latin typeface="Gartner Sans" panose="020B0504030402040204" pitchFamily="34" charset="0"/>
                          <a:ea typeface="+mn-ea"/>
                          <a:cs typeface="+mn-cs"/>
                        </a:rPr>
                        <a:t>Buyers separately object to paying for stakeholder licenses covering managers who approve by email and never sign in—usage showing as zero in SN’s own subscription reporting.</a:t>
                      </a:r>
                    </a:p>
                  </a:txBody>
                  <a:tcPr>
                    <a:lnL w="9525" cap="flat" cmpd="sng" algn="ctr">
                      <a:solidFill>
                        <a:srgbClr val="5A798C"/>
                      </a:solidFill>
                      <a:prstDash val="solid"/>
                      <a:round/>
                      <a:headEnd type="none" w="med" len="med"/>
                      <a:tailEnd type="none" w="med" len="med"/>
                    </a:lnL>
                    <a:lnR w="9525" cap="flat" cmpd="sng" algn="ctr">
                      <a:noFill/>
                      <a:prstDash val="solid"/>
                      <a:round/>
                      <a:headEnd type="none" w="med" len="med"/>
                      <a:tailEnd type="none" w="med" len="med"/>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3991942454"/>
                  </a:ext>
                </a:extLst>
              </a:tr>
              <a:tr h="71175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i="1">
                          <a:solidFill>
                            <a:srgbClr val="0057AF"/>
                          </a:solidFill>
                          <a:latin typeface="Gartner Sans" panose="020B0504030402040204" pitchFamily="34" charset="0"/>
                        </a:rPr>
                        <a:t>Enterprise architects, IT sourcing managers and IT procurement leaders · government, education, healthcare, retail · EMEA, APAC</a:t>
                      </a:r>
                    </a:p>
                  </a:txBody>
                  <a:tcPr>
                    <a:lnL>
                      <a:noFill/>
                    </a:lnL>
                    <a:lnR w="9525" cap="flat" cmpd="sng" algn="ctr">
                      <a:solidFill>
                        <a:srgbClr val="5A798C"/>
                      </a:solid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a:ln>
                            <a:noFill/>
                          </a:ln>
                          <a:solidFill>
                            <a:srgbClr val="0057AF"/>
                          </a:solidFill>
                          <a:effectLst/>
                          <a:uLnTx/>
                          <a:uFillTx/>
                          <a:latin typeface="Gartner Sans" panose="020B0504030402040204" pitchFamily="34" charset="0"/>
                          <a:ea typeface="+mn-ea"/>
                          <a:cs typeface="+mn-cs"/>
                        </a:rPr>
                        <a:t>IT procurement managers, sourcing leaders and CIOs · banking, manufacturing, government · NA, APAC</a:t>
                      </a:r>
                    </a:p>
                  </a:txBody>
                  <a:tcPr>
                    <a:lnL w="9525" cap="flat" cmpd="sng" algn="ctr">
                      <a:solidFill>
                        <a:srgbClr val="5A798C"/>
                      </a:solidFill>
                      <a:prstDash val="solid"/>
                      <a:round/>
                      <a:headEnd type="none" w="med" len="med"/>
                      <a:tailEnd type="none" w="med" len="med"/>
                    </a:lnL>
                    <a:lnR w="9525" cap="flat" cmpd="sng" algn="ctr">
                      <a:noFill/>
                      <a:prstDash val="solid"/>
                      <a:round/>
                      <a:headEnd type="none" w="med" len="med"/>
                      <a:tailEnd type="none" w="med" len="med"/>
                    </a:lnR>
                    <a:lnT>
                      <a:noFill/>
                    </a:lnT>
                    <a:lnB w="254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697212627"/>
                  </a:ext>
                </a:extLst>
              </a:tr>
            </a:tbl>
          </a:graphicData>
        </a:graphic>
      </p:graphicFrame>
      <p:sp>
        <p:nvSpPr>
          <p:cNvPr id="10" name="Rectangle: Rounded Corners 9">
            <a:extLst>
              <a:ext uri="{FF2B5EF4-FFF2-40B4-BE49-F238E27FC236}">
                <a16:creationId xmlns:a16="http://schemas.microsoft.com/office/drawing/2014/main" id="{4E808A20-BA39-A2F8-C6BD-01F7F5DC9FB1}"/>
              </a:ext>
            </a:extLst>
          </p:cNvPr>
          <p:cNvSpPr/>
          <p:nvPr/>
        </p:nvSpPr>
        <p:spPr>
          <a:xfrm>
            <a:off x="9815161" y="1526277"/>
            <a:ext cx="1916590" cy="4183089"/>
          </a:xfrm>
          <a:prstGeom prst="roundRect">
            <a:avLst/>
          </a:prstGeom>
          <a:solidFill>
            <a:srgbClr val="FCE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C00000"/>
                </a:solidFill>
                <a:effectLst/>
                <a:uLnTx/>
                <a:uFillTx/>
                <a:latin typeface="Gartner Sans Semibold" panose="020B0704030402040204" pitchFamily="34" charset="0"/>
                <a:ea typeface="+mn-ea"/>
                <a:cs typeface="+mn-cs"/>
              </a:rPr>
              <a:t>Handling Note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C00000"/>
              </a:solidFill>
              <a:effectLst/>
              <a:uLnTx/>
              <a:uFillTx/>
              <a:latin typeface="Gartner San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00000"/>
                </a:solidFill>
                <a:effectLst/>
                <a:uLnTx/>
                <a:uFillTx/>
                <a:latin typeface="Gartner Sans"/>
                <a:ea typeface="+mn-ea"/>
                <a:cs typeface="+mn-cs"/>
              </a:rPr>
              <a:t>This bucket differs from the other four. Elsewhere, the narrative is shareable.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00000"/>
                </a:solidFill>
                <a:effectLst/>
                <a:uLnTx/>
                <a:uFillTx/>
                <a:latin typeface="Gartner Sans"/>
                <a:ea typeface="+mn-ea"/>
                <a:cs typeface="+mn-cs"/>
              </a:rPr>
              <a:t>Here, the narrative itself describes what buyers do to reduce spend, including where they knowingly accept audit exposure.</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C00000"/>
              </a:solidFill>
              <a:effectLst/>
              <a:uLnTx/>
              <a:uFillTx/>
              <a:latin typeface="Gartner Sans"/>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C00000"/>
                </a:solidFill>
                <a:effectLst/>
                <a:uLnTx/>
                <a:uFillTx/>
                <a:latin typeface="Gartner Sans"/>
                <a:ea typeface="+mn-ea"/>
                <a:cs typeface="+mn-cs"/>
              </a:rPr>
              <a:t>This section should likely be withheld and treated as internal context.</a:t>
            </a:r>
          </a:p>
        </p:txBody>
      </p:sp>
      <p:sp>
        <p:nvSpPr>
          <p:cNvPr id="12" name="TextBox 11">
            <a:extLst>
              <a:ext uri="{FF2B5EF4-FFF2-40B4-BE49-F238E27FC236}">
                <a16:creationId xmlns:a16="http://schemas.microsoft.com/office/drawing/2014/main" id="{C4DC7C90-B65D-89CF-7E52-8ABB02C6CD03}"/>
              </a:ext>
            </a:extLst>
          </p:cNvPr>
          <p:cNvSpPr txBox="1"/>
          <p:nvPr/>
        </p:nvSpPr>
        <p:spPr>
          <a:xfrm>
            <a:off x="457199" y="6029263"/>
            <a:ext cx="11274552" cy="246221"/>
          </a:xfrm>
          <a:prstGeom prst="rect">
            <a:avLst/>
          </a:prstGeom>
          <a:noFill/>
        </p:spPr>
        <p:txBody>
          <a:bodyPr wrap="square" lIns="0" rIns="0" rtlCol="0">
            <a:spAutoFit/>
          </a:bodyPr>
          <a:lstStyle/>
          <a:p>
            <a:pPr marL="0" marR="0" lvl="0" indent="0" algn="ctr" defTabSz="457200" rtl="0" eaLnBrk="1" fontAlgn="auto" latinLnBrk="0" hangingPunct="1">
              <a:lnSpc>
                <a:spcPct val="100000"/>
              </a:lnSpc>
              <a:spcBef>
                <a:spcPts val="600"/>
              </a:spcBef>
              <a:spcAft>
                <a:spcPts val="0"/>
              </a:spcAft>
              <a:buClrTx/>
              <a:buSzTx/>
              <a:buFontTx/>
              <a:buNone/>
              <a:tabLst/>
              <a:defRPr/>
            </a:pPr>
            <a:r>
              <a:rPr kumimoji="0" lang="en-US" sz="1000" b="0" i="1" u="none" strike="noStrike" kern="1200" cap="none" spc="0" normalizeH="0" baseline="0" noProof="0" dirty="0">
                <a:ln>
                  <a:noFill/>
                </a:ln>
                <a:solidFill>
                  <a:srgbClr val="5A798C"/>
                </a:solidFill>
                <a:effectLst/>
                <a:uLnTx/>
                <a:uFillTx/>
                <a:latin typeface="Gartner Sans"/>
                <a:ea typeface="+mn-ea"/>
                <a:cs typeface="+mn-cs"/>
              </a:rPr>
              <a:t>Spread: Pervasive / Significant / Moderate / Niche. Trajectory compares 1Q26, 2Q26 and partial 3Q26 (July only).</a:t>
            </a:r>
          </a:p>
        </p:txBody>
      </p:sp>
    </p:spTree>
    <p:extLst>
      <p:ext uri="{BB962C8B-B14F-4D97-AF65-F5344CB8AC3E}">
        <p14:creationId xmlns:p14="http://schemas.microsoft.com/office/powerpoint/2010/main" val="27799418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F250C0AD-A60D-55AB-0363-A1518AE45AC4}"/>
              </a:ext>
            </a:extLst>
          </p:cNvPr>
          <p:cNvSpPr>
            <a:spLocks noGrp="1"/>
          </p:cNvSpPr>
          <p:nvPr>
            <p:ph type="title"/>
          </p:nvPr>
        </p:nvSpPr>
        <p:spPr>
          <a:xfrm>
            <a:off x="1365814" y="2267487"/>
            <a:ext cx="5408210" cy="677108"/>
          </a:xfrm>
        </p:spPr>
        <p:txBody>
          <a:bodyPr/>
          <a:lstStyle/>
          <a:p>
            <a:r>
              <a:rPr lang="en-US" dirty="0"/>
              <a:t>Appendix</a:t>
            </a:r>
          </a:p>
        </p:txBody>
      </p:sp>
    </p:spTree>
    <p:extLst>
      <p:ext uri="{BB962C8B-B14F-4D97-AF65-F5344CB8AC3E}">
        <p14:creationId xmlns:p14="http://schemas.microsoft.com/office/powerpoint/2010/main" val="380773903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ABABC-8BA9-9182-6787-1A4A51635566}"/>
              </a:ext>
            </a:extLst>
          </p:cNvPr>
          <p:cNvSpPr>
            <a:spLocks noGrp="1"/>
          </p:cNvSpPr>
          <p:nvPr>
            <p:ph type="title"/>
          </p:nvPr>
        </p:nvSpPr>
        <p:spPr/>
        <p:txBody>
          <a:bodyPr/>
          <a:lstStyle/>
          <a:p>
            <a:r>
              <a:rPr lang="en-US" dirty="0"/>
              <a:t>Buyer voice, from Gartner’s proprietary data</a:t>
            </a:r>
          </a:p>
        </p:txBody>
      </p:sp>
      <p:sp>
        <p:nvSpPr>
          <p:cNvPr id="19" name="TextBox 18">
            <a:extLst>
              <a:ext uri="{FF2B5EF4-FFF2-40B4-BE49-F238E27FC236}">
                <a16:creationId xmlns:a16="http://schemas.microsoft.com/office/drawing/2014/main" id="{FA86F656-E6AE-0414-D8AE-5FC246F452E0}"/>
              </a:ext>
            </a:extLst>
          </p:cNvPr>
          <p:cNvSpPr txBox="1"/>
          <p:nvPr/>
        </p:nvSpPr>
        <p:spPr>
          <a:xfrm>
            <a:off x="457199" y="809476"/>
            <a:ext cx="11274552" cy="24622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57AF"/>
                </a:solidFill>
                <a:effectLst/>
                <a:uLnTx/>
                <a:uFillTx/>
                <a:latin typeface="Gartner Sans"/>
                <a:ea typeface="+mn-ea"/>
                <a:cs typeface="+mn-cs"/>
              </a:rPr>
              <a:t>Two years of iteration, from an HT seat, on live accounts under real deadlines</a:t>
            </a:r>
          </a:p>
        </p:txBody>
      </p:sp>
      <p:sp>
        <p:nvSpPr>
          <p:cNvPr id="4" name="Rectangle: Rounded Corners 3">
            <a:extLst>
              <a:ext uri="{FF2B5EF4-FFF2-40B4-BE49-F238E27FC236}">
                <a16:creationId xmlns:a16="http://schemas.microsoft.com/office/drawing/2014/main" id="{BBF42CFE-91E1-AB02-95B4-FE4E8808C9C1}"/>
              </a:ext>
            </a:extLst>
          </p:cNvPr>
          <p:cNvSpPr/>
          <p:nvPr/>
        </p:nvSpPr>
        <p:spPr>
          <a:xfrm>
            <a:off x="1346071" y="2214055"/>
            <a:ext cx="2710709" cy="19773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Gartner Sans"/>
                <a:ea typeface="+mn-ea"/>
                <a:cs typeface="+mn-cs"/>
              </a:rPr>
              <a:t>The source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Gartner Sans"/>
                <a:ea typeface="+mn-ea"/>
                <a:cs typeface="+mn-cs"/>
              </a:rPr>
              <a:t>Gartner end user interactions—what buyers actually ask, at scale</a:t>
            </a:r>
          </a:p>
        </p:txBody>
      </p:sp>
      <p:sp>
        <p:nvSpPr>
          <p:cNvPr id="6" name="Rectangle: Rounded Corners 5">
            <a:extLst>
              <a:ext uri="{FF2B5EF4-FFF2-40B4-BE49-F238E27FC236}">
                <a16:creationId xmlns:a16="http://schemas.microsoft.com/office/drawing/2014/main" id="{C4EB0D9D-4C0A-855C-0843-DB277B582B18}"/>
              </a:ext>
            </a:extLst>
          </p:cNvPr>
          <p:cNvSpPr/>
          <p:nvPr/>
        </p:nvSpPr>
        <p:spPr>
          <a:xfrm>
            <a:off x="4739120" y="2214055"/>
            <a:ext cx="2710709" cy="19773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Gartner Sans"/>
                <a:ea typeface="+mn-ea"/>
                <a:cs typeface="+mn-cs"/>
              </a:rPr>
              <a:t>The output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Gartner Sans"/>
                <a:ea typeface="+mn-ea"/>
                <a:cs typeface="+mn-cs"/>
              </a:rPr>
              <a:t>Analyst- and client-ready slides, every finding traceable to source records when requested</a:t>
            </a:r>
          </a:p>
        </p:txBody>
      </p:sp>
      <p:sp>
        <p:nvSpPr>
          <p:cNvPr id="7" name="Rectangle: Rounded Corners 6">
            <a:extLst>
              <a:ext uri="{FF2B5EF4-FFF2-40B4-BE49-F238E27FC236}">
                <a16:creationId xmlns:a16="http://schemas.microsoft.com/office/drawing/2014/main" id="{124BB891-B38F-DEFF-B08D-7187776DCF42}"/>
              </a:ext>
            </a:extLst>
          </p:cNvPr>
          <p:cNvSpPr/>
          <p:nvPr/>
        </p:nvSpPr>
        <p:spPr>
          <a:xfrm>
            <a:off x="8132169" y="2214055"/>
            <a:ext cx="2710709" cy="1977332"/>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srgbClr val="FFFFFF"/>
                </a:solidFill>
                <a:effectLst/>
                <a:uLnTx/>
                <a:uFillTx/>
                <a:latin typeface="Gartner Sans"/>
                <a:ea typeface="+mn-ea"/>
                <a:cs typeface="+mn-cs"/>
              </a:rPr>
              <a:t>The source</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Gartner Sans"/>
                <a:ea typeface="+mn-ea"/>
                <a:cs typeface="+mn-cs"/>
              </a:rPr>
              <a:t>Gartner end user interactions—what buyers actually ask, at scale</a:t>
            </a:r>
          </a:p>
        </p:txBody>
      </p:sp>
    </p:spTree>
    <p:extLst>
      <p:ext uri="{BB962C8B-B14F-4D97-AF65-F5344CB8AC3E}">
        <p14:creationId xmlns:p14="http://schemas.microsoft.com/office/powerpoint/2010/main" val="162224307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8E5298-9BE8-9D4E-0F04-5AE04D0D46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4148C4-6533-62B2-24F7-89A8FB46160B}"/>
              </a:ext>
            </a:extLst>
          </p:cNvPr>
          <p:cNvSpPr>
            <a:spLocks noGrp="1"/>
          </p:cNvSpPr>
          <p:nvPr>
            <p:ph type="title"/>
          </p:nvPr>
        </p:nvSpPr>
        <p:spPr/>
        <p:txBody>
          <a:bodyPr/>
          <a:lstStyle/>
          <a:p>
            <a:r>
              <a:rPr lang="en-US" dirty="0"/>
              <a:t>The OpenAI analysis, end-to-end</a:t>
            </a:r>
          </a:p>
        </p:txBody>
      </p:sp>
      <p:sp>
        <p:nvSpPr>
          <p:cNvPr id="19" name="TextBox 18">
            <a:extLst>
              <a:ext uri="{FF2B5EF4-FFF2-40B4-BE49-F238E27FC236}">
                <a16:creationId xmlns:a16="http://schemas.microsoft.com/office/drawing/2014/main" id="{7075DEB3-EB00-7B4F-C8CF-C01ACE8B4AAC}"/>
              </a:ext>
            </a:extLst>
          </p:cNvPr>
          <p:cNvSpPr txBox="1"/>
          <p:nvPr/>
        </p:nvSpPr>
        <p:spPr>
          <a:xfrm>
            <a:off x="457199" y="809476"/>
            <a:ext cx="11274552" cy="24622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57AF"/>
                </a:solidFill>
                <a:effectLst/>
                <a:uLnTx/>
                <a:uFillTx/>
                <a:latin typeface="Gartner Sans"/>
                <a:ea typeface="+mn-ea"/>
                <a:cs typeface="+mn-cs"/>
              </a:rPr>
              <a:t>Three asks, one pull, and the decisions in between</a:t>
            </a:r>
          </a:p>
        </p:txBody>
      </p:sp>
      <p:graphicFrame>
        <p:nvGraphicFramePr>
          <p:cNvPr id="3" name="Table 2">
            <a:extLst>
              <a:ext uri="{FF2B5EF4-FFF2-40B4-BE49-F238E27FC236}">
                <a16:creationId xmlns:a16="http://schemas.microsoft.com/office/drawing/2014/main" id="{DC13EC71-FA5F-E64F-3EA6-21AD2B26992B}"/>
              </a:ext>
            </a:extLst>
          </p:cNvPr>
          <p:cNvGraphicFramePr>
            <a:graphicFrameLocks noGrp="1"/>
          </p:cNvGraphicFramePr>
          <p:nvPr/>
        </p:nvGraphicFramePr>
        <p:xfrm>
          <a:off x="457199" y="1503223"/>
          <a:ext cx="8128000" cy="4238139"/>
        </p:xfrm>
        <a:graphic>
          <a:graphicData uri="http://schemas.openxmlformats.org/drawingml/2006/table">
            <a:tbl>
              <a:tblPr bandRow="1">
                <a:tableStyleId>{6E25E649-3F16-4E02-A733-19D2CDBF48F0}</a:tableStyleId>
              </a:tblPr>
              <a:tblGrid>
                <a:gridCol w="8128000">
                  <a:extLst>
                    <a:ext uri="{9D8B030D-6E8A-4147-A177-3AD203B41FA5}">
                      <a16:colId xmlns:a16="http://schemas.microsoft.com/office/drawing/2014/main" val="3110628721"/>
                    </a:ext>
                  </a:extLst>
                </a:gridCol>
              </a:tblGrid>
              <a:tr h="1543729">
                <a:tc>
                  <a:txBody>
                    <a:bodyPr/>
                    <a:lstStyle/>
                    <a:p>
                      <a:pPr marL="342900" indent="-342900">
                        <a:buAutoNum type="arabicPeriod"/>
                      </a:pPr>
                      <a:r>
                        <a:rPr lang="en-US" b="1" dirty="0">
                          <a:latin typeface="Gartner Sans Semibold" panose="020B0704030402040204" pitchFamily="34" charset="0"/>
                        </a:rPr>
                        <a:t>The asks</a:t>
                      </a:r>
                    </a:p>
                    <a:p>
                      <a:pPr marL="0" indent="0">
                        <a:buNone/>
                      </a:pPr>
                      <a:r>
                        <a:rPr lang="en-US" i="1" dirty="0"/>
                        <a:t>Three people wanted different things from the same analysis</a:t>
                      </a:r>
                    </a:p>
                    <a:p>
                      <a:pPr marL="285750" indent="-285750">
                        <a:buFontTx/>
                        <a:buChar char="-"/>
                      </a:pPr>
                      <a:r>
                        <a:rPr lang="en-US" dirty="0"/>
                        <a:t>AI analyst: where is OpenAI gaining ground, and what’s it like to work with them?</a:t>
                      </a:r>
                    </a:p>
                    <a:p>
                      <a:pPr marL="285750" indent="-285750">
                        <a:buFontTx/>
                        <a:buChar char="-"/>
                      </a:pPr>
                      <a:r>
                        <a:rPr lang="en-US" dirty="0"/>
                        <a:t>GGM analyst: the buyer-voice view, split by enterprise vs consumer-facing</a:t>
                      </a:r>
                    </a:p>
                    <a:p>
                      <a:pPr marL="285750" indent="-285750">
                        <a:buFontTx/>
                        <a:buChar char="-"/>
                      </a:pPr>
                      <a:r>
                        <a:rPr lang="en-US" dirty="0"/>
                        <a:t>Account AE: top questions buyers are asking, per market</a:t>
                      </a:r>
                    </a:p>
                  </a:txBody>
                  <a:tcPr>
                    <a:lnL>
                      <a:noFill/>
                    </a:lnL>
                    <a:lnR>
                      <a:noFill/>
                    </a:lnR>
                    <a:lnT w="25400" cmpd="sng">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17597919"/>
                  </a:ext>
                </a:extLst>
              </a:tr>
              <a:tr h="1536170">
                <a:tc>
                  <a:txBody>
                    <a:bodyPr/>
                    <a:lstStyle/>
                    <a:p>
                      <a:r>
                        <a:rPr lang="en-US" b="1" dirty="0">
                          <a:latin typeface="Gartner Sans Semibold" panose="020B0704030402040204" pitchFamily="34" charset="0"/>
                        </a:rPr>
                        <a:t>2. The decisions</a:t>
                      </a:r>
                    </a:p>
                    <a:p>
                      <a:r>
                        <a:rPr lang="en-US" i="1" dirty="0"/>
                        <a:t>Judgement calls made before any output existed</a:t>
                      </a:r>
                    </a:p>
                    <a:p>
                      <a:pPr marL="285750" indent="-285750">
                        <a:buFontTx/>
                        <a:buChar char="-"/>
                      </a:pPr>
                      <a:r>
                        <a:rPr lang="en-US" dirty="0"/>
                        <a:t>One pull, not three: same corpus, different questions asked of it</a:t>
                      </a:r>
                    </a:p>
                    <a:p>
                      <a:pPr marL="285750" indent="-285750">
                        <a:buFontTx/>
                        <a:buChar char="-"/>
                      </a:pPr>
                      <a:r>
                        <a:rPr lang="en-US" dirty="0"/>
                        <a:t>Keyword scope tuned to avoid false positives from adjacent topics</a:t>
                      </a:r>
                    </a:p>
                    <a:p>
                      <a:pPr marL="285750" indent="-285750">
                        <a:buFontTx/>
                        <a:buChar char="-"/>
                      </a:pPr>
                      <a:r>
                        <a:rPr lang="en-US" dirty="0"/>
                        <a:t>Market cuts made in the prompt, not the query—no re-pulling per market</a:t>
                      </a:r>
                    </a:p>
                    <a:p>
                      <a:pPr marL="285750" indent="-285750">
                        <a:buFontTx/>
                        <a:buChar char="-"/>
                      </a:pPr>
                      <a:r>
                        <a:rPr lang="en-US" dirty="0"/>
                        <a:t>Anchoring test: does the buyer mean this vendor, or just mention them?</a:t>
                      </a:r>
                    </a:p>
                  </a:txBody>
                  <a:tcPr>
                    <a:lnL>
                      <a:noFill/>
                    </a:lnL>
                    <a:lnR>
                      <a:noFill/>
                    </a:lnR>
                    <a:lnT>
                      <a:noFill/>
                    </a:lnT>
                    <a:lnB>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17949064"/>
                  </a:ext>
                </a:extLst>
              </a:tr>
              <a:tr h="972025">
                <a:tc>
                  <a:txBody>
                    <a:bodyPr/>
                    <a:lstStyle/>
                    <a:p>
                      <a:r>
                        <a:rPr lang="en-US" b="1" dirty="0">
                          <a:latin typeface="Gartner Sans Semibold" panose="020B0704030402040204" pitchFamily="34" charset="0"/>
                        </a:rPr>
                        <a:t>3. The build and the share</a:t>
                      </a:r>
                    </a:p>
                    <a:p>
                      <a:pPr marL="285750" indent="-285750">
                        <a:buFontTx/>
                        <a:buChar char="-"/>
                      </a:pPr>
                      <a:r>
                        <a:rPr lang="en-US" dirty="0"/>
                        <a:t>Client-identifiable detail stripped before anything reached a page</a:t>
                      </a:r>
                    </a:p>
                    <a:p>
                      <a:pPr marL="285750" indent="-285750">
                        <a:buFontTx/>
                        <a:buChar char="-"/>
                      </a:pPr>
                      <a:r>
                        <a:rPr lang="en-US" dirty="0"/>
                        <a:t>Evidence-base size stated in the methodology</a:t>
                      </a:r>
                    </a:p>
                    <a:p>
                      <a:pPr marL="285750" indent="-285750">
                        <a:buFontTx/>
                        <a:buChar char="-"/>
                      </a:pPr>
                      <a:r>
                        <a:rPr lang="en-US" dirty="0"/>
                        <a:t>Shipped internal-only, with sign-off required before anything goes client-facing</a:t>
                      </a:r>
                    </a:p>
                    <a:p>
                      <a:endParaRPr lang="en-US" dirty="0"/>
                    </a:p>
                  </a:txBody>
                  <a:tcPr>
                    <a:lnL>
                      <a:noFill/>
                    </a:lnL>
                    <a:lnR>
                      <a:noFill/>
                    </a:lnR>
                    <a:lnT>
                      <a:noFill/>
                    </a:lnT>
                    <a:lnB w="254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32034404"/>
                  </a:ext>
                </a:extLst>
              </a:tr>
            </a:tbl>
          </a:graphicData>
        </a:graphic>
      </p:graphicFrame>
    </p:spTree>
    <p:extLst>
      <p:ext uri="{BB962C8B-B14F-4D97-AF65-F5344CB8AC3E}">
        <p14:creationId xmlns:p14="http://schemas.microsoft.com/office/powerpoint/2010/main" val="2509976875"/>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382EE-55B5-7C3C-A70B-12561E19EC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F9CA4A5-B599-E1B0-5A94-C6376331474A}"/>
              </a:ext>
            </a:extLst>
          </p:cNvPr>
          <p:cNvSpPr>
            <a:spLocks noGrp="1"/>
          </p:cNvSpPr>
          <p:nvPr>
            <p:ph type="title"/>
          </p:nvPr>
        </p:nvSpPr>
        <p:spPr/>
        <p:txBody>
          <a:bodyPr/>
          <a:lstStyle/>
          <a:p>
            <a:r>
              <a:rPr lang="en-US" dirty="0"/>
              <a:t>Different ways to look at the data</a:t>
            </a:r>
          </a:p>
        </p:txBody>
      </p:sp>
      <p:sp>
        <p:nvSpPr>
          <p:cNvPr id="19" name="TextBox 18">
            <a:extLst>
              <a:ext uri="{FF2B5EF4-FFF2-40B4-BE49-F238E27FC236}">
                <a16:creationId xmlns:a16="http://schemas.microsoft.com/office/drawing/2014/main" id="{B99B530E-B8BF-7F22-982E-C5FC26D6B33A}"/>
              </a:ext>
            </a:extLst>
          </p:cNvPr>
          <p:cNvSpPr txBox="1"/>
          <p:nvPr/>
        </p:nvSpPr>
        <p:spPr>
          <a:xfrm>
            <a:off x="457199" y="809476"/>
            <a:ext cx="11274552" cy="24622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57AF"/>
                </a:solidFill>
                <a:effectLst/>
                <a:uLnTx/>
                <a:uFillTx/>
                <a:latin typeface="Gartner Sans"/>
                <a:ea typeface="+mn-ea"/>
                <a:cs typeface="+mn-cs"/>
              </a:rPr>
              <a:t>Every analysis starts with a choice of anchor. Each can be a point-in-time read or run across quarters to show movement.</a:t>
            </a:r>
          </a:p>
        </p:txBody>
      </p:sp>
      <p:sp>
        <p:nvSpPr>
          <p:cNvPr id="4" name="Rectangle: Rounded Corners 3">
            <a:extLst>
              <a:ext uri="{FF2B5EF4-FFF2-40B4-BE49-F238E27FC236}">
                <a16:creationId xmlns:a16="http://schemas.microsoft.com/office/drawing/2014/main" id="{28B4C5EC-574C-350C-4150-ED169EB77D11}"/>
              </a:ext>
            </a:extLst>
          </p:cNvPr>
          <p:cNvSpPr/>
          <p:nvPr/>
        </p:nvSpPr>
        <p:spPr>
          <a:xfrm>
            <a:off x="457199" y="1443545"/>
            <a:ext cx="11274552" cy="798360"/>
          </a:xfrm>
          <a:prstGeom prst="roundRect">
            <a:avLst/>
          </a:prstGeom>
          <a:solidFill>
            <a:srgbClr val="5A798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Gartner Sans Semibold" panose="020B0704030402040204" pitchFamily="34" charset="0"/>
                <a:ea typeface="+mn-ea"/>
                <a:cs typeface="+mn-cs"/>
              </a:rPr>
              <a:t>Market view</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Gartner Sans"/>
                <a:ea typeface="+mn-ea"/>
                <a:cs typeface="+mn-cs"/>
              </a:rPr>
              <a:t>No vendor anchor. Where is demand heading, and what do buyers care about now?</a:t>
            </a:r>
          </a:p>
        </p:txBody>
      </p:sp>
      <p:sp>
        <p:nvSpPr>
          <p:cNvPr id="5" name="Rectangle: Rounded Corners 4">
            <a:extLst>
              <a:ext uri="{FF2B5EF4-FFF2-40B4-BE49-F238E27FC236}">
                <a16:creationId xmlns:a16="http://schemas.microsoft.com/office/drawing/2014/main" id="{EDA7E54A-6122-06CB-2FD5-80B2017DE90E}"/>
              </a:ext>
            </a:extLst>
          </p:cNvPr>
          <p:cNvSpPr/>
          <p:nvPr/>
        </p:nvSpPr>
        <p:spPr>
          <a:xfrm>
            <a:off x="457199" y="2329321"/>
            <a:ext cx="11274552" cy="798360"/>
          </a:xfrm>
          <a:prstGeom prst="round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Gartner Sans Semibold" panose="020B0704030402040204" pitchFamily="34" charset="0"/>
                <a:ea typeface="+mn-ea"/>
                <a:cs typeface="+mn-cs"/>
              </a:rPr>
              <a:t>Vendor view</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Gartner Sans"/>
                <a:ea typeface="+mn-ea"/>
                <a:cs typeface="+mn-cs"/>
              </a:rPr>
              <a:t>All topics, one vendor. Where do they surface, and how do buyers frame them?</a:t>
            </a:r>
          </a:p>
        </p:txBody>
      </p:sp>
      <p:sp>
        <p:nvSpPr>
          <p:cNvPr id="6" name="Rectangle: Rounded Corners 5">
            <a:extLst>
              <a:ext uri="{FF2B5EF4-FFF2-40B4-BE49-F238E27FC236}">
                <a16:creationId xmlns:a16="http://schemas.microsoft.com/office/drawing/2014/main" id="{FE793489-B530-23FB-1CD8-4EFAED8E5091}"/>
              </a:ext>
            </a:extLst>
          </p:cNvPr>
          <p:cNvSpPr/>
          <p:nvPr/>
        </p:nvSpPr>
        <p:spPr>
          <a:xfrm>
            <a:off x="457199" y="3215097"/>
            <a:ext cx="11274552" cy="798360"/>
          </a:xfrm>
          <a:prstGeom prst="round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Gartner Sans Semibold" panose="020B0704030402040204" pitchFamily="34" charset="0"/>
                <a:ea typeface="+mn-ea"/>
                <a:cs typeface="+mn-cs"/>
              </a:rPr>
              <a:t>Vendor-in-market view</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Gartner Sans"/>
                <a:ea typeface="+mn-ea"/>
                <a:cs typeface="+mn-cs"/>
              </a:rPr>
              <a:t>One vendor, one defined market. What are buyers asking where they’re evaluating?</a:t>
            </a:r>
          </a:p>
        </p:txBody>
      </p:sp>
      <p:sp>
        <p:nvSpPr>
          <p:cNvPr id="7" name="Rectangle: Rounded Corners 6">
            <a:extLst>
              <a:ext uri="{FF2B5EF4-FFF2-40B4-BE49-F238E27FC236}">
                <a16:creationId xmlns:a16="http://schemas.microsoft.com/office/drawing/2014/main" id="{E7E52120-7754-8886-112A-072F854EA4F8}"/>
              </a:ext>
            </a:extLst>
          </p:cNvPr>
          <p:cNvSpPr/>
          <p:nvPr/>
        </p:nvSpPr>
        <p:spPr>
          <a:xfrm>
            <a:off x="457199" y="4100873"/>
            <a:ext cx="11274552" cy="798360"/>
          </a:xfrm>
          <a:prstGeom prst="roundRect">
            <a:avLst/>
          </a:prstGeom>
          <a:solidFill>
            <a:srgbClr val="1F96FF"/>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Gartner Sans Semibold" panose="020B0704030402040204" pitchFamily="34" charset="0"/>
                <a:ea typeface="+mn-ea"/>
                <a:cs typeface="+mn-cs"/>
              </a:rPr>
              <a:t>Vendor relationship view</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Gartner Sans"/>
                <a:ea typeface="+mn-ea"/>
                <a:cs typeface="+mn-cs"/>
              </a:rPr>
              <a:t>Pricing, contracting, support, renewal. What’s it like to be their customer?</a:t>
            </a:r>
          </a:p>
        </p:txBody>
      </p:sp>
      <p:sp>
        <p:nvSpPr>
          <p:cNvPr id="8" name="Rectangle: Rounded Corners 7">
            <a:extLst>
              <a:ext uri="{FF2B5EF4-FFF2-40B4-BE49-F238E27FC236}">
                <a16:creationId xmlns:a16="http://schemas.microsoft.com/office/drawing/2014/main" id="{61B82BC7-0F4C-8CCA-0B58-0F75508B0046}"/>
              </a:ext>
            </a:extLst>
          </p:cNvPr>
          <p:cNvSpPr/>
          <p:nvPr/>
        </p:nvSpPr>
        <p:spPr>
          <a:xfrm>
            <a:off x="457199" y="4986649"/>
            <a:ext cx="11274552" cy="798360"/>
          </a:xfrm>
          <a:prstGeom prst="roundRect">
            <a:avLst/>
          </a:prstGeom>
          <a:solidFill>
            <a:srgbClr val="E3613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91440" rIns="91440" bIns="91440" numCol="1" spcCol="0" rtlCol="0" fromWordArt="0" anchor="ctr" anchorCtr="0" forceAA="0" compatLnSpc="1">
            <a:prstTxWarp prst="textNoShape">
              <a:avLst/>
            </a:prstTxWarp>
            <a:no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Gartner Sans Semibold" panose="020B0704030402040204" pitchFamily="34" charset="0"/>
                <a:ea typeface="+mn-ea"/>
                <a:cs typeface="+mn-cs"/>
              </a:rPr>
              <a:t>Absence view</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Gartner Sans"/>
                <a:ea typeface="+mn-ea"/>
                <a:cs typeface="+mn-cs"/>
              </a:rPr>
              <a:t>Where the vendor never comes up. Who owns the conversation they’re missing from?</a:t>
            </a:r>
          </a:p>
        </p:txBody>
      </p:sp>
    </p:spTree>
    <p:extLst>
      <p:ext uri="{BB962C8B-B14F-4D97-AF65-F5344CB8AC3E}">
        <p14:creationId xmlns:p14="http://schemas.microsoft.com/office/powerpoint/2010/main" val="265352817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0356A-FB6F-B3CE-E95A-E71D95F9CB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FAFE3E-5092-381E-9DD7-442C5A78D9CA}"/>
              </a:ext>
            </a:extLst>
          </p:cNvPr>
          <p:cNvSpPr>
            <a:spLocks noGrp="1"/>
          </p:cNvSpPr>
          <p:nvPr>
            <p:ph type="title"/>
          </p:nvPr>
        </p:nvSpPr>
        <p:spPr/>
        <p:txBody>
          <a:bodyPr/>
          <a:lstStyle/>
          <a:p>
            <a:r>
              <a:rPr lang="en-US" dirty="0"/>
              <a:t>Where a trained team takes over, and where it can’t</a:t>
            </a:r>
          </a:p>
        </p:txBody>
      </p:sp>
      <p:sp>
        <p:nvSpPr>
          <p:cNvPr id="19" name="TextBox 18">
            <a:extLst>
              <a:ext uri="{FF2B5EF4-FFF2-40B4-BE49-F238E27FC236}">
                <a16:creationId xmlns:a16="http://schemas.microsoft.com/office/drawing/2014/main" id="{2ABB0F38-AB2C-C362-6DCF-C472B7D798AF}"/>
              </a:ext>
            </a:extLst>
          </p:cNvPr>
          <p:cNvSpPr txBox="1"/>
          <p:nvPr/>
        </p:nvSpPr>
        <p:spPr>
          <a:xfrm>
            <a:off x="457199" y="809476"/>
            <a:ext cx="11274552" cy="246221"/>
          </a:xfrm>
          <a:prstGeom prst="rect">
            <a:avLst/>
          </a:prstGeom>
          <a:noFill/>
        </p:spPr>
        <p:txBody>
          <a:bodyPr wrap="square" lIns="0" tIns="0" rIns="0" bIns="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57AF"/>
                </a:solidFill>
                <a:effectLst/>
                <a:uLnTx/>
                <a:uFillTx/>
                <a:latin typeface="Gartner Sans"/>
                <a:ea typeface="+mn-ea"/>
                <a:cs typeface="+mn-cs"/>
              </a:rPr>
              <a:t>The mechanics are teachable. The judgement calls that make the numbers defensible are the practice.</a:t>
            </a:r>
          </a:p>
        </p:txBody>
      </p:sp>
      <p:graphicFrame>
        <p:nvGraphicFramePr>
          <p:cNvPr id="3" name="Table 2">
            <a:extLst>
              <a:ext uri="{FF2B5EF4-FFF2-40B4-BE49-F238E27FC236}">
                <a16:creationId xmlns:a16="http://schemas.microsoft.com/office/drawing/2014/main" id="{DB6A1F4A-6223-84B3-6139-05B215720757}"/>
              </a:ext>
            </a:extLst>
          </p:cNvPr>
          <p:cNvGraphicFramePr>
            <a:graphicFrameLocks noGrp="1"/>
          </p:cNvGraphicFramePr>
          <p:nvPr/>
        </p:nvGraphicFramePr>
        <p:xfrm>
          <a:off x="458724" y="1661011"/>
          <a:ext cx="11274552" cy="3444775"/>
        </p:xfrm>
        <a:graphic>
          <a:graphicData uri="http://schemas.openxmlformats.org/drawingml/2006/table">
            <a:tbl>
              <a:tblPr firstRow="1" bandRow="1">
                <a:tableStyleId>{6E25E649-3F16-4E02-A733-19D2CDBF48F0}</a:tableStyleId>
              </a:tblPr>
              <a:tblGrid>
                <a:gridCol w="5637276">
                  <a:extLst>
                    <a:ext uri="{9D8B030D-6E8A-4147-A177-3AD203B41FA5}">
                      <a16:colId xmlns:a16="http://schemas.microsoft.com/office/drawing/2014/main" val="3193674934"/>
                    </a:ext>
                  </a:extLst>
                </a:gridCol>
                <a:gridCol w="5637276">
                  <a:extLst>
                    <a:ext uri="{9D8B030D-6E8A-4147-A177-3AD203B41FA5}">
                      <a16:colId xmlns:a16="http://schemas.microsoft.com/office/drawing/2014/main" val="2406290661"/>
                    </a:ext>
                  </a:extLst>
                </a:gridCol>
              </a:tblGrid>
              <a:tr h="396780">
                <a:tc>
                  <a:txBody>
                    <a:bodyPr/>
                    <a:lstStyle/>
                    <a:p>
                      <a:r>
                        <a:rPr lang="en-US" sz="1600" dirty="0"/>
                        <a:t>Teachable</a:t>
                      </a:r>
                    </a:p>
                  </a:txBody>
                  <a:tcPr anchor="ctr">
                    <a:lnL>
                      <a:noFill/>
                    </a:lnL>
                    <a:lnR>
                      <a:noFill/>
                    </a:lnR>
                    <a:lnT w="25400" cmpd="sng">
                      <a:noFill/>
                    </a:lnT>
                    <a:lnB w="25400" cmpd="sng">
                      <a:noFill/>
                    </a:lnB>
                    <a:lnTlToBr w="12700" cmpd="sng">
                      <a:noFill/>
                      <a:prstDash val="solid"/>
                    </a:lnTlToBr>
                    <a:lnBlToTr w="12700" cmpd="sng">
                      <a:noFill/>
                      <a:prstDash val="solid"/>
                    </a:lnBlToTr>
                  </a:tcPr>
                </a:tc>
                <a:tc>
                  <a:txBody>
                    <a:bodyPr/>
                    <a:lstStyle/>
                    <a:p>
                      <a:r>
                        <a:rPr lang="en-US" sz="1600" dirty="0"/>
                        <a:t>Practitioner Judgement</a:t>
                      </a:r>
                    </a:p>
                  </a:txBody>
                  <a:tcPr anchor="ctr">
                    <a:lnL>
                      <a:noFill/>
                    </a:lnL>
                    <a:lnR>
                      <a:noFill/>
                    </a:lnR>
                    <a:lnT w="25400" cmpd="sng">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2121661911"/>
                  </a:ext>
                </a:extLst>
              </a:tr>
              <a:tr h="3047995">
                <a:tc>
                  <a:txBody>
                    <a:bodyPr/>
                    <a:lstStyle/>
                    <a:p>
                      <a:pPr marL="285750" indent="-285750">
                        <a:buFont typeface="Arial" panose="020B0604020202020204" pitchFamily="34" charset="0"/>
                        <a:buChar char="•"/>
                      </a:pPr>
                      <a:r>
                        <a:rPr lang="en-US" sz="1600" dirty="0"/>
                        <a:t>Running the data pull that decides which client conversations are included</a:t>
                      </a:r>
                    </a:p>
                    <a:p>
                      <a:pPr marL="285750" indent="-285750">
                        <a:buFont typeface="Arial" panose="020B0604020202020204" pitchFamily="34" charset="0"/>
                        <a:buChar char="•"/>
                      </a:pPr>
                      <a:r>
                        <a:rPr lang="en-US" sz="1600" dirty="0"/>
                        <a:t>Loading the written rulebook (persistent prompt) that governs how the AI reads them</a:t>
                      </a:r>
                    </a:p>
                    <a:p>
                      <a:pPr marL="285750" indent="-285750">
                        <a:buFont typeface="Arial" panose="020B0604020202020204" pitchFamily="34" charset="0"/>
                        <a:buChar char="•"/>
                      </a:pPr>
                      <a:r>
                        <a:rPr lang="en-US" sz="1600" dirty="0"/>
                        <a:t>Running the two-step analysis: find what’s there, then consolidate it into themes</a:t>
                      </a:r>
                    </a:p>
                    <a:p>
                      <a:pPr marL="285750" indent="-285750">
                        <a:buFont typeface="Arial" panose="020B0604020202020204" pitchFamily="34" charset="0"/>
                        <a:buChar char="•"/>
                      </a:pPr>
                      <a:r>
                        <a:rPr lang="en-US" sz="1600" dirty="0"/>
                        <a:t>Building slides from the output</a:t>
                      </a:r>
                    </a:p>
                  </a:txBody>
                  <a:tcPr marT="91440">
                    <a:lnL>
                      <a:noFill/>
                    </a:lnL>
                    <a:lnR>
                      <a:noFill/>
                    </a:lnR>
                    <a:lnT w="25400" cmpd="sng">
                      <a:noFill/>
                    </a:lnT>
                    <a:lnB w="25400" cmpd="sng">
                      <a:noFill/>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US" sz="1600" dirty="0"/>
                        <a:t>Deciding what belongs in the data set before a query is written</a:t>
                      </a:r>
                    </a:p>
                    <a:p>
                      <a:pPr marL="285750" indent="-285750">
                        <a:buFont typeface="Arial" panose="020B0604020202020204" pitchFamily="34" charset="0"/>
                        <a:buChar char="•"/>
                      </a:pPr>
                      <a:r>
                        <a:rPr lang="en-US" sz="1600" dirty="0"/>
                        <a:t>Drawing market boundaries when buyers don’t talk in market categories</a:t>
                      </a:r>
                    </a:p>
                    <a:p>
                      <a:pPr marL="285750" indent="-285750">
                        <a:buFont typeface="Arial" panose="020B0604020202020204" pitchFamily="34" charset="0"/>
                        <a:buChar char="•"/>
                      </a:pPr>
                      <a:r>
                        <a:rPr lang="en-US" sz="1600" dirty="0"/>
                        <a:t>Knowing when the AI is producing a confident answer with nothing behind it</a:t>
                      </a:r>
                    </a:p>
                    <a:p>
                      <a:pPr marL="285750" indent="-285750">
                        <a:buFont typeface="Arial" panose="020B0604020202020204" pitchFamily="34" charset="0"/>
                        <a:buChar char="•"/>
                      </a:pPr>
                      <a:r>
                        <a:rPr lang="en-US" sz="1600" dirty="0"/>
                        <a:t>Catching client-identifiable detail before it reaches a client-facing slide</a:t>
                      </a:r>
                    </a:p>
                    <a:p>
                      <a:pPr marL="285750" indent="-285750">
                        <a:buFont typeface="Arial" panose="020B0604020202020204" pitchFamily="34" charset="0"/>
                        <a:buChar char="•"/>
                      </a:pPr>
                      <a:r>
                        <a:rPr lang="en-US" sz="1600" dirty="0"/>
                        <a:t>Calling which findings are strong enough to put in front of an executive</a:t>
                      </a:r>
                    </a:p>
                  </a:txBody>
                  <a:tcPr marT="91440">
                    <a:lnL>
                      <a:noFill/>
                    </a:lnL>
                    <a:lnR>
                      <a:noFill/>
                    </a:lnR>
                    <a:lnT w="25400" cmpd="sng">
                      <a:noFill/>
                    </a:lnT>
                    <a:lnB w="254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5055909"/>
                  </a:ext>
                </a:extLst>
              </a:tr>
            </a:tbl>
          </a:graphicData>
        </a:graphic>
      </p:graphicFrame>
    </p:spTree>
    <p:extLst>
      <p:ext uri="{BB962C8B-B14F-4D97-AF65-F5344CB8AC3E}">
        <p14:creationId xmlns:p14="http://schemas.microsoft.com/office/powerpoint/2010/main" val="3339143813"/>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B5773-F4DA-9ADA-7994-A6DAFEB114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086790-D5E2-E037-EE01-428EFC74AA34}"/>
              </a:ext>
            </a:extLst>
          </p:cNvPr>
          <p:cNvSpPr>
            <a:spLocks noGrp="1"/>
          </p:cNvSpPr>
          <p:nvPr>
            <p:ph type="title"/>
          </p:nvPr>
        </p:nvSpPr>
        <p:spPr/>
        <p:txBody>
          <a:bodyPr/>
          <a:lstStyle/>
          <a:p>
            <a:r>
              <a:rPr lang="en-US" dirty="0"/>
              <a:t>Automation status</a:t>
            </a:r>
          </a:p>
        </p:txBody>
      </p:sp>
      <p:graphicFrame>
        <p:nvGraphicFramePr>
          <p:cNvPr id="3" name="Table 2">
            <a:extLst>
              <a:ext uri="{FF2B5EF4-FFF2-40B4-BE49-F238E27FC236}">
                <a16:creationId xmlns:a16="http://schemas.microsoft.com/office/drawing/2014/main" id="{2A6F4C9B-B943-C616-7757-9F382F50820C}"/>
              </a:ext>
            </a:extLst>
          </p:cNvPr>
          <p:cNvGraphicFramePr>
            <a:graphicFrameLocks noGrp="1"/>
          </p:cNvGraphicFramePr>
          <p:nvPr/>
        </p:nvGraphicFramePr>
        <p:xfrm>
          <a:off x="458724" y="1661011"/>
          <a:ext cx="11274552" cy="3444775"/>
        </p:xfrm>
        <a:graphic>
          <a:graphicData uri="http://schemas.openxmlformats.org/drawingml/2006/table">
            <a:tbl>
              <a:tblPr firstRow="1" bandRow="1">
                <a:tableStyleId>{6E25E649-3F16-4E02-A733-19D2CDBF48F0}</a:tableStyleId>
              </a:tblPr>
              <a:tblGrid>
                <a:gridCol w="3758184">
                  <a:extLst>
                    <a:ext uri="{9D8B030D-6E8A-4147-A177-3AD203B41FA5}">
                      <a16:colId xmlns:a16="http://schemas.microsoft.com/office/drawing/2014/main" val="3193674934"/>
                    </a:ext>
                  </a:extLst>
                </a:gridCol>
                <a:gridCol w="3758184">
                  <a:extLst>
                    <a:ext uri="{9D8B030D-6E8A-4147-A177-3AD203B41FA5}">
                      <a16:colId xmlns:a16="http://schemas.microsoft.com/office/drawing/2014/main" val="2406290661"/>
                    </a:ext>
                  </a:extLst>
                </a:gridCol>
                <a:gridCol w="3758184">
                  <a:extLst>
                    <a:ext uri="{9D8B030D-6E8A-4147-A177-3AD203B41FA5}">
                      <a16:colId xmlns:a16="http://schemas.microsoft.com/office/drawing/2014/main" val="2661368846"/>
                    </a:ext>
                  </a:extLst>
                </a:gridCol>
              </a:tblGrid>
              <a:tr h="396780">
                <a:tc>
                  <a:txBody>
                    <a:bodyPr/>
                    <a:lstStyle/>
                    <a:p>
                      <a:r>
                        <a:rPr lang="en-US" sz="1600" dirty="0"/>
                        <a:t>Already automated</a:t>
                      </a:r>
                    </a:p>
                  </a:txBody>
                  <a:tcPr anchor="ctr">
                    <a:lnL>
                      <a:noFill/>
                    </a:lnL>
                    <a:lnR>
                      <a:noFill/>
                    </a:lnR>
                    <a:lnT w="25400" cmpd="sng">
                      <a:noFill/>
                    </a:lnT>
                    <a:lnB w="25400" cmpd="sng">
                      <a:noFill/>
                    </a:lnB>
                    <a:lnTlToBr w="12700" cmpd="sng">
                      <a:noFill/>
                      <a:prstDash val="solid"/>
                    </a:lnTlToBr>
                    <a:lnBlToTr w="12700" cmpd="sng">
                      <a:noFill/>
                      <a:prstDash val="solid"/>
                    </a:lnBlToTr>
                  </a:tcPr>
                </a:tc>
                <a:tc>
                  <a:txBody>
                    <a:bodyPr/>
                    <a:lstStyle/>
                    <a:p>
                      <a:r>
                        <a:rPr lang="en-US" sz="1600" dirty="0"/>
                        <a:t>To Automate</a:t>
                      </a:r>
                    </a:p>
                  </a:txBody>
                  <a:tcPr anchor="ctr">
                    <a:lnL>
                      <a:noFill/>
                    </a:lnL>
                    <a:lnR>
                      <a:noFill/>
                    </a:lnR>
                    <a:lnT w="25400" cmpd="sng">
                      <a:noFill/>
                    </a:lnT>
                    <a:lnB w="25400" cmpd="sng">
                      <a:noFill/>
                    </a:lnB>
                    <a:lnTlToBr w="12700" cmpd="sng">
                      <a:noFill/>
                      <a:prstDash val="solid"/>
                    </a:lnTlToBr>
                    <a:lnBlToTr w="12700" cmpd="sng">
                      <a:noFill/>
                      <a:prstDash val="solid"/>
                    </a:lnBlToTr>
                  </a:tcPr>
                </a:tc>
                <a:tc>
                  <a:txBody>
                    <a:bodyPr/>
                    <a:lstStyle/>
                    <a:p>
                      <a:r>
                        <a:rPr lang="en-US" sz="1600" dirty="0"/>
                        <a:t>Manual on Purpose</a:t>
                      </a:r>
                    </a:p>
                  </a:txBody>
                  <a:tcPr anchor="ctr">
                    <a:lnL>
                      <a:noFill/>
                    </a:lnL>
                    <a:lnR>
                      <a:noFill/>
                    </a:lnR>
                    <a:lnT w="25400" cmpd="sng">
                      <a:noFill/>
                    </a:lnT>
                    <a:lnB w="25400" cmpd="sng">
                      <a:noFill/>
                    </a:lnB>
                    <a:lnTlToBr w="12700" cmpd="sng">
                      <a:noFill/>
                      <a:prstDash val="solid"/>
                    </a:lnTlToBr>
                    <a:lnBlToTr w="12700" cmpd="sng">
                      <a:noFill/>
                      <a:prstDash val="solid"/>
                    </a:lnBlToTr>
                  </a:tcPr>
                </a:tc>
                <a:extLst>
                  <a:ext uri="{0D108BD9-81ED-4DB2-BD59-A6C34878D82A}">
                    <a16:rowId xmlns:a16="http://schemas.microsoft.com/office/drawing/2014/main" val="2121661911"/>
                  </a:ext>
                </a:extLst>
              </a:tr>
              <a:tr h="3047995">
                <a:tc>
                  <a:txBody>
                    <a:bodyPr/>
                    <a:lstStyle/>
                    <a:p>
                      <a:pPr marL="285750" indent="-285750">
                        <a:buFont typeface="Arial" panose="020B0604020202020204" pitchFamily="34" charset="0"/>
                        <a:buChar char="•"/>
                      </a:pPr>
                      <a:r>
                        <a:rPr lang="en-US" sz="1600" dirty="0"/>
                        <a:t>Python formatter batching GEAR exports into analysis-ready files by quarter</a:t>
                      </a:r>
                    </a:p>
                    <a:p>
                      <a:pPr marL="285750" indent="-285750">
                        <a:buFont typeface="Arial" panose="020B0604020202020204" pitchFamily="34" charset="0"/>
                        <a:buChar char="•"/>
                      </a:pPr>
                      <a:r>
                        <a:rPr lang="en-US" sz="1600" dirty="0"/>
                        <a:t>Power BI as a search &amp; arbitration layer for the corpus</a:t>
                      </a:r>
                    </a:p>
                    <a:p>
                      <a:pPr marL="285750" indent="-285750">
                        <a:buFont typeface="Arial" panose="020B0604020202020204" pitchFamily="34" charset="0"/>
                        <a:buChar char="•"/>
                      </a:pPr>
                      <a:r>
                        <a:rPr lang="en-US" sz="1600" dirty="0"/>
                        <a:t>Flag columns (</a:t>
                      </a:r>
                      <a:r>
                        <a:rPr lang="en-US" sz="1600" dirty="0" err="1"/>
                        <a:t>IsAI</a:t>
                      </a:r>
                      <a:r>
                        <a:rPr lang="en-US" sz="1600" dirty="0"/>
                        <a:t>, </a:t>
                      </a:r>
                      <a:r>
                        <a:rPr lang="en-US" sz="1600" dirty="0" err="1"/>
                        <a:t>IsAgentic</a:t>
                      </a:r>
                      <a:r>
                        <a:rPr lang="en-US" sz="1600" dirty="0"/>
                        <a:t>) making unstructured text countable</a:t>
                      </a:r>
                    </a:p>
                  </a:txBody>
                  <a:tcPr marT="91440">
                    <a:lnL>
                      <a:noFill/>
                    </a:lnL>
                    <a:lnR>
                      <a:noFill/>
                    </a:lnR>
                    <a:lnT w="25400" cmpd="sng">
                      <a:noFill/>
                    </a:lnT>
                    <a:lnB w="25400" cmpd="sng">
                      <a:noFill/>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US" sz="1600" dirty="0"/>
                        <a:t>Copy/paste between export and LLM, every pass</a:t>
                      </a:r>
                    </a:p>
                    <a:p>
                      <a:pPr marL="285750" indent="-285750">
                        <a:buFont typeface="Arial" panose="020B0604020202020204" pitchFamily="34" charset="0"/>
                        <a:buChar char="•"/>
                      </a:pPr>
                      <a:r>
                        <a:rPr lang="en-US" sz="1600" dirty="0"/>
                        <a:t>Checking reference numbers back to GEAR</a:t>
                      </a:r>
                    </a:p>
                    <a:p>
                      <a:pPr marL="285750" indent="-285750">
                        <a:buFont typeface="Arial" panose="020B0604020202020204" pitchFamily="34" charset="0"/>
                        <a:buChar char="•"/>
                      </a:pPr>
                      <a:r>
                        <a:rPr lang="en-US" sz="1600" dirty="0"/>
                        <a:t>Building slides from the output</a:t>
                      </a:r>
                    </a:p>
                    <a:p>
                      <a:pPr marL="285750" indent="-285750">
                        <a:buFont typeface="Arial" panose="020B0604020202020204" pitchFamily="34" charset="0"/>
                        <a:buChar char="•"/>
                      </a:pPr>
                      <a:r>
                        <a:rPr lang="en-US" sz="1600" dirty="0"/>
                        <a:t>Making the pull definition reuseable by someone else</a:t>
                      </a:r>
                    </a:p>
                  </a:txBody>
                  <a:tcPr marT="91440">
                    <a:lnL>
                      <a:noFill/>
                    </a:lnL>
                    <a:lnR>
                      <a:noFill/>
                    </a:lnR>
                    <a:lnT w="25400" cmpd="sng">
                      <a:noFill/>
                    </a:lnT>
                    <a:lnB w="25400" cmpd="sng">
                      <a:noFill/>
                    </a:lnB>
                    <a:lnTlToBr w="12700" cmpd="sng">
                      <a:noFill/>
                      <a:prstDash val="solid"/>
                    </a:lnTlToBr>
                    <a:lnBlToTr w="12700" cmpd="sng">
                      <a:noFill/>
                      <a:prstDash val="solid"/>
                    </a:lnBlToTr>
                    <a:solidFill>
                      <a:schemeClr val="bg1"/>
                    </a:solidFill>
                  </a:tcPr>
                </a:tc>
                <a:tc>
                  <a:txBody>
                    <a:bodyPr/>
                    <a:lstStyle/>
                    <a:p>
                      <a:pPr marL="285750" indent="-285750">
                        <a:buFont typeface="Arial" panose="020B0604020202020204" pitchFamily="34" charset="0"/>
                        <a:buChar char="•"/>
                      </a:pPr>
                      <a:r>
                        <a:rPr lang="en-US" sz="1600" dirty="0"/>
                        <a:t>Deciding what goes in the corpus</a:t>
                      </a:r>
                    </a:p>
                    <a:p>
                      <a:pPr marL="285750" indent="-285750">
                        <a:buFont typeface="Arial" panose="020B0604020202020204" pitchFamily="34" charset="0"/>
                        <a:buChar char="•"/>
                      </a:pPr>
                      <a:r>
                        <a:rPr lang="en-US" sz="1600" dirty="0"/>
                        <a:t>Calling where the market boundary sits</a:t>
                      </a:r>
                    </a:p>
                    <a:p>
                      <a:pPr marL="285750" indent="-285750">
                        <a:buFont typeface="Arial" panose="020B0604020202020204" pitchFamily="34" charset="0"/>
                        <a:buChar char="•"/>
                      </a:pPr>
                      <a:r>
                        <a:rPr lang="en-US" sz="1600" dirty="0"/>
                        <a:t>Catching a confident answer with nothing behind it</a:t>
                      </a:r>
                    </a:p>
                    <a:p>
                      <a:pPr marL="285750" indent="-285750">
                        <a:buFont typeface="Arial" panose="020B0604020202020204" pitchFamily="34" charset="0"/>
                        <a:buChar char="•"/>
                      </a:pPr>
                      <a:r>
                        <a:rPr lang="en-US" sz="1600" dirty="0"/>
                        <a:t>Stripping identifiable client detail</a:t>
                      </a:r>
                    </a:p>
                  </a:txBody>
                  <a:tcPr marT="91440">
                    <a:lnL>
                      <a:noFill/>
                    </a:lnL>
                    <a:lnR>
                      <a:noFill/>
                    </a:lnR>
                    <a:lnT w="25400" cmpd="sng">
                      <a:noFill/>
                    </a:lnT>
                    <a:lnB w="25400" cmpd="sng">
                      <a:noFill/>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75055909"/>
                  </a:ext>
                </a:extLst>
              </a:tr>
            </a:tbl>
          </a:graphicData>
        </a:graphic>
      </p:graphicFrame>
    </p:spTree>
    <p:extLst>
      <p:ext uri="{BB962C8B-B14F-4D97-AF65-F5344CB8AC3E}">
        <p14:creationId xmlns:p14="http://schemas.microsoft.com/office/powerpoint/2010/main" val="1275980728"/>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2EB8B7-DDF3-AE9B-DB34-BA44262D0CE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215656-C598-F6BC-C5B4-C7F2D251D451}"/>
              </a:ext>
            </a:extLst>
          </p:cNvPr>
          <p:cNvSpPr>
            <a:spLocks noGrp="1"/>
          </p:cNvSpPr>
          <p:nvPr>
            <p:ph type="title"/>
          </p:nvPr>
        </p:nvSpPr>
        <p:spPr/>
        <p:txBody>
          <a:bodyPr/>
          <a:lstStyle/>
          <a:p>
            <a:r>
              <a:rPr lang="en-US" dirty="0"/>
              <a:t>Future obstacles</a:t>
            </a:r>
          </a:p>
        </p:txBody>
      </p:sp>
      <p:sp>
        <p:nvSpPr>
          <p:cNvPr id="4" name="TextBox 3">
            <a:extLst>
              <a:ext uri="{FF2B5EF4-FFF2-40B4-BE49-F238E27FC236}">
                <a16:creationId xmlns:a16="http://schemas.microsoft.com/office/drawing/2014/main" id="{0373A05D-96DA-30E0-94DE-D7A9E3AE3E04}"/>
              </a:ext>
            </a:extLst>
          </p:cNvPr>
          <p:cNvSpPr txBox="1"/>
          <p:nvPr/>
        </p:nvSpPr>
        <p:spPr>
          <a:xfrm>
            <a:off x="457200" y="1336119"/>
            <a:ext cx="11274552" cy="2092881"/>
          </a:xfrm>
          <a:prstGeom prst="rect">
            <a:avLst/>
          </a:prstGeom>
          <a:noFill/>
        </p:spPr>
        <p:txBody>
          <a:bodyPr wrap="square" lIns="0" rIns="0" rtlCol="0">
            <a:spAutoFit/>
          </a:bodyPr>
          <a:lstStyle/>
          <a:p>
            <a:pPr marL="342900" marR="0" lvl="0" indent="-342900" algn="l" defTabSz="457200" rtl="0" eaLnBrk="1" fontAlgn="auto" latinLnBrk="0" hangingPunct="1">
              <a:lnSpc>
                <a:spcPct val="100000"/>
              </a:lnSpc>
              <a:spcBef>
                <a:spcPts val="600"/>
              </a:spcBef>
              <a:spcAft>
                <a:spcPts val="0"/>
              </a:spcAft>
              <a:buClrTx/>
              <a:buSzTx/>
              <a:buFontTx/>
              <a:buChar char="-"/>
              <a:tabLst/>
              <a:defRPr/>
            </a:pPr>
            <a:r>
              <a:rPr kumimoji="0" lang="en-US" sz="2000" b="0" i="0" u="none" strike="noStrike" kern="1200" cap="none" spc="0" normalizeH="0" baseline="0" noProof="0" dirty="0">
                <a:ln>
                  <a:noFill/>
                </a:ln>
                <a:solidFill>
                  <a:srgbClr val="000000"/>
                </a:solidFill>
                <a:effectLst/>
                <a:uLnTx/>
                <a:uFillTx/>
                <a:latin typeface="Gartner Sans"/>
                <a:ea typeface="+mn-ea"/>
                <a:cs typeface="+mn-cs"/>
              </a:rPr>
              <a:t>GEAR retirement (late Q3). Lack of confidence in replacement PBI dashboard.</a:t>
            </a:r>
          </a:p>
          <a:p>
            <a:pPr marL="342900" marR="0" lvl="0" indent="-342900" algn="l" defTabSz="457200" rtl="0" eaLnBrk="1" fontAlgn="auto" latinLnBrk="0" hangingPunct="1">
              <a:lnSpc>
                <a:spcPct val="100000"/>
              </a:lnSpc>
              <a:spcBef>
                <a:spcPts val="600"/>
              </a:spcBef>
              <a:spcAft>
                <a:spcPts val="0"/>
              </a:spcAft>
              <a:buClrTx/>
              <a:buSzTx/>
              <a:buFontTx/>
              <a:buChar char="-"/>
              <a:tabLst/>
              <a:defRPr/>
            </a:pPr>
            <a:r>
              <a:rPr kumimoji="0" lang="en-US" sz="2000" b="0" i="0" u="none" strike="noStrike" kern="1200" cap="none" spc="0" normalizeH="0" baseline="0" noProof="0" dirty="0">
                <a:ln>
                  <a:noFill/>
                </a:ln>
                <a:solidFill>
                  <a:srgbClr val="000000"/>
                </a:solidFill>
                <a:effectLst/>
                <a:uLnTx/>
                <a:uFillTx/>
                <a:latin typeface="Gartner Sans"/>
                <a:ea typeface="+mn-ea"/>
                <a:cs typeface="+mn-cs"/>
              </a:rPr>
              <a:t>My backup plan B was to recreate GEAR via SSDM, which is perhaps arguably a better method—trim unneeded columns, keeping only necessary fields. Concatenate primary fields (Purpose, Question Asked, Discussion Summary, etc.) into a single field. Build pre-defined market queries, vendor-specific queries, etc. into the M Code.</a:t>
            </a:r>
          </a:p>
          <a:p>
            <a:pPr marL="800100" marR="0" lvl="1" indent="-342900" algn="l" defTabSz="457200" rtl="0" eaLnBrk="1" fontAlgn="auto" latinLnBrk="0" hangingPunct="1">
              <a:lnSpc>
                <a:spcPct val="100000"/>
              </a:lnSpc>
              <a:spcBef>
                <a:spcPts val="600"/>
              </a:spcBef>
              <a:spcAft>
                <a:spcPts val="0"/>
              </a:spcAft>
              <a:buClrTx/>
              <a:buSzTx/>
              <a:buFontTx/>
              <a:buChar char="-"/>
              <a:tabLst/>
              <a:defRPr/>
            </a:pPr>
            <a:r>
              <a:rPr kumimoji="0" lang="en-US" sz="2000" b="0" i="0" u="none" strike="noStrike" kern="1200" cap="none" spc="0" normalizeH="0" baseline="0" noProof="0" dirty="0">
                <a:ln>
                  <a:noFill/>
                </a:ln>
                <a:solidFill>
                  <a:srgbClr val="000000"/>
                </a:solidFill>
                <a:effectLst/>
                <a:uLnTx/>
                <a:uFillTx/>
                <a:latin typeface="Gartner Sans"/>
                <a:ea typeface="+mn-ea"/>
                <a:cs typeface="+mn-cs"/>
              </a:rPr>
              <a:t>However, SSDM ownership &amp; future is also uncertain due to data team re-orgs</a:t>
            </a:r>
          </a:p>
        </p:txBody>
      </p:sp>
    </p:spTree>
    <p:extLst>
      <p:ext uri="{BB962C8B-B14F-4D97-AF65-F5344CB8AC3E}">
        <p14:creationId xmlns:p14="http://schemas.microsoft.com/office/powerpoint/2010/main" val="1060248689"/>
      </p:ext>
    </p:extLst>
  </p:cSld>
  <p:clrMapOvr>
    <a:masterClrMapping/>
  </p:clrMapOvr>
  <mc:AlternateContent xmlns:mc="http://schemas.openxmlformats.org/markup-compatibility/2006">
    <mc:Choice xmlns:p14="http://schemas.microsoft.com/office/powerpoint/2010/main" Requires="p14">
      <p:transition p14:dur="10"/>
    </mc:Choice>
    <mc:Fallback>
      <p:transition/>
    </mc:Fallback>
  </mc:AlternateContent>
</p:sld>
</file>

<file path=ppt/theme/theme1.xml><?xml version="1.0" encoding="utf-8"?>
<a:theme xmlns:a="http://schemas.openxmlformats.org/drawingml/2006/main" name="Whit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defPPr algn="l">
          <a:defRPr sz="2000" dirty="0" smtClean="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solidFill>
            <a:srgbClr val="707996"/>
          </a:solidFill>
          <a:prstDash val="solid"/>
          <a:round/>
          <a:headEnd type="none" w="lg" len="med"/>
          <a:tailEnd type="none" w="lg" len="med"/>
        </a:ln>
      </a:spPr>
      <a:bodyPr/>
      <a:lstStyle/>
    </a:lnDef>
    <a:txDef>
      <a:spPr>
        <a:noFill/>
      </a:spPr>
      <a:bodyPr wrap="square" lIns="0" rIns="0" rtlCol="0">
        <a:spAutoFit/>
      </a:bodyPr>
      <a:lstStyle>
        <a:defPPr algn="l">
          <a:spcBef>
            <a:spcPts val="600"/>
          </a:spcBef>
          <a:defRPr sz="2000"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2026_Corporate_Template.potx" id="{38F3A75B-F955-4835-AB9E-C03476FD501E}" vid="{1ADDC07F-A19C-4E68-99EE-B7C51753517E}"/>
    </a:ext>
  </a:extLst>
</a:theme>
</file>

<file path=ppt/theme/theme2.xml><?xml version="1.0" encoding="utf-8"?>
<a:theme xmlns:a="http://schemas.openxmlformats.org/drawingml/2006/main" name="Blu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2700" cap="flat" cmpd="sng">
          <a:solidFill>
            <a:srgbClr val="6F7878"/>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2026_Corporate_Template.potx" id="{38F3A75B-F955-4835-AB9E-C03476FD501E}" vid="{23445A35-0F56-43F5-BB44-433EAE89F553}"/>
    </a:ext>
  </a:extLst>
</a:theme>
</file>

<file path=ppt/theme/theme3.xml><?xml version="1.0" encoding="utf-8"?>
<a:theme xmlns:a="http://schemas.openxmlformats.org/drawingml/2006/main" name="Crystal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dirty="0"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2700" cap="flat" cmpd="sng">
          <a:solidFill>
            <a:srgbClr val="6F7878"/>
          </a:solidFill>
          <a:prstDash val="solid"/>
          <a:round/>
          <a:headEnd type="none" w="lg" len="med"/>
          <a:tailEnd type="none" w="lg" len="med"/>
        </a:ln>
      </a:spPr>
      <a:bodyPr/>
      <a:lstStyle/>
    </a:lnDef>
    <a:txDef>
      <a:spPr>
        <a:noFill/>
      </a:spPr>
      <a:bodyPr wrap="none" lIns="0" rIns="0" rtlCol="0">
        <a:spAutoFit/>
      </a:bodyPr>
      <a:lstStyle>
        <a:defPPr algn="l">
          <a:spcBef>
            <a:spcPts val="600"/>
          </a:spcBef>
          <a:defRPr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2026_Corporate_Template.potx" id="{38F3A75B-F955-4835-AB9E-C03476FD501E}" vid="{CFAB3FAC-95AF-486F-BB77-AC0476B45847}"/>
    </a:ext>
  </a:extLst>
</a:theme>
</file>

<file path=ppt/theme/theme4.xml><?xml version="1.0" encoding="utf-8"?>
<a:theme xmlns:a="http://schemas.openxmlformats.org/drawingml/2006/main" name="1_White bkgrnd master">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ot="0" spcFirstLastPara="0" vertOverflow="overflow" horzOverflow="overflow" vert="horz" wrap="square" lIns="91440" tIns="91440" rIns="91440" bIns="91440" numCol="1" spcCol="0" rtlCol="0" fromWordArt="0" anchor="t" anchorCtr="0" forceAA="0" compatLnSpc="1">
        <a:prstTxWarp prst="textNoShape">
          <a:avLst/>
        </a:prstTxWarp>
        <a:noAutofit/>
      </a:bodyPr>
      <a:lstStyle>
        <a:defPPr algn="l">
          <a:defRPr sz="2000" dirty="0" smtClean="0">
            <a:solidFill>
              <a:schemeClr val="bg2"/>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noFill/>
        <a:ln w="19050" cap="flat" cmpd="sng">
          <a:solidFill>
            <a:srgbClr val="707996"/>
          </a:solidFill>
          <a:prstDash val="solid"/>
          <a:round/>
          <a:headEnd type="none" w="lg" len="med"/>
          <a:tailEnd type="none" w="lg" len="med"/>
        </a:ln>
      </a:spPr>
      <a:bodyPr/>
      <a:lstStyle/>
    </a:lnDef>
    <a:txDef>
      <a:spPr>
        <a:noFill/>
      </a:spPr>
      <a:bodyPr wrap="square" lIns="0" rIns="0" rtlCol="0">
        <a:spAutoFit/>
      </a:bodyPr>
      <a:lstStyle>
        <a:defPPr algn="l">
          <a:spcBef>
            <a:spcPts val="600"/>
          </a:spcBef>
          <a:defRPr sz="2000" dirty="0" smtClean="0"/>
        </a:defPPr>
      </a:lstStyle>
    </a:txDef>
  </a:objectDefaults>
  <a:extraClrSchemeLst/>
  <a:custClrLst>
    <a:custClr name="Gartner Blue">
      <a:srgbClr val="002869"/>
    </a:custClr>
    <a:custClr name="Cobalt">
      <a:srgbClr val="0057AF"/>
    </a:custClr>
    <a:custClr name="Opal">
      <a:srgbClr val="1F96FF"/>
    </a:custClr>
    <a:custClr name="Sapphire">
      <a:srgbClr val="167ACB"/>
    </a:custClr>
    <a:custClr name="Topaz">
      <a:srgbClr val="4C8CD2"/>
    </a:custClr>
    <a:custClr name="White">
      <a:srgbClr val="FFFFFF"/>
    </a:custClr>
    <a:custClr name="Moonstone">
      <a:srgbClr val="B8DEFF"/>
    </a:custClr>
    <a:custClr name="Sunstone">
      <a:srgbClr val="E36135"/>
    </a:custClr>
    <a:custClr name="Onyx">
      <a:srgbClr val="00002D"/>
    </a:custClr>
    <a:custClr name="Error Red">
      <a:srgbClr val="DE0A01"/>
    </a:custClr>
    <a:custClr name="Granite">
      <a:srgbClr val="5A798C"/>
    </a:custClr>
    <a:custClr name="Amethyst">
      <a:srgbClr val="9673BE"/>
    </a:custClr>
    <a:custClr name="Lapis">
      <a:srgbClr val="6872B6"/>
    </a:custClr>
    <a:custClr name="Aquamarine">
      <a:srgbClr val="3C92B5"/>
    </a:custClr>
    <a:custClr name="Emerald">
      <a:srgbClr val="0A8F74"/>
    </a:custClr>
    <a:custClr name="White">
      <a:srgbClr val="FFFFFF"/>
    </a:custClr>
    <a:custClr name="Crystal">
      <a:srgbClr val="E0F1FF"/>
    </a:custClr>
    <a:custClr name="Border Gray">
      <a:srgbClr val="707996"/>
    </a:custClr>
    <a:custClr name="White">
      <a:srgbClr val="FFFFFF"/>
    </a:custClr>
    <a:custClr name="Warning Yellow">
      <a:srgbClr val="F5AB23"/>
    </a:custClr>
    <a:custClr name="Jade">
      <a:srgbClr val="589384"/>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Success Green">
      <a:srgbClr val="00A76D"/>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White">
      <a:srgbClr val="FFFFFF"/>
    </a:custClr>
    <a:custClr name="Link Blue">
      <a:srgbClr val="006AC7"/>
    </a:custClr>
  </a:custClrLst>
  <a:extLst>
    <a:ext uri="{05A4C25C-085E-4340-85A3-A5531E510DB2}">
      <thm15:themeFamily xmlns:thm15="http://schemas.microsoft.com/office/thememl/2012/main" name="2026_Corporate_Template.potx" id="{38F3A75B-F955-4835-AB9E-C03476FD501E}" vid="{1ADDC07F-A19C-4E68-99EE-B7C51753517E}"/>
    </a:ext>
  </a:extLst>
</a:theme>
</file>

<file path=ppt/theme/theme5.xml><?xml version="1.0" encoding="utf-8"?>
<a:theme xmlns:a="http://schemas.openxmlformats.org/drawingml/2006/main" name="Office Theme">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2026 Brand">
      <a:dk1>
        <a:srgbClr val="000000"/>
      </a:dk1>
      <a:lt1>
        <a:srgbClr val="FFFFFF"/>
      </a:lt1>
      <a:dk2>
        <a:srgbClr val="002869"/>
      </a:dk2>
      <a:lt2>
        <a:srgbClr val="FFFFFF"/>
      </a:lt2>
      <a:accent1>
        <a:srgbClr val="002869"/>
      </a:accent1>
      <a:accent2>
        <a:srgbClr val="0057AF"/>
      </a:accent2>
      <a:accent3>
        <a:srgbClr val="1F96FF"/>
      </a:accent3>
      <a:accent4>
        <a:srgbClr val="167ACB"/>
      </a:accent4>
      <a:accent5>
        <a:srgbClr val="4C8CD2"/>
      </a:accent5>
      <a:accent6>
        <a:srgbClr val="5A798C"/>
      </a:accent6>
      <a:hlink>
        <a:srgbClr val="006AC7"/>
      </a:hlink>
      <a:folHlink>
        <a:srgbClr val="003569"/>
      </a:folHlink>
    </a:clrScheme>
    <a:fontScheme name="Gartner Sans">
      <a:majorFont>
        <a:latin typeface="Gartner Sans Semibold"/>
        <a:ea typeface=""/>
        <a:cs typeface=""/>
      </a:majorFont>
      <a:minorFont>
        <a:latin typeface="Gartner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dlc_DocId xmlns="e8db9336-2e0a-439c-92aa-d25193e77693">C5KERXYYQTZJ-1394074443-373</_dlc_DocId>
    <_dlc_DocIdUrl xmlns="e8db9336-2e0a-439c-92aa-d25193e77693">
      <Url>https://gartner365.sharepoint.com/sites/Launchpad/_layouts/15/DocIdRedir.aspx?ID=C5KERXYYQTZJ-1394074443-373</Url>
      <Description>C5KERXYYQTZJ-1394074443-373</Description>
    </_dlc_DocIdUrl>
    <_dlc_DocIdPersistId xmlns="e8db9336-2e0a-439c-92aa-d25193e77693">false</_dlc_DocIdPersistId>
    <TaxCatchAll xmlns="e8db9336-2e0a-439c-92aa-d25193e77693" xsi:nil="true"/>
    <lcf76f155ced4ddcb4097134ff3c332f xmlns="728be415-658a-42da-8ffe-674acc25e01a">
      <Terms xmlns="http://schemas.microsoft.com/office/infopath/2007/PartnerControls"/>
    </lcf76f155ced4ddcb4097134ff3c332f>
  </documentManagement>
</p:properties>
</file>

<file path=customXml/item3.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4.xml><?xml version="1.0" encoding="utf-8"?>
<ct:contentTypeSchema xmlns:ct="http://schemas.microsoft.com/office/2006/metadata/contentType" xmlns:ma="http://schemas.microsoft.com/office/2006/metadata/properties/metaAttributes" ct:_="" ma:_="" ma:contentTypeName="Document" ma:contentTypeID="0x010100C8BB583ABB528D4780DDE8D3AC4C9C13" ma:contentTypeVersion="12" ma:contentTypeDescription="Create a new document." ma:contentTypeScope="" ma:versionID="5cae7c73a6fc8b5a58303a253a0a5dff">
  <xsd:schema xmlns:xsd="http://www.w3.org/2001/XMLSchema" xmlns:xs="http://www.w3.org/2001/XMLSchema" xmlns:p="http://schemas.microsoft.com/office/2006/metadata/properties" xmlns:ns2="e8db9336-2e0a-439c-92aa-d25193e77693" xmlns:ns3="728be415-658a-42da-8ffe-674acc25e01a" targetNamespace="http://schemas.microsoft.com/office/2006/metadata/properties" ma:root="true" ma:fieldsID="25d5dcd440fb649ad7d549b8c1e3978c" ns2:_="" ns3:_="">
    <xsd:import namespace="e8db9336-2e0a-439c-92aa-d25193e77693"/>
    <xsd:import namespace="728be415-658a-42da-8ffe-674acc25e01a"/>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element ref="ns3:MediaServiceDateTaken" minOccurs="0"/>
                <xsd:element ref="ns3:lcf76f155ced4ddcb4097134ff3c332f" minOccurs="0"/>
                <xsd:element ref="ns2:TaxCatchAll" minOccurs="0"/>
                <xsd:element ref="ns3:MediaServiceOCR" minOccurs="0"/>
                <xsd:element ref="ns3:MediaServiceGenerationTime" minOccurs="0"/>
                <xsd:element ref="ns3:MediaServiceEventHashCode" minOccurs="0"/>
                <xsd:element ref="ns3:MediaServiceBillingMetadata"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8db9336-2e0a-439c-92aa-d25193e77693"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element name="TaxCatchAll" ma:index="17" nillable="true" ma:displayName="Taxonomy Catch All Column" ma:hidden="true" ma:list="{32c8e763-947f-4803-ba9d-cbc104102e97}" ma:internalName="TaxCatchAll" ma:showField="CatchAllData" ma:web="e8db9336-2e0a-439c-92aa-d25193e77693">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728be415-658a-42da-8ffe-674acc25e01a"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8af5e99b-f45a-473e-9035-af188538fb08"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BillingMetadata" ma:index="21" nillable="true" ma:displayName="MediaServiceBillingMetadata" ma:hidden="true" ma:internalName="MediaServiceBillingMetadata" ma:readOnly="true">
      <xsd:simpleType>
        <xsd:restriction base="dms:Note"/>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D58161F-F219-4A24-851A-E0789092BA88}">
  <ds:schemaRefs>
    <ds:schemaRef ds:uri="http://schemas.microsoft.com/sharepoint/v3/contenttype/forms"/>
  </ds:schemaRefs>
</ds:datastoreItem>
</file>

<file path=customXml/itemProps2.xml><?xml version="1.0" encoding="utf-8"?>
<ds:datastoreItem xmlns:ds="http://schemas.openxmlformats.org/officeDocument/2006/customXml" ds:itemID="{849EAD55-449F-4D7E-ADE7-D5D587B8A89C}">
  <ds:schemaRefs>
    <ds:schemaRef ds:uri="http://schemas.microsoft.com/office/2006/metadata/properties"/>
    <ds:schemaRef ds:uri="http://purl.org/dc/terms/"/>
    <ds:schemaRef ds:uri="http://purl.org/dc/dcmitype/"/>
    <ds:schemaRef ds:uri="http://schemas.microsoft.com/office/2006/documentManagement/types"/>
    <ds:schemaRef ds:uri="e8db9336-2e0a-439c-92aa-d25193e77693"/>
    <ds:schemaRef ds:uri="http://purl.org/dc/elements/1.1/"/>
    <ds:schemaRef ds:uri="728be415-658a-42da-8ffe-674acc25e01a"/>
    <ds:schemaRef ds:uri="http://schemas.microsoft.com/office/infopath/2007/PartnerControls"/>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99D5EB96-1AFA-42DA-8656-AAA2C4B96763}">
  <ds:schemaRefs>
    <ds:schemaRef ds:uri="http://schemas.microsoft.com/sharepoint/events"/>
  </ds:schemaRefs>
</ds:datastoreItem>
</file>

<file path=customXml/itemProps4.xml><?xml version="1.0" encoding="utf-8"?>
<ds:datastoreItem xmlns:ds="http://schemas.openxmlformats.org/officeDocument/2006/customXml" ds:itemID="{F344FC98-6229-48DD-A960-9E6270EC417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8db9336-2e0a-439c-92aa-d25193e77693"/>
    <ds:schemaRef ds:uri="728be415-658a-42da-8ffe-674acc25e01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blank</Template>
  <TotalTime>7055</TotalTime>
  <Words>2818</Words>
  <Application>Microsoft Office PowerPoint</Application>
  <PresentationFormat>Widescreen</PresentationFormat>
  <Paragraphs>286</Paragraphs>
  <Slides>14</Slides>
  <Notes>9</Notes>
  <HiddenSlides>0</HiddenSlides>
  <MMClips>0</MMClips>
  <ScaleCrop>false</ScaleCrop>
  <HeadingPairs>
    <vt:vector size="6" baseType="variant">
      <vt:variant>
        <vt:lpstr>Fonts Used</vt:lpstr>
      </vt:variant>
      <vt:variant>
        <vt:i4>4</vt:i4>
      </vt:variant>
      <vt:variant>
        <vt:lpstr>Theme</vt:lpstr>
      </vt:variant>
      <vt:variant>
        <vt:i4>4</vt:i4>
      </vt:variant>
      <vt:variant>
        <vt:lpstr>Slide Titles</vt:lpstr>
      </vt:variant>
      <vt:variant>
        <vt:i4>14</vt:i4>
      </vt:variant>
    </vt:vector>
  </HeadingPairs>
  <TitlesOfParts>
    <vt:vector size="22" baseType="lpstr">
      <vt:lpstr>Arial</vt:lpstr>
      <vt:lpstr>Gartner Sans Semibold</vt:lpstr>
      <vt:lpstr>Gartner Sans</vt:lpstr>
      <vt:lpstr>Gartner Sans Medium</vt:lpstr>
      <vt:lpstr>White bkgrnd master</vt:lpstr>
      <vt:lpstr>Blue bkgrnd master</vt:lpstr>
      <vt:lpstr>Crystal bkgrnd master</vt:lpstr>
      <vt:lpstr>1_White bkgrnd master</vt:lpstr>
      <vt:lpstr>Buyer Voice Analysis for GGM</vt:lpstr>
      <vt:lpstr>Top questions enterprise buyers are asking about OpenAI</vt:lpstr>
      <vt:lpstr>What enterprise buyers are asking about OpenAI: Enterprise AI Assistants</vt:lpstr>
      <vt:lpstr>What enterprise buyers are asking about OpenAI: Enterprise AI Coding Agents</vt:lpstr>
      <vt:lpstr>Commercial friction across the five deep-dive areas</vt:lpstr>
      <vt:lpstr>AI-native pricing and packaging</vt:lpstr>
      <vt:lpstr>Cost-offset tactics using ServiceNow’s own tools</vt:lpstr>
      <vt:lpstr>Appendix</vt:lpstr>
      <vt:lpstr>Buyer voice, from Gartner’s proprietary data</vt:lpstr>
      <vt:lpstr>The OpenAI analysis, end-to-end</vt:lpstr>
      <vt:lpstr>Different ways to look at the data</vt:lpstr>
      <vt:lpstr>Where a trained team takes over, and where it can’t</vt:lpstr>
      <vt:lpstr>Automation status</vt:lpstr>
      <vt:lpstr>Future obstacles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Nick DiLorenzo</dc:creator>
  <cp:keywords/>
  <dc:description/>
  <cp:lastModifiedBy>Nick DiLorenzo</cp:lastModifiedBy>
  <cp:revision>1</cp:revision>
  <dcterms:created xsi:type="dcterms:W3CDTF">2026-08-12T14:24:21Z</dcterms:created>
  <dcterms:modified xsi:type="dcterms:W3CDTF">2026-08-17T11:59:38Z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0x010100C8BB583ABB528D4780DDE8D3AC4C9C13</vt:lpwstr>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dlc_DocIdItemGuid">
    <vt:lpwstr>9c3b0525-b494-4153-af86-bbb948020a62</vt:lpwstr>
  </property>
  <property fmtid="{D5CDD505-2E9C-101B-9397-08002B2CF9AE}" pid="8" name="_ExtendedDescription">
    <vt:lpwstr/>
  </property>
  <property fmtid="{D5CDD505-2E9C-101B-9397-08002B2CF9AE}" pid="9" name="TriggerFlowInfo">
    <vt:lpwstr/>
  </property>
  <property fmtid="{D5CDD505-2E9C-101B-9397-08002B2CF9AE}" pid="10" name="xd_Signature">
    <vt:bool>false</vt:bool>
  </property>
</Properties>
</file>